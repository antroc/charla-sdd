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075" r:id="rId1"/>
    <p:sldMasterId id="2147484182" r:id="rId2"/>
    <p:sldMasterId id="2147484150" r:id="rId3"/>
    <p:sldMasterId id="2147484240" r:id="rId4"/>
    <p:sldMasterId id="2147484154" r:id="rId5"/>
    <p:sldMasterId id="2147484243" r:id="rId6"/>
    <p:sldMasterId id="2147484203" r:id="rId7"/>
    <p:sldMasterId id="2147484234" r:id="rId8"/>
  </p:sldMasterIdLst>
  <p:notesMasterIdLst>
    <p:notesMasterId r:id="rId31"/>
  </p:notesMasterIdLst>
  <p:handoutMasterIdLst>
    <p:handoutMasterId r:id="rId32"/>
  </p:handoutMasterIdLst>
  <p:sldIdLst>
    <p:sldId id="2147481427" r:id="rId9"/>
    <p:sldId id="2147481429" r:id="rId10"/>
    <p:sldId id="2147481430" r:id="rId11"/>
    <p:sldId id="2147481431" r:id="rId12"/>
    <p:sldId id="2147481432" r:id="rId13"/>
    <p:sldId id="2147481433" r:id="rId14"/>
    <p:sldId id="2147481434" r:id="rId15"/>
    <p:sldId id="2147481435" r:id="rId16"/>
    <p:sldId id="2147481436" r:id="rId17"/>
    <p:sldId id="2147481437" r:id="rId18"/>
    <p:sldId id="2147481438" r:id="rId19"/>
    <p:sldId id="2147481442" r:id="rId20"/>
    <p:sldId id="2147481443" r:id="rId21"/>
    <p:sldId id="2147481444" r:id="rId22"/>
    <p:sldId id="2147481440" r:id="rId23"/>
    <p:sldId id="2147481439" r:id="rId24"/>
    <p:sldId id="2147481441" r:id="rId25"/>
    <p:sldId id="2147481445" r:id="rId26"/>
    <p:sldId id="2147481447" r:id="rId27"/>
    <p:sldId id="2147481448" r:id="rId28"/>
    <p:sldId id="2147481449" r:id="rId29"/>
    <p:sldId id="214748139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5E5"/>
    <a:srgbClr val="19A3FC"/>
    <a:srgbClr val="000000"/>
    <a:srgbClr val="050D24"/>
    <a:srgbClr val="FFFFFF"/>
    <a:srgbClr val="0072BC"/>
    <a:srgbClr val="009AA4"/>
    <a:srgbClr val="007076"/>
    <a:srgbClr val="2E404D"/>
    <a:srgbClr val="E4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3" autoAdjust="0"/>
    <p:restoredTop sz="71429" autoAdjust="0"/>
  </p:normalViewPr>
  <p:slideViewPr>
    <p:cSldViewPr>
      <p:cViewPr varScale="1">
        <p:scale>
          <a:sx n="84" d="100"/>
          <a:sy n="84" d="100"/>
        </p:scale>
        <p:origin x="33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84"/>
    </p:cViewPr>
  </p:sorterViewPr>
  <p:notesViewPr>
    <p:cSldViewPr>
      <p:cViewPr varScale="1">
        <p:scale>
          <a:sx n="118" d="100"/>
          <a:sy n="118" d="100"/>
        </p:scale>
        <p:origin x="500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5F3CF2-0D2F-62EB-F9FA-5289929439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D0CDA-4A74-7373-1A98-BA772C315F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BF9E0-02C4-234E-AF12-F32F5E61E023}" type="datetimeFigureOut">
              <a:rPr lang="en-US" smtClean="0">
                <a:latin typeface="Arial" panose="020B0604020202020204" pitchFamily="34" charset="0"/>
              </a:rPr>
              <a:t>10/21/26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C38906-40BE-6961-6268-E0C407BC82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C8528-A8AA-EDCA-B140-81A4C4FD12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723CE-3F45-1C4A-8C37-B8E64C81DE38}" type="slidenum">
              <a:rPr lang="en-US" smtClean="0">
                <a:latin typeface="Arial" panose="020B0604020202020204" pitchFamily="34" charset="0"/>
              </a:rPr>
              <a:t>‹Nº›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46062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BACC3CC-056C-4C7B-97E3-8A853401A333}" type="datetimeFigureOut">
              <a:rPr lang="en-US" smtClean="0"/>
              <a:pPr/>
              <a:t>10/21/26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ABF52DC-EC59-4DE1-BAC7-23B3848E6B8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837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Preséntate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frase</a:t>
            </a:r>
            <a:r>
              <a:rPr dirty="0"/>
              <a:t>. Hoy </a:t>
            </a:r>
            <a:r>
              <a:rPr dirty="0" err="1"/>
              <a:t>vais</a:t>
            </a:r>
            <a:r>
              <a:rPr dirty="0"/>
              <a:t> a </a:t>
            </a:r>
            <a:r>
              <a:rPr dirty="0" err="1"/>
              <a:t>ver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es Spec-Driven Development,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importa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programáis</a:t>
            </a:r>
            <a:r>
              <a:rPr dirty="0"/>
              <a:t> con IA y 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funciona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flujo</a:t>
            </a:r>
            <a:r>
              <a:rPr dirty="0"/>
              <a:t>. </a:t>
            </a:r>
            <a:r>
              <a:rPr dirty="0" err="1"/>
              <a:t>Después</a:t>
            </a:r>
            <a:r>
              <a:rPr dirty="0"/>
              <a:t> lo </a:t>
            </a:r>
            <a:r>
              <a:rPr dirty="0" err="1"/>
              <a:t>veremos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vivo con </a:t>
            </a:r>
            <a:r>
              <a:rPr dirty="0" err="1"/>
              <a:t>una</a:t>
            </a:r>
            <a:r>
              <a:rPr dirty="0"/>
              <a:t> demo. Las </a:t>
            </a:r>
            <a:r>
              <a:rPr dirty="0" err="1"/>
              <a:t>preguntas</a:t>
            </a:r>
            <a:r>
              <a:rPr dirty="0"/>
              <a:t>,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Pide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levanten</a:t>
            </a:r>
            <a:r>
              <a:rPr dirty="0"/>
              <a:t> la mano y </a:t>
            </a:r>
            <a:r>
              <a:rPr dirty="0" err="1"/>
              <a:t>espera</a:t>
            </a:r>
            <a:r>
              <a:rPr dirty="0"/>
              <a:t> un </a:t>
            </a:r>
            <a:r>
              <a:rPr dirty="0" err="1"/>
              <a:t>momento</a:t>
            </a:r>
            <a:r>
              <a:rPr dirty="0"/>
              <a:t>. </a:t>
            </a:r>
            <a:r>
              <a:rPr dirty="0" err="1"/>
              <a:t>Después</a:t>
            </a:r>
            <a:r>
              <a:rPr dirty="0"/>
              <a:t> </a:t>
            </a:r>
            <a:r>
              <a:rPr dirty="0" err="1"/>
              <a:t>lanza</a:t>
            </a:r>
            <a:r>
              <a:rPr dirty="0"/>
              <a:t> la </a:t>
            </a:r>
            <a:r>
              <a:rPr dirty="0" err="1"/>
              <a:t>segunda</a:t>
            </a:r>
            <a:r>
              <a:rPr dirty="0"/>
              <a:t> </a:t>
            </a:r>
            <a:r>
              <a:rPr dirty="0" err="1"/>
              <a:t>pregunta</a:t>
            </a:r>
            <a:r>
              <a:rPr dirty="0"/>
              <a:t>, la de la nota amarilla, y </a:t>
            </a:r>
            <a:r>
              <a:rPr dirty="0" err="1"/>
              <a:t>vuelve</a:t>
            </a:r>
            <a:r>
              <a:rPr dirty="0"/>
              <a:t> a </a:t>
            </a:r>
            <a:r>
              <a:rPr dirty="0" err="1"/>
              <a:t>esperar</a:t>
            </a:r>
            <a:r>
              <a:rPr dirty="0"/>
              <a:t>. </a:t>
            </a:r>
            <a:r>
              <a:rPr dirty="0" err="1"/>
              <a:t>Remata</a:t>
            </a:r>
            <a:r>
              <a:rPr dirty="0"/>
              <a:t>: «Hoy </a:t>
            </a:r>
            <a:r>
              <a:rPr dirty="0" err="1"/>
              <a:t>os</a:t>
            </a:r>
            <a:r>
              <a:rPr dirty="0"/>
              <a:t> cuento </a:t>
            </a:r>
            <a:r>
              <a:rPr dirty="0" err="1"/>
              <a:t>una</a:t>
            </a:r>
            <a:r>
              <a:rPr dirty="0"/>
              <a:t> forma de </a:t>
            </a:r>
            <a:r>
              <a:rPr dirty="0" err="1"/>
              <a:t>trabajar</a:t>
            </a:r>
            <a:r>
              <a:rPr dirty="0"/>
              <a:t> con </a:t>
            </a:r>
            <a:r>
              <a:rPr dirty="0" err="1"/>
              <a:t>agentes</a:t>
            </a:r>
            <a:r>
              <a:rPr dirty="0"/>
              <a:t> de IA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ataca</a:t>
            </a:r>
            <a:r>
              <a:rPr dirty="0"/>
              <a:t> </a:t>
            </a:r>
            <a:r>
              <a:rPr dirty="0" err="1"/>
              <a:t>justo</a:t>
            </a:r>
            <a:r>
              <a:rPr dirty="0"/>
              <a:t> </a:t>
            </a:r>
            <a:r>
              <a:rPr dirty="0" err="1"/>
              <a:t>eso</a:t>
            </a:r>
            <a:r>
              <a:rPr dirty="0"/>
              <a:t>: Spec-Driven Development».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Pedirle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 a la IA a </a:t>
            </a:r>
            <a:r>
              <a:rPr dirty="0" err="1"/>
              <a:t>ojo</a:t>
            </a:r>
            <a:r>
              <a:rPr dirty="0"/>
              <a:t>, sin </a:t>
            </a:r>
            <a:r>
              <a:rPr dirty="0" err="1"/>
              <a:t>requisitos</a:t>
            </a:r>
            <a:r>
              <a:rPr dirty="0"/>
              <a:t>, se llama vibe coding. Es </a:t>
            </a:r>
            <a:r>
              <a:rPr dirty="0" err="1"/>
              <a:t>rapidísimo</a:t>
            </a:r>
            <a:r>
              <a:rPr dirty="0"/>
              <a:t> y para un </a:t>
            </a:r>
            <a:r>
              <a:rPr dirty="0" err="1"/>
              <a:t>prototipo</a:t>
            </a:r>
            <a:r>
              <a:rPr dirty="0"/>
              <a:t> es </a:t>
            </a:r>
            <a:r>
              <a:rPr dirty="0" err="1"/>
              <a:t>estupendo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problemas</a:t>
            </a:r>
            <a:r>
              <a:rPr dirty="0"/>
              <a:t>. Uno: no es </a:t>
            </a:r>
            <a:r>
              <a:rPr dirty="0" err="1"/>
              <a:t>determinista</a:t>
            </a:r>
            <a:r>
              <a:rPr dirty="0"/>
              <a:t>; </a:t>
            </a:r>
            <a:r>
              <a:rPr dirty="0" err="1"/>
              <a:t>pídele</a:t>
            </a:r>
            <a:r>
              <a:rPr dirty="0"/>
              <a:t> </a:t>
            </a:r>
            <a:r>
              <a:rPr dirty="0" err="1"/>
              <a:t>diez</a:t>
            </a:r>
            <a:r>
              <a:rPr dirty="0"/>
              <a:t> </a:t>
            </a:r>
            <a:r>
              <a:rPr dirty="0" err="1"/>
              <a:t>veces</a:t>
            </a:r>
            <a:r>
              <a:rPr dirty="0"/>
              <a:t> lo </a:t>
            </a:r>
            <a:r>
              <a:rPr dirty="0" err="1"/>
              <a:t>mismo</a:t>
            </a:r>
            <a:r>
              <a:rPr dirty="0"/>
              <a:t> y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dará</a:t>
            </a:r>
            <a:r>
              <a:rPr dirty="0"/>
              <a:t> </a:t>
            </a:r>
            <a:r>
              <a:rPr dirty="0" err="1"/>
              <a:t>diez</a:t>
            </a:r>
            <a:r>
              <a:rPr dirty="0"/>
              <a:t> </a:t>
            </a:r>
            <a:r>
              <a:rPr dirty="0" err="1"/>
              <a:t>respuestas</a:t>
            </a:r>
            <a:r>
              <a:rPr dirty="0"/>
              <a:t> </a:t>
            </a:r>
            <a:r>
              <a:rPr dirty="0" err="1"/>
              <a:t>distintas</a:t>
            </a:r>
            <a:r>
              <a:rPr dirty="0"/>
              <a:t>. Dos: rellena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huecos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silencio</a:t>
            </a:r>
            <a:r>
              <a:rPr dirty="0"/>
              <a:t>; lo </a:t>
            </a:r>
            <a:r>
              <a:rPr dirty="0" err="1"/>
              <a:t>que</a:t>
            </a:r>
            <a:r>
              <a:rPr dirty="0"/>
              <a:t> no decimos lo decide </a:t>
            </a:r>
            <a:r>
              <a:rPr dirty="0" err="1"/>
              <a:t>ella</a:t>
            </a:r>
            <a:r>
              <a:rPr dirty="0"/>
              <a:t>. Tres: </a:t>
            </a:r>
            <a:r>
              <a:rPr dirty="0" err="1"/>
              <a:t>cuanto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 genera, </a:t>
            </a:r>
            <a:r>
              <a:rPr dirty="0" err="1"/>
              <a:t>menos</a:t>
            </a:r>
            <a:r>
              <a:rPr dirty="0"/>
              <a:t> lo </a:t>
            </a:r>
            <a:r>
              <a:rPr dirty="0" err="1"/>
              <a:t>revisamos</a:t>
            </a:r>
            <a:r>
              <a:rPr dirty="0"/>
              <a:t>, y lo </a:t>
            </a:r>
            <a:r>
              <a:rPr dirty="0" err="1"/>
              <a:t>que</a:t>
            </a:r>
            <a:r>
              <a:rPr dirty="0"/>
              <a:t> no se </a:t>
            </a:r>
            <a:r>
              <a:rPr dirty="0" err="1"/>
              <a:t>revisa</a:t>
            </a:r>
            <a:r>
              <a:rPr dirty="0"/>
              <a:t> </a:t>
            </a:r>
            <a:r>
              <a:rPr dirty="0" err="1"/>
              <a:t>acaba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fallos</a:t>
            </a:r>
            <a:r>
              <a:rPr dirty="0"/>
              <a:t> de </a:t>
            </a:r>
            <a:r>
              <a:rPr dirty="0" err="1"/>
              <a:t>seguridad</a:t>
            </a:r>
            <a:r>
              <a:rPr dirty="0"/>
              <a:t> y </a:t>
            </a:r>
            <a:r>
              <a:rPr dirty="0" err="1"/>
              <a:t>deuda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. Ya les </a:t>
            </a:r>
            <a:r>
              <a:rPr dirty="0" err="1"/>
              <a:t>damos</a:t>
            </a:r>
            <a:r>
              <a:rPr dirty="0"/>
              <a:t> a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agentes</a:t>
            </a:r>
            <a:r>
              <a:rPr dirty="0"/>
              <a:t> </a:t>
            </a:r>
            <a:r>
              <a:rPr dirty="0" err="1"/>
              <a:t>reglas</a:t>
            </a:r>
            <a:r>
              <a:rPr dirty="0"/>
              <a:t>, skills y </a:t>
            </a:r>
            <a:r>
              <a:rPr dirty="0" err="1"/>
              <a:t>conectores</a:t>
            </a:r>
            <a:r>
              <a:rPr dirty="0"/>
              <a:t>, y </a:t>
            </a:r>
            <a:r>
              <a:rPr dirty="0" err="1"/>
              <a:t>ayudan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el </a:t>
            </a:r>
            <a:r>
              <a:rPr dirty="0" err="1"/>
              <a:t>agente</a:t>
            </a:r>
            <a:r>
              <a:rPr dirty="0"/>
              <a:t> no sabe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construir</a:t>
            </a:r>
            <a:r>
              <a:rPr dirty="0"/>
              <a:t>, lo </a:t>
            </a:r>
            <a:r>
              <a:rPr dirty="0" err="1"/>
              <a:t>hará</a:t>
            </a:r>
            <a:r>
              <a:rPr dirty="0"/>
              <a:t> mal </a:t>
            </a:r>
            <a:r>
              <a:rPr dirty="0" err="1"/>
              <a:t>igualmente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El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pequeño</a:t>
            </a:r>
            <a:r>
              <a:rPr dirty="0"/>
              <a:t>. Le </a:t>
            </a:r>
            <a:r>
              <a:rPr dirty="0" err="1"/>
              <a:t>pido</a:t>
            </a:r>
            <a:r>
              <a:rPr dirty="0"/>
              <a:t> a la IA «</a:t>
            </a:r>
            <a:r>
              <a:rPr dirty="0" err="1"/>
              <a:t>añade</a:t>
            </a:r>
            <a:r>
              <a:rPr dirty="0"/>
              <a:t> un login a la </a:t>
            </a:r>
            <a:r>
              <a:rPr dirty="0" err="1"/>
              <a:t>aplicación</a:t>
            </a:r>
            <a:r>
              <a:rPr dirty="0"/>
              <a:t>». Una </a:t>
            </a:r>
            <a:r>
              <a:rPr dirty="0" err="1"/>
              <a:t>vez</a:t>
            </a:r>
            <a:r>
              <a:rPr dirty="0"/>
              <a:t> me </a:t>
            </a:r>
            <a:r>
              <a:rPr dirty="0" err="1"/>
              <a:t>hace</a:t>
            </a:r>
            <a:r>
              <a:rPr dirty="0"/>
              <a:t> un login con email, sin </a:t>
            </a:r>
            <a:r>
              <a:rPr dirty="0" err="1"/>
              <a:t>límite</a:t>
            </a:r>
            <a:r>
              <a:rPr dirty="0"/>
              <a:t> de </a:t>
            </a:r>
            <a:r>
              <a:rPr dirty="0" err="1"/>
              <a:t>intentos</a:t>
            </a:r>
            <a:r>
              <a:rPr dirty="0"/>
              <a:t> y con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sesión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no </a:t>
            </a:r>
            <a:r>
              <a:rPr dirty="0" err="1"/>
              <a:t>caduca</a:t>
            </a:r>
            <a:r>
              <a:rPr dirty="0"/>
              <a:t>. </a:t>
            </a:r>
            <a:r>
              <a:rPr dirty="0" err="1"/>
              <a:t>Otra</a:t>
            </a:r>
            <a:r>
              <a:rPr dirty="0"/>
              <a:t>, con </a:t>
            </a:r>
            <a:r>
              <a:rPr dirty="0" err="1"/>
              <a:t>usuario</a:t>
            </a:r>
            <a:r>
              <a:rPr dirty="0"/>
              <a:t>, </a:t>
            </a:r>
            <a:r>
              <a:rPr dirty="0" err="1"/>
              <a:t>bloqueo</a:t>
            </a:r>
            <a:r>
              <a:rPr dirty="0"/>
              <a:t> </a:t>
            </a:r>
            <a:r>
              <a:rPr dirty="0" err="1"/>
              <a:t>tras</a:t>
            </a:r>
            <a:r>
              <a:rPr dirty="0"/>
              <a:t> </a:t>
            </a:r>
            <a:r>
              <a:rPr dirty="0" err="1"/>
              <a:t>cinco</a:t>
            </a:r>
            <a:r>
              <a:rPr dirty="0"/>
              <a:t> </a:t>
            </a:r>
            <a:r>
              <a:rPr dirty="0" err="1"/>
              <a:t>intentos</a:t>
            </a:r>
            <a:r>
              <a:rPr dirty="0"/>
              <a:t> y </a:t>
            </a:r>
            <a:r>
              <a:rPr dirty="0" err="1"/>
              <a:t>sesión</a:t>
            </a:r>
            <a:r>
              <a:rPr dirty="0"/>
              <a:t> de 30 </a:t>
            </a:r>
            <a:r>
              <a:rPr dirty="0" err="1"/>
              <a:t>minutos</a:t>
            </a:r>
            <a:r>
              <a:rPr dirty="0"/>
              <a:t>. Las dos </a:t>
            </a:r>
            <a:r>
              <a:rPr dirty="0" err="1"/>
              <a:t>funcionan</a:t>
            </a:r>
            <a:r>
              <a:rPr dirty="0"/>
              <a:t>. ¿</a:t>
            </a:r>
            <a:r>
              <a:rPr dirty="0" err="1"/>
              <a:t>Cuál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bien? </a:t>
            </a:r>
            <a:r>
              <a:rPr dirty="0" err="1"/>
              <a:t>Ninguna</a:t>
            </a:r>
            <a:r>
              <a:rPr dirty="0"/>
              <a:t>,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nadie</a:t>
            </a:r>
            <a:r>
              <a:rPr dirty="0"/>
              <a:t> </a:t>
            </a:r>
            <a:r>
              <a:rPr dirty="0" err="1"/>
              <a:t>dijo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era </a:t>
            </a:r>
            <a:r>
              <a:rPr dirty="0" err="1"/>
              <a:t>estar</a:t>
            </a:r>
            <a:r>
              <a:rPr dirty="0"/>
              <a:t> bien. Falta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pieza</a:t>
            </a:r>
            <a:r>
              <a:rPr dirty="0"/>
              <a:t>: </a:t>
            </a:r>
            <a:r>
              <a:rPr dirty="0" err="1"/>
              <a:t>decírselo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escrito</a:t>
            </a:r>
            <a:r>
              <a:rPr dirty="0"/>
              <a:t>. Esa </a:t>
            </a:r>
            <a:r>
              <a:rPr dirty="0" err="1"/>
              <a:t>pieza</a:t>
            </a:r>
            <a:r>
              <a:rPr dirty="0"/>
              <a:t> es la spec.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SDD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desarrollo</a:t>
            </a:r>
            <a:r>
              <a:rPr dirty="0"/>
              <a:t> </a:t>
            </a:r>
            <a:r>
              <a:rPr dirty="0" err="1"/>
              <a:t>dirigido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especificaciones</a:t>
            </a:r>
            <a:r>
              <a:rPr dirty="0"/>
              <a:t>. Antes de </a:t>
            </a:r>
            <a:r>
              <a:rPr dirty="0" err="1"/>
              <a:t>pedir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escribimos</a:t>
            </a:r>
            <a:r>
              <a:rPr dirty="0"/>
              <a:t> un </a:t>
            </a:r>
            <a:r>
              <a:rPr dirty="0" err="1"/>
              <a:t>documento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Markdown, la spec, </a:t>
            </a:r>
            <a:r>
              <a:rPr dirty="0" err="1"/>
              <a:t>que</a:t>
            </a:r>
            <a:r>
              <a:rPr dirty="0"/>
              <a:t> dice </a:t>
            </a:r>
            <a:r>
              <a:rPr dirty="0" err="1"/>
              <a:t>qué</a:t>
            </a:r>
            <a:r>
              <a:rPr dirty="0"/>
              <a:t> hay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construir</a:t>
            </a:r>
            <a:r>
              <a:rPr dirty="0"/>
              <a:t> y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. El </a:t>
            </a:r>
            <a:r>
              <a:rPr dirty="0" err="1"/>
              <a:t>código</a:t>
            </a:r>
            <a:r>
              <a:rPr dirty="0"/>
              <a:t> es el </a:t>
            </a:r>
            <a:r>
              <a:rPr dirty="0" err="1"/>
              <a:t>cómo</a:t>
            </a:r>
            <a:r>
              <a:rPr dirty="0"/>
              <a:t>, y lo escribe el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después</a:t>
            </a:r>
            <a:r>
              <a:rPr dirty="0"/>
              <a:t>, contra ese </a:t>
            </a:r>
            <a:r>
              <a:rPr dirty="0" err="1"/>
              <a:t>documento</a:t>
            </a:r>
            <a:r>
              <a:rPr dirty="0"/>
              <a:t>. </a:t>
            </a:r>
            <a:r>
              <a:rPr dirty="0" err="1"/>
              <a:t>Nosotros</a:t>
            </a:r>
            <a:r>
              <a:rPr dirty="0"/>
              <a:t> </a:t>
            </a:r>
            <a:r>
              <a:rPr dirty="0" err="1"/>
              <a:t>revisamos</a:t>
            </a:r>
            <a:r>
              <a:rPr dirty="0"/>
              <a:t> el </a:t>
            </a:r>
            <a:r>
              <a:rPr dirty="0" err="1"/>
              <a:t>resultado</a:t>
            </a:r>
            <a:r>
              <a:rPr dirty="0"/>
              <a:t> contra la spec. Las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siguen</a:t>
            </a:r>
            <a:r>
              <a:rPr dirty="0"/>
              <a:t> </a:t>
            </a:r>
            <a:r>
              <a:rPr dirty="0" err="1"/>
              <a:t>siendo</a:t>
            </a:r>
            <a:r>
              <a:rPr dirty="0"/>
              <a:t> </a:t>
            </a:r>
            <a:r>
              <a:rPr dirty="0" err="1"/>
              <a:t>nuestras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¿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suena</a:t>
            </a:r>
            <a:r>
              <a:rPr dirty="0"/>
              <a:t>? </a:t>
            </a:r>
            <a:r>
              <a:rPr dirty="0" err="1"/>
              <a:t>Debería</a:t>
            </a:r>
            <a:r>
              <a:rPr dirty="0"/>
              <a:t>. Es </a:t>
            </a:r>
            <a:r>
              <a:rPr dirty="0" err="1"/>
              <a:t>como</a:t>
            </a:r>
            <a:r>
              <a:rPr dirty="0"/>
              <a:t> se ha </a:t>
            </a:r>
            <a:r>
              <a:rPr dirty="0" err="1"/>
              <a:t>hecho</a:t>
            </a:r>
            <a:r>
              <a:rPr dirty="0"/>
              <a:t> software </a:t>
            </a:r>
            <a:r>
              <a:rPr dirty="0" err="1"/>
              <a:t>toda</a:t>
            </a:r>
            <a:r>
              <a:rPr dirty="0"/>
              <a:t> la </a:t>
            </a:r>
            <a:r>
              <a:rPr dirty="0" err="1"/>
              <a:t>vida</a:t>
            </a:r>
            <a:r>
              <a:rPr dirty="0"/>
              <a:t>: </a:t>
            </a:r>
            <a:r>
              <a:rPr dirty="0" err="1"/>
              <a:t>planificación</a:t>
            </a:r>
            <a:r>
              <a:rPr dirty="0"/>
              <a:t>, </a:t>
            </a:r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requisitos</a:t>
            </a:r>
            <a:r>
              <a:rPr dirty="0"/>
              <a:t>, </a:t>
            </a:r>
            <a:r>
              <a:rPr dirty="0" err="1"/>
              <a:t>diseño</a:t>
            </a:r>
            <a:r>
              <a:rPr dirty="0"/>
              <a:t>, </a:t>
            </a:r>
            <a:r>
              <a:rPr dirty="0" err="1"/>
              <a:t>desglose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tareas</a:t>
            </a:r>
            <a:r>
              <a:rPr dirty="0"/>
              <a:t>, </a:t>
            </a:r>
            <a:r>
              <a:rPr dirty="0" err="1"/>
              <a:t>implementación</a:t>
            </a:r>
            <a:r>
              <a:rPr dirty="0"/>
              <a:t>, </a:t>
            </a:r>
            <a:r>
              <a:rPr dirty="0" err="1"/>
              <a:t>pruebas</a:t>
            </a:r>
            <a:r>
              <a:rPr dirty="0"/>
              <a:t> y </a:t>
            </a:r>
            <a:r>
              <a:rPr dirty="0" err="1"/>
              <a:t>mantenimiento</a:t>
            </a:r>
            <a:r>
              <a:rPr dirty="0"/>
              <a:t>. </a:t>
            </a:r>
            <a:r>
              <a:rPr dirty="0" err="1"/>
              <a:t>Alguien</a:t>
            </a:r>
            <a:r>
              <a:rPr dirty="0"/>
              <a:t> </a:t>
            </a:r>
            <a:r>
              <a:rPr dirty="0" err="1"/>
              <a:t>escribía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especificación</a:t>
            </a:r>
            <a:r>
              <a:rPr dirty="0"/>
              <a:t> y un </a:t>
            </a:r>
            <a:r>
              <a:rPr dirty="0" err="1"/>
              <a:t>programador</a:t>
            </a:r>
            <a:r>
              <a:rPr dirty="0"/>
              <a:t> la </a:t>
            </a:r>
            <a:r>
              <a:rPr dirty="0" err="1"/>
              <a:t>implementaba</a:t>
            </a:r>
            <a:r>
              <a:rPr dirty="0"/>
              <a:t>. Lo </a:t>
            </a:r>
            <a:r>
              <a:rPr dirty="0" err="1"/>
              <a:t>único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cambia es </a:t>
            </a:r>
            <a:r>
              <a:rPr dirty="0" err="1"/>
              <a:t>quién</a:t>
            </a:r>
            <a:r>
              <a:rPr dirty="0"/>
              <a:t> </a:t>
            </a:r>
            <a:r>
              <a:rPr dirty="0" err="1"/>
              <a:t>implementa</a:t>
            </a:r>
            <a:r>
              <a:rPr dirty="0"/>
              <a:t>. </a:t>
            </a:r>
            <a:r>
              <a:rPr dirty="0" err="1"/>
              <a:t>Recorre</a:t>
            </a:r>
            <a:r>
              <a:rPr dirty="0"/>
              <a:t> las parejas de la </a:t>
            </a:r>
            <a:r>
              <a:rPr dirty="0" err="1"/>
              <a:t>tabla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Dilo </a:t>
            </a:r>
            <a:r>
              <a:rPr dirty="0" err="1"/>
              <a:t>despacio</a:t>
            </a:r>
            <a:r>
              <a:rPr dirty="0"/>
              <a:t> y </a:t>
            </a:r>
            <a:r>
              <a:rPr dirty="0" err="1"/>
              <a:t>deja</a:t>
            </a:r>
            <a:r>
              <a:rPr dirty="0"/>
              <a:t> un </a:t>
            </a:r>
            <a:r>
              <a:rPr dirty="0" err="1"/>
              <a:t>segundo</a:t>
            </a:r>
            <a:r>
              <a:rPr dirty="0"/>
              <a:t> de </a:t>
            </a:r>
            <a:r>
              <a:rPr dirty="0" err="1"/>
              <a:t>silencio</a:t>
            </a:r>
            <a:r>
              <a:rPr dirty="0"/>
              <a:t>. Es la </a:t>
            </a:r>
            <a:r>
              <a:rPr dirty="0" err="1"/>
              <a:t>frase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resume la </a:t>
            </a:r>
            <a:r>
              <a:rPr dirty="0" err="1"/>
              <a:t>charla</a:t>
            </a:r>
            <a:r>
              <a:rPr dirty="0"/>
              <a:t>: el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antes era </a:t>
            </a:r>
            <a:r>
              <a:rPr dirty="0" err="1"/>
              <a:t>escribir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pasa</a:t>
            </a:r>
            <a:r>
              <a:rPr dirty="0"/>
              <a:t> a ser </a:t>
            </a:r>
            <a:r>
              <a:rPr dirty="0" err="1"/>
              <a:t>decidir</a:t>
            </a:r>
            <a:r>
              <a:rPr dirty="0"/>
              <a:t> bien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construir</a:t>
            </a:r>
            <a:r>
              <a:rPr dirty="0"/>
              <a:t> y </a:t>
            </a:r>
            <a:r>
              <a:rPr dirty="0" err="1"/>
              <a:t>revisar</a:t>
            </a:r>
            <a:r>
              <a:rPr dirty="0"/>
              <a:t> el </a:t>
            </a:r>
            <a:r>
              <a:rPr dirty="0" err="1"/>
              <a:t>resultado</a:t>
            </a:r>
            <a:r>
              <a:rPr dirty="0"/>
              <a:t>. </a:t>
            </a:r>
            <a:r>
              <a:rPr dirty="0" err="1"/>
              <a:t>Transición</a:t>
            </a:r>
            <a:r>
              <a:rPr dirty="0"/>
              <a:t>: «</a:t>
            </a:r>
            <a:r>
              <a:rPr dirty="0" err="1"/>
              <a:t>Ahora</a:t>
            </a:r>
            <a:r>
              <a:rPr dirty="0"/>
              <a:t> bien, no </a:t>
            </a:r>
            <a:r>
              <a:rPr dirty="0" err="1"/>
              <a:t>todo</a:t>
            </a:r>
            <a:r>
              <a:rPr dirty="0"/>
              <a:t> el </a:t>
            </a:r>
            <a:r>
              <a:rPr dirty="0" err="1"/>
              <a:t>mundo</a:t>
            </a:r>
            <a:r>
              <a:rPr dirty="0"/>
              <a:t> </a:t>
            </a:r>
            <a:r>
              <a:rPr dirty="0" err="1"/>
              <a:t>hace</a:t>
            </a:r>
            <a:r>
              <a:rPr dirty="0"/>
              <a:t> SDD </a:t>
            </a:r>
            <a:r>
              <a:rPr dirty="0" err="1"/>
              <a:t>igual</a:t>
            </a:r>
            <a:r>
              <a:rPr dirty="0"/>
              <a:t>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La </a:t>
            </a:r>
            <a:r>
              <a:rPr dirty="0" err="1"/>
              <a:t>diferencia</a:t>
            </a:r>
            <a:r>
              <a:rPr dirty="0"/>
              <a:t> entre las formas de </a:t>
            </a:r>
            <a:r>
              <a:rPr dirty="0" err="1"/>
              <a:t>hacer</a:t>
            </a:r>
            <a:r>
              <a:rPr dirty="0"/>
              <a:t> SDD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pasa</a:t>
            </a:r>
            <a:r>
              <a:rPr dirty="0"/>
              <a:t> con la spec </a:t>
            </a:r>
            <a:r>
              <a:rPr dirty="0" err="1"/>
              <a:t>cuando</a:t>
            </a:r>
            <a:r>
              <a:rPr dirty="0"/>
              <a:t> el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existe</a:t>
            </a:r>
            <a:r>
              <a:rPr dirty="0"/>
              <a:t>. En spec-first, la spec </a:t>
            </a:r>
            <a:r>
              <a:rPr dirty="0" err="1"/>
              <a:t>arranca</a:t>
            </a:r>
            <a:r>
              <a:rPr dirty="0"/>
              <a:t> el </a:t>
            </a:r>
            <a:r>
              <a:rPr dirty="0" err="1"/>
              <a:t>desarrollo</a:t>
            </a:r>
            <a:r>
              <a:rPr dirty="0"/>
              <a:t> y </a:t>
            </a:r>
            <a:r>
              <a:rPr dirty="0" err="1"/>
              <a:t>después</a:t>
            </a:r>
            <a:r>
              <a:rPr dirty="0"/>
              <a:t> se </a:t>
            </a:r>
            <a:r>
              <a:rPr dirty="0" err="1"/>
              <a:t>olvida</a:t>
            </a:r>
            <a:r>
              <a:rPr dirty="0"/>
              <a:t>: </a:t>
            </a:r>
            <a:r>
              <a:rPr dirty="0" err="1"/>
              <a:t>manda</a:t>
            </a:r>
            <a:r>
              <a:rPr dirty="0"/>
              <a:t> el </a:t>
            </a:r>
            <a:r>
              <a:rPr dirty="0" err="1"/>
              <a:t>código</a:t>
            </a:r>
            <a:r>
              <a:rPr dirty="0"/>
              <a:t>. En spec-anchored, la spec </a:t>
            </a:r>
            <a:r>
              <a:rPr dirty="0" err="1"/>
              <a:t>acompaña</a:t>
            </a:r>
            <a:r>
              <a:rPr dirty="0"/>
              <a:t> al </a:t>
            </a:r>
            <a:r>
              <a:rPr dirty="0" err="1"/>
              <a:t>código</a:t>
            </a:r>
            <a:r>
              <a:rPr dirty="0"/>
              <a:t>: </a:t>
            </a:r>
            <a:r>
              <a:rPr dirty="0" err="1"/>
              <a:t>si</a:t>
            </a:r>
            <a:r>
              <a:rPr dirty="0"/>
              <a:t> cambia uno, se </a:t>
            </a:r>
            <a:r>
              <a:rPr dirty="0" err="1"/>
              <a:t>actualiza</a:t>
            </a:r>
            <a:r>
              <a:rPr dirty="0"/>
              <a:t> el </a:t>
            </a:r>
            <a:r>
              <a:rPr dirty="0" err="1"/>
              <a:t>otro</a:t>
            </a:r>
            <a:r>
              <a:rPr dirty="0"/>
              <a:t>. En spec-as-source, la spec es el </a:t>
            </a:r>
            <a:r>
              <a:rPr dirty="0" err="1"/>
              <a:t>programa</a:t>
            </a:r>
            <a:r>
              <a:rPr dirty="0"/>
              <a:t>: el </a:t>
            </a:r>
            <a:r>
              <a:rPr dirty="0" err="1"/>
              <a:t>código</a:t>
            </a:r>
            <a:r>
              <a:rPr dirty="0"/>
              <a:t> se </a:t>
            </a:r>
            <a:r>
              <a:rPr dirty="0" err="1"/>
              <a:t>regenera</a:t>
            </a:r>
            <a:r>
              <a:rPr dirty="0"/>
              <a:t> y </a:t>
            </a:r>
            <a:r>
              <a:rPr dirty="0" err="1"/>
              <a:t>casi</a:t>
            </a:r>
            <a:r>
              <a:rPr dirty="0"/>
              <a:t> no se </a:t>
            </a:r>
            <a:r>
              <a:rPr dirty="0" err="1"/>
              <a:t>mira</a:t>
            </a:r>
            <a:r>
              <a:rPr dirty="0"/>
              <a:t>; es </a:t>
            </a:r>
            <a:r>
              <a:rPr dirty="0" err="1"/>
              <a:t>arriesgado</a:t>
            </a:r>
            <a:r>
              <a:rPr dirty="0"/>
              <a:t>, y el framework </a:t>
            </a:r>
            <a:r>
              <a:rPr dirty="0" err="1"/>
              <a:t>que</a:t>
            </a:r>
            <a:r>
              <a:rPr dirty="0"/>
              <a:t> lo </a:t>
            </a:r>
            <a:r>
              <a:rPr dirty="0" err="1"/>
              <a:t>popularizó</a:t>
            </a:r>
            <a:r>
              <a:rPr dirty="0"/>
              <a:t> </a:t>
            </a:r>
            <a:r>
              <a:rPr dirty="0" err="1"/>
              <a:t>acabó</a:t>
            </a:r>
            <a:r>
              <a:rPr dirty="0"/>
              <a:t> </a:t>
            </a:r>
            <a:r>
              <a:rPr dirty="0" err="1"/>
              <a:t>cambiando</a:t>
            </a:r>
            <a:r>
              <a:rPr dirty="0"/>
              <a:t> de rumbo. Lo </a:t>
            </a:r>
            <a:r>
              <a:rPr dirty="0" err="1"/>
              <a:t>recomendable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mezcla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dos primeros.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El </a:t>
            </a:r>
            <a:r>
              <a:rPr dirty="0" err="1"/>
              <a:t>flujo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siete</a:t>
            </a:r>
            <a:r>
              <a:rPr dirty="0"/>
              <a:t> pasos y un </a:t>
            </a:r>
            <a:r>
              <a:rPr dirty="0" err="1"/>
              <a:t>bucle</a:t>
            </a:r>
            <a:r>
              <a:rPr dirty="0"/>
              <a:t>. La </a:t>
            </a:r>
            <a:r>
              <a:rPr dirty="0" err="1"/>
              <a:t>constitución</a:t>
            </a:r>
            <a:r>
              <a:rPr dirty="0"/>
              <a:t> se escribe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vez</a:t>
            </a:r>
            <a:r>
              <a:rPr dirty="0"/>
              <a:t>. </a:t>
            </a:r>
            <a:r>
              <a:rPr dirty="0" err="1"/>
              <a:t>Después</a:t>
            </a:r>
            <a:r>
              <a:rPr dirty="0"/>
              <a:t>,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funcionalidad</a:t>
            </a:r>
            <a:r>
              <a:rPr dirty="0"/>
              <a:t> </a:t>
            </a:r>
            <a:r>
              <a:rPr dirty="0" err="1"/>
              <a:t>recorre</a:t>
            </a:r>
            <a:r>
              <a:rPr dirty="0"/>
              <a:t> spec, </a:t>
            </a:r>
            <a:r>
              <a:rPr dirty="0" err="1"/>
              <a:t>clarificación</a:t>
            </a:r>
            <a:r>
              <a:rPr dirty="0"/>
              <a:t>, plan y </a:t>
            </a:r>
            <a:r>
              <a:rPr dirty="0" err="1"/>
              <a:t>tareas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modo plan: la IA propone y </a:t>
            </a:r>
            <a:r>
              <a:rPr dirty="0" err="1"/>
              <a:t>nosotros</a:t>
            </a:r>
            <a:r>
              <a:rPr dirty="0"/>
              <a:t> </a:t>
            </a:r>
            <a:r>
              <a:rPr dirty="0" err="1"/>
              <a:t>aprobamos</a:t>
            </a:r>
            <a:r>
              <a:rPr dirty="0"/>
              <a:t>. Luego </a:t>
            </a:r>
            <a:r>
              <a:rPr dirty="0" err="1"/>
              <a:t>implementación</a:t>
            </a:r>
            <a:r>
              <a:rPr dirty="0"/>
              <a:t> y </a:t>
            </a:r>
            <a:r>
              <a:rPr dirty="0" err="1"/>
              <a:t>validación</a:t>
            </a:r>
            <a:r>
              <a:rPr dirty="0"/>
              <a:t>. Si hay </a:t>
            </a:r>
            <a:r>
              <a:rPr dirty="0" err="1"/>
              <a:t>cambios</a:t>
            </a:r>
            <a:r>
              <a:rPr dirty="0"/>
              <a:t>, </a:t>
            </a:r>
            <a:r>
              <a:rPr dirty="0" err="1"/>
              <a:t>volvemos</a:t>
            </a:r>
            <a:r>
              <a:rPr dirty="0"/>
              <a:t> a la spec, </a:t>
            </a:r>
            <a:r>
              <a:rPr dirty="0" err="1"/>
              <a:t>nunca</a:t>
            </a:r>
            <a:r>
              <a:rPr dirty="0"/>
              <a:t> </a:t>
            </a:r>
            <a:r>
              <a:rPr dirty="0" err="1"/>
              <a:t>directamente</a:t>
            </a:r>
            <a:r>
              <a:rPr dirty="0"/>
              <a:t> al </a:t>
            </a:r>
            <a:r>
              <a:rPr dirty="0" err="1"/>
              <a:t>código</a:t>
            </a:r>
            <a:r>
              <a:rPr dirty="0"/>
              <a:t>. Vamos paso a paso.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Paso 0, la </a:t>
            </a:r>
            <a:r>
              <a:rPr dirty="0" err="1"/>
              <a:t>constitución</a:t>
            </a:r>
            <a:r>
              <a:rPr dirty="0"/>
              <a:t>: se escribe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vez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proyecto</a:t>
            </a:r>
            <a:r>
              <a:rPr dirty="0"/>
              <a:t>; </a:t>
            </a:r>
            <a:r>
              <a:rPr dirty="0" err="1"/>
              <a:t>unos</a:t>
            </a:r>
            <a:r>
              <a:rPr dirty="0"/>
              <a:t> seis </a:t>
            </a:r>
            <a:r>
              <a:rPr dirty="0" err="1"/>
              <a:t>principios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no se </a:t>
            </a:r>
            <a:r>
              <a:rPr dirty="0" err="1"/>
              <a:t>negocian</a:t>
            </a:r>
            <a:r>
              <a:rPr dirty="0"/>
              <a:t>. Junto a </a:t>
            </a:r>
            <a:r>
              <a:rPr dirty="0" err="1"/>
              <a:t>ella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AGENTS.md</a:t>
            </a:r>
            <a:r>
              <a:rPr dirty="0"/>
              <a:t>, el </a:t>
            </a:r>
            <a:r>
              <a:rPr dirty="0" err="1"/>
              <a:t>fichero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</a:t>
            </a:r>
            <a:r>
              <a:rPr dirty="0" err="1"/>
              <a:t>agente</a:t>
            </a:r>
            <a:r>
              <a:rPr dirty="0"/>
              <a:t> lee antes de </a:t>
            </a:r>
            <a:r>
              <a:rPr dirty="0" err="1"/>
              <a:t>hacer</a:t>
            </a:r>
            <a:r>
              <a:rPr dirty="0"/>
              <a:t> nada. Paso 1, la spec: le </a:t>
            </a:r>
            <a:r>
              <a:rPr dirty="0" err="1"/>
              <a:t>contamos</a:t>
            </a:r>
            <a:r>
              <a:rPr dirty="0"/>
              <a:t> la idea al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modo plan, sin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escriba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, y le </a:t>
            </a:r>
            <a:r>
              <a:rPr dirty="0" err="1"/>
              <a:t>pedimos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haga</a:t>
            </a:r>
            <a:r>
              <a:rPr dirty="0"/>
              <a:t> </a:t>
            </a:r>
            <a:r>
              <a:rPr dirty="0" err="1"/>
              <a:t>preguntas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máximo</a:t>
            </a:r>
            <a:r>
              <a:rPr dirty="0"/>
              <a:t> seis: </a:t>
            </a:r>
            <a:r>
              <a:rPr dirty="0" err="1"/>
              <a:t>casos</a:t>
            </a:r>
            <a:r>
              <a:rPr dirty="0"/>
              <a:t> </a:t>
            </a:r>
            <a:r>
              <a:rPr dirty="0" err="1"/>
              <a:t>límite</a:t>
            </a:r>
            <a:r>
              <a:rPr dirty="0"/>
              <a:t>, </a:t>
            </a:r>
            <a:r>
              <a:rPr dirty="0" err="1"/>
              <a:t>errores</a:t>
            </a:r>
            <a:r>
              <a:rPr dirty="0"/>
              <a:t>, </a:t>
            </a:r>
            <a:r>
              <a:rPr dirty="0" err="1"/>
              <a:t>alcance</a:t>
            </a:r>
            <a:r>
              <a:rPr dirty="0"/>
              <a:t> y </a:t>
            </a:r>
            <a:r>
              <a:rPr dirty="0" err="1"/>
              <a:t>cuándo</a:t>
            </a:r>
            <a:r>
              <a:rPr dirty="0"/>
              <a:t> </a:t>
            </a:r>
            <a:r>
              <a:rPr dirty="0" err="1"/>
              <a:t>estará</a:t>
            </a:r>
            <a:r>
              <a:rPr dirty="0"/>
              <a:t> </a:t>
            </a:r>
            <a:r>
              <a:rPr dirty="0" err="1"/>
              <a:t>terminado</a:t>
            </a:r>
            <a:r>
              <a:rPr dirty="0"/>
              <a:t>. Cada </a:t>
            </a:r>
            <a:r>
              <a:rPr dirty="0" err="1"/>
              <a:t>pregunta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decisión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, sin spec, </a:t>
            </a:r>
            <a:r>
              <a:rPr dirty="0" err="1"/>
              <a:t>habría</a:t>
            </a:r>
            <a:r>
              <a:rPr dirty="0"/>
              <a:t> </a:t>
            </a:r>
            <a:r>
              <a:rPr dirty="0" err="1"/>
              <a:t>tomado</a:t>
            </a:r>
            <a:r>
              <a:rPr dirty="0"/>
              <a:t> </a:t>
            </a:r>
            <a:r>
              <a:rPr dirty="0" err="1"/>
              <a:t>ella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silencio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Una spec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siempre</a:t>
            </a:r>
            <a:r>
              <a:rPr dirty="0"/>
              <a:t> las </a:t>
            </a:r>
            <a:r>
              <a:rPr dirty="0" err="1"/>
              <a:t>mismas</a:t>
            </a:r>
            <a:r>
              <a:rPr dirty="0"/>
              <a:t> </a:t>
            </a:r>
            <a:r>
              <a:rPr dirty="0" err="1"/>
              <a:t>secciones</a:t>
            </a:r>
            <a:r>
              <a:rPr dirty="0"/>
              <a:t>. Tres </a:t>
            </a:r>
            <a:r>
              <a:rPr dirty="0" err="1"/>
              <a:t>cosas</a:t>
            </a:r>
            <a:r>
              <a:rPr dirty="0"/>
              <a:t> </a:t>
            </a:r>
            <a:r>
              <a:rPr dirty="0" err="1"/>
              <a:t>importantes</a:t>
            </a:r>
            <a:r>
              <a:rPr dirty="0"/>
              <a:t>: solo el </a:t>
            </a:r>
            <a:r>
              <a:rPr dirty="0" err="1"/>
              <a:t>qué</a:t>
            </a:r>
            <a:r>
              <a:rPr dirty="0"/>
              <a:t> y el </a:t>
            </a:r>
            <a:r>
              <a:rPr dirty="0" err="1"/>
              <a:t>porqué</a:t>
            </a:r>
            <a:r>
              <a:rPr dirty="0"/>
              <a:t>, nada de </a:t>
            </a:r>
            <a:r>
              <a:rPr dirty="0" err="1"/>
              <a:t>tecnología</a:t>
            </a:r>
            <a:r>
              <a:rPr dirty="0"/>
              <a:t>;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numerados</a:t>
            </a:r>
            <a:r>
              <a:rPr dirty="0"/>
              <a:t> y </a:t>
            </a:r>
            <a:r>
              <a:rPr dirty="0" err="1"/>
              <a:t>escritos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EARS,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ahora</a:t>
            </a:r>
            <a:r>
              <a:rPr dirty="0"/>
              <a:t> </a:t>
            </a:r>
            <a:r>
              <a:rPr dirty="0" err="1"/>
              <a:t>veremos</a:t>
            </a:r>
            <a:r>
              <a:rPr dirty="0"/>
              <a:t>; y «Fuera de </a:t>
            </a:r>
            <a:r>
              <a:rPr dirty="0" err="1"/>
              <a:t>alcance</a:t>
            </a:r>
            <a:r>
              <a:rPr dirty="0"/>
              <a:t>», la </a:t>
            </a:r>
            <a:r>
              <a:rPr dirty="0" err="1"/>
              <a:t>sección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frena</a:t>
            </a:r>
            <a:r>
              <a:rPr dirty="0"/>
              <a:t> al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quiere</a:t>
            </a:r>
            <a:r>
              <a:rPr dirty="0"/>
              <a:t> </a:t>
            </a:r>
            <a:r>
              <a:rPr dirty="0" err="1"/>
              <a:t>añadir</a:t>
            </a:r>
            <a:r>
              <a:rPr dirty="0"/>
              <a:t> </a:t>
            </a:r>
            <a:r>
              <a:rPr dirty="0" err="1"/>
              <a:t>cosas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cuenta</a:t>
            </a:r>
            <a:r>
              <a:rPr dirty="0"/>
              <a:t>. Lo </a:t>
            </a:r>
            <a:r>
              <a:rPr dirty="0" err="1"/>
              <a:t>que</a:t>
            </a:r>
            <a:r>
              <a:rPr dirty="0"/>
              <a:t> no se sabe se </a:t>
            </a:r>
            <a:r>
              <a:rPr dirty="0" err="1"/>
              <a:t>marca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«</a:t>
            </a:r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aclaración</a:t>
            </a:r>
            <a:r>
              <a:rPr dirty="0"/>
              <a:t>»; </a:t>
            </a:r>
            <a:r>
              <a:rPr dirty="0" err="1"/>
              <a:t>nunca</a:t>
            </a:r>
            <a:r>
              <a:rPr dirty="0"/>
              <a:t> se </a:t>
            </a:r>
            <a:r>
              <a:rPr dirty="0" err="1"/>
              <a:t>inventa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Si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quedáis</a:t>
            </a:r>
            <a:r>
              <a:rPr dirty="0"/>
              <a:t> con </a:t>
            </a:r>
            <a:r>
              <a:rPr dirty="0" err="1"/>
              <a:t>una</a:t>
            </a:r>
            <a:r>
              <a:rPr dirty="0"/>
              <a:t> sola </a:t>
            </a:r>
            <a:r>
              <a:rPr dirty="0" err="1"/>
              <a:t>habilidad</a:t>
            </a:r>
            <a:r>
              <a:rPr dirty="0"/>
              <a:t> de hoy, </a:t>
            </a:r>
            <a:r>
              <a:rPr dirty="0" err="1"/>
              <a:t>que</a:t>
            </a:r>
            <a:r>
              <a:rPr dirty="0"/>
              <a:t> sea </a:t>
            </a:r>
            <a:r>
              <a:rPr dirty="0" err="1"/>
              <a:t>esta</a:t>
            </a:r>
            <a:r>
              <a:rPr dirty="0"/>
              <a:t>: </a:t>
            </a:r>
            <a:r>
              <a:rPr dirty="0" err="1"/>
              <a:t>escribir</a:t>
            </a:r>
            <a:r>
              <a:rPr dirty="0"/>
              <a:t> 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puedan</a:t>
            </a:r>
            <a:r>
              <a:rPr dirty="0"/>
              <a:t> </a:t>
            </a:r>
            <a:r>
              <a:rPr dirty="0" err="1"/>
              <a:t>comprobar</a:t>
            </a:r>
            <a:r>
              <a:rPr dirty="0"/>
              <a:t>. Para </a:t>
            </a:r>
            <a:r>
              <a:rPr dirty="0" err="1"/>
              <a:t>eso</a:t>
            </a:r>
            <a:r>
              <a:rPr dirty="0"/>
              <a:t> hay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notación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 llama EARS: </a:t>
            </a:r>
            <a:r>
              <a:rPr dirty="0" err="1"/>
              <a:t>cinco</a:t>
            </a:r>
            <a:r>
              <a:rPr dirty="0"/>
              <a:t> </a:t>
            </a:r>
            <a:r>
              <a:rPr dirty="0" err="1"/>
              <a:t>plantillas</a:t>
            </a:r>
            <a:r>
              <a:rPr dirty="0"/>
              <a:t> de </a:t>
            </a:r>
            <a:r>
              <a:rPr dirty="0" err="1"/>
              <a:t>frase</a:t>
            </a:r>
            <a:r>
              <a:rPr dirty="0"/>
              <a:t>. </a:t>
            </a:r>
            <a:r>
              <a:rPr dirty="0" err="1"/>
              <a:t>Léelas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voz</a:t>
            </a:r>
            <a:r>
              <a:rPr dirty="0"/>
              <a:t> </a:t>
            </a:r>
            <a:r>
              <a:rPr dirty="0" err="1"/>
              <a:t>alta.</a:t>
            </a:r>
            <a:r>
              <a:rPr dirty="0"/>
              <a:t> Y cuatro </a:t>
            </a:r>
            <a:r>
              <a:rPr dirty="0" err="1"/>
              <a:t>reglas</a:t>
            </a:r>
            <a:r>
              <a:rPr dirty="0"/>
              <a:t>: un </a:t>
            </a:r>
            <a:r>
              <a:rPr dirty="0" err="1"/>
              <a:t>requisito</a:t>
            </a:r>
            <a:r>
              <a:rPr dirty="0"/>
              <a:t>,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frase</a:t>
            </a:r>
            <a:r>
              <a:rPr dirty="0"/>
              <a:t>; </a:t>
            </a:r>
            <a:r>
              <a:rPr dirty="0" err="1"/>
              <a:t>si</a:t>
            </a:r>
            <a:r>
              <a:rPr dirty="0"/>
              <a:t> no sabes 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comprobarlo</a:t>
            </a:r>
            <a:r>
              <a:rPr dirty="0"/>
              <a:t>, </a:t>
            </a:r>
            <a:r>
              <a:rPr dirty="0" err="1"/>
              <a:t>está</a:t>
            </a:r>
            <a:r>
              <a:rPr dirty="0"/>
              <a:t> mal </a:t>
            </a:r>
            <a:r>
              <a:rPr dirty="0" err="1"/>
              <a:t>escrito</a:t>
            </a:r>
            <a:r>
              <a:rPr dirty="0"/>
              <a:t>; nada de </a:t>
            </a:r>
            <a:r>
              <a:rPr dirty="0" err="1"/>
              <a:t>adjetivos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no se </a:t>
            </a:r>
            <a:r>
              <a:rPr dirty="0" err="1"/>
              <a:t>miden</a:t>
            </a:r>
            <a:r>
              <a:rPr dirty="0"/>
              <a:t>; y lo </a:t>
            </a:r>
            <a:r>
              <a:rPr dirty="0" err="1"/>
              <a:t>que</a:t>
            </a:r>
            <a:r>
              <a:rPr dirty="0"/>
              <a:t> no </a:t>
            </a:r>
            <a:r>
              <a:rPr dirty="0" err="1"/>
              <a:t>sepas</a:t>
            </a:r>
            <a:r>
              <a:rPr dirty="0"/>
              <a:t> se </a:t>
            </a:r>
            <a:r>
              <a:rPr dirty="0" err="1"/>
              <a:t>marca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«</a:t>
            </a:r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aclaración</a:t>
            </a:r>
            <a:r>
              <a:rPr dirty="0"/>
              <a:t>». </a:t>
            </a:r>
            <a:r>
              <a:rPr dirty="0" err="1"/>
              <a:t>Ahora</a:t>
            </a:r>
            <a:r>
              <a:rPr dirty="0"/>
              <a:t> lo </a:t>
            </a:r>
            <a:r>
              <a:rPr dirty="0" err="1"/>
              <a:t>probamos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Lee el </a:t>
            </a:r>
            <a:r>
              <a:rPr dirty="0" err="1"/>
              <a:t>requisito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voz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 y </a:t>
            </a:r>
            <a:r>
              <a:rPr dirty="0" err="1"/>
              <a:t>pregunta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le </a:t>
            </a:r>
            <a:r>
              <a:rPr dirty="0" err="1"/>
              <a:t>falla</a:t>
            </a:r>
            <a:r>
              <a:rPr dirty="0"/>
              <a:t>. Espera </a:t>
            </a:r>
            <a:r>
              <a:rPr dirty="0" err="1"/>
              <a:t>respuestas</a:t>
            </a:r>
            <a:r>
              <a:rPr dirty="0"/>
              <a:t> entre 30 y 45 </a:t>
            </a:r>
            <a:r>
              <a:rPr dirty="0" err="1"/>
              <a:t>segundos</a:t>
            </a:r>
            <a:r>
              <a:rPr dirty="0"/>
              <a:t>. Si </a:t>
            </a:r>
            <a:r>
              <a:rPr dirty="0" err="1"/>
              <a:t>nadie</a:t>
            </a:r>
            <a:r>
              <a:rPr dirty="0"/>
              <a:t> </a:t>
            </a:r>
            <a:r>
              <a:rPr dirty="0" err="1"/>
              <a:t>contesta</a:t>
            </a:r>
            <a:r>
              <a:rPr dirty="0"/>
              <a:t>, da </a:t>
            </a:r>
            <a:r>
              <a:rPr dirty="0" err="1"/>
              <a:t>tú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pista</a:t>
            </a:r>
            <a:r>
              <a:rPr dirty="0"/>
              <a:t>: «¿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comprobaríais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es </a:t>
            </a:r>
            <a:r>
              <a:rPr dirty="0" err="1"/>
              <a:t>rápido</a:t>
            </a:r>
            <a:r>
              <a:rPr dirty="0"/>
              <a:t>?». </a:t>
            </a:r>
            <a:r>
              <a:rPr dirty="0" err="1"/>
              <a:t>Después</a:t>
            </a:r>
            <a:r>
              <a:rPr dirty="0"/>
              <a:t> </a:t>
            </a:r>
            <a:r>
              <a:rPr dirty="0" err="1"/>
              <a:t>pasa</a:t>
            </a:r>
            <a:r>
              <a:rPr dirty="0"/>
              <a:t> a la </a:t>
            </a:r>
            <a:r>
              <a:rPr dirty="0" err="1"/>
              <a:t>siguiente</a:t>
            </a:r>
            <a:r>
              <a:rPr dirty="0"/>
              <a:t> </a:t>
            </a:r>
            <a:r>
              <a:rPr dirty="0" err="1"/>
              <a:t>diapositiva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Los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fallos</a:t>
            </a:r>
            <a:r>
              <a:rPr dirty="0"/>
              <a:t>: junta dos ideas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frase</a:t>
            </a:r>
            <a:r>
              <a:rPr dirty="0"/>
              <a:t>, «bien» y «</a:t>
            </a:r>
            <a:r>
              <a:rPr dirty="0" err="1"/>
              <a:t>rápido</a:t>
            </a:r>
            <a:r>
              <a:rPr dirty="0"/>
              <a:t>» no se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medir</a:t>
            </a:r>
            <a:r>
              <a:rPr dirty="0"/>
              <a:t>, y no dice </a:t>
            </a:r>
            <a:r>
              <a:rPr dirty="0" err="1"/>
              <a:t>cuándo</a:t>
            </a:r>
            <a:r>
              <a:rPr dirty="0"/>
              <a:t> se </a:t>
            </a:r>
            <a:r>
              <a:rPr dirty="0" err="1"/>
              <a:t>aplica</a:t>
            </a:r>
            <a:r>
              <a:rPr dirty="0"/>
              <a:t>. La </a:t>
            </a:r>
            <a:r>
              <a:rPr dirty="0" err="1"/>
              <a:t>versión</a:t>
            </a:r>
            <a:r>
              <a:rPr dirty="0"/>
              <a:t> </a:t>
            </a:r>
            <a:r>
              <a:rPr dirty="0" err="1"/>
              <a:t>buena</a:t>
            </a:r>
            <a:r>
              <a:rPr dirty="0"/>
              <a:t> lo </a:t>
            </a:r>
            <a:r>
              <a:rPr dirty="0" err="1"/>
              <a:t>parte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dos </a:t>
            </a:r>
            <a:r>
              <a:rPr dirty="0" err="1"/>
              <a:t>requisitos</a:t>
            </a:r>
            <a:r>
              <a:rPr dirty="0"/>
              <a:t> EARS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comprobar</a:t>
            </a:r>
            <a:r>
              <a:rPr dirty="0"/>
              <a:t>: </a:t>
            </a:r>
            <a:r>
              <a:rPr dirty="0" err="1"/>
              <a:t>ahora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frase</a:t>
            </a:r>
            <a:r>
              <a:rPr dirty="0"/>
              <a:t> es un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Paso 2, </a:t>
            </a:r>
            <a:r>
              <a:rPr dirty="0" err="1"/>
              <a:t>clarificación</a:t>
            </a:r>
            <a:r>
              <a:rPr dirty="0"/>
              <a:t>: le </a:t>
            </a:r>
            <a:r>
              <a:rPr dirty="0" err="1"/>
              <a:t>pedimos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revise la spec </a:t>
            </a:r>
            <a:r>
              <a:rPr dirty="0" err="1"/>
              <a:t>como</a:t>
            </a:r>
            <a:r>
              <a:rPr dirty="0"/>
              <a:t> un QA </a:t>
            </a:r>
            <a:r>
              <a:rPr dirty="0" err="1"/>
              <a:t>exigente</a:t>
            </a:r>
            <a:r>
              <a:rPr dirty="0"/>
              <a:t>: </a:t>
            </a:r>
            <a:r>
              <a:rPr dirty="0" err="1"/>
              <a:t>ambigüedades</a:t>
            </a:r>
            <a:r>
              <a:rPr dirty="0"/>
              <a:t>, </a:t>
            </a:r>
            <a:r>
              <a:rPr dirty="0" err="1"/>
              <a:t>contradicciones</a:t>
            </a:r>
            <a:r>
              <a:rPr dirty="0"/>
              <a:t> y </a:t>
            </a:r>
            <a:r>
              <a:rPr dirty="0" err="1"/>
              <a:t>huecos</a:t>
            </a:r>
            <a:r>
              <a:rPr dirty="0"/>
              <a:t>. </a:t>
            </a:r>
            <a:r>
              <a:rPr dirty="0" err="1"/>
              <a:t>Corregir</a:t>
            </a:r>
            <a:r>
              <a:rPr dirty="0"/>
              <a:t> un </a:t>
            </a:r>
            <a:r>
              <a:rPr dirty="0" err="1"/>
              <a:t>hueco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spec cuesta </a:t>
            </a:r>
            <a:r>
              <a:rPr dirty="0" err="1"/>
              <a:t>segundos</a:t>
            </a:r>
            <a:r>
              <a:rPr dirty="0"/>
              <a:t>;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producción</a:t>
            </a:r>
            <a:r>
              <a:rPr dirty="0"/>
              <a:t> es un bug. Paso 3, el plan: </a:t>
            </a:r>
            <a:r>
              <a:rPr dirty="0" err="1"/>
              <a:t>ahora</a:t>
            </a:r>
            <a:r>
              <a:rPr dirty="0"/>
              <a:t> </a:t>
            </a:r>
            <a:r>
              <a:rPr dirty="0" err="1"/>
              <a:t>sí</a:t>
            </a:r>
            <a:r>
              <a:rPr dirty="0"/>
              <a:t> </a:t>
            </a:r>
            <a:r>
              <a:rPr dirty="0" err="1"/>
              <a:t>hablamos</a:t>
            </a:r>
            <a:r>
              <a:rPr dirty="0"/>
              <a:t> de </a:t>
            </a:r>
            <a:r>
              <a:rPr dirty="0" err="1"/>
              <a:t>tecnología</a:t>
            </a:r>
            <a:r>
              <a:rPr dirty="0"/>
              <a:t>, y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decisión</a:t>
            </a:r>
            <a:r>
              <a:rPr dirty="0"/>
              <a:t> </a:t>
            </a:r>
            <a:r>
              <a:rPr dirty="0" err="1"/>
              <a:t>va</a:t>
            </a:r>
            <a:r>
              <a:rPr dirty="0"/>
              <a:t> con la </a:t>
            </a:r>
            <a:r>
              <a:rPr dirty="0" err="1"/>
              <a:t>alternativa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descartamos</a:t>
            </a:r>
            <a:r>
              <a:rPr dirty="0"/>
              <a:t>. Paso 4, </a:t>
            </a:r>
            <a:r>
              <a:rPr dirty="0" err="1"/>
              <a:t>tareas</a:t>
            </a:r>
            <a:r>
              <a:rPr dirty="0"/>
              <a:t>: el plan se </a:t>
            </a:r>
            <a:r>
              <a:rPr dirty="0" err="1"/>
              <a:t>parte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tareas</a:t>
            </a:r>
            <a:r>
              <a:rPr dirty="0"/>
              <a:t> de </a:t>
            </a:r>
            <a:r>
              <a:rPr dirty="0" err="1"/>
              <a:t>menos</a:t>
            </a:r>
            <a:r>
              <a:rPr dirty="0"/>
              <a:t> de media hora,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con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cubre</a:t>
            </a:r>
            <a:r>
              <a:rPr dirty="0"/>
              <a:t> y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línea</a:t>
            </a:r>
            <a:r>
              <a:rPr dirty="0"/>
              <a:t> de «</a:t>
            </a:r>
            <a:r>
              <a:rPr dirty="0" err="1"/>
              <a:t>hecho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Un </a:t>
            </a:r>
            <a:r>
              <a:rPr dirty="0" err="1"/>
              <a:t>vistazo</a:t>
            </a:r>
            <a:r>
              <a:rPr dirty="0"/>
              <a:t> a </a:t>
            </a:r>
            <a:r>
              <a:rPr dirty="0" err="1"/>
              <a:t>dónde</a:t>
            </a:r>
            <a:r>
              <a:rPr dirty="0"/>
              <a:t> </a:t>
            </a:r>
            <a:r>
              <a:rPr dirty="0" err="1"/>
              <a:t>vive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. </a:t>
            </a:r>
            <a:r>
              <a:rPr dirty="0" err="1"/>
              <a:t>AGENTS.md</a:t>
            </a:r>
            <a:r>
              <a:rPr dirty="0"/>
              <a:t> es el </a:t>
            </a:r>
            <a:r>
              <a:rPr dirty="0" err="1"/>
              <a:t>contexto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</a:t>
            </a:r>
            <a:r>
              <a:rPr dirty="0" err="1"/>
              <a:t>agente</a:t>
            </a:r>
            <a:r>
              <a:rPr dirty="0"/>
              <a:t> lee antes de </a:t>
            </a:r>
            <a:r>
              <a:rPr dirty="0" err="1"/>
              <a:t>hacer</a:t>
            </a:r>
            <a:r>
              <a:rPr dirty="0"/>
              <a:t> nada. </a:t>
            </a:r>
            <a:r>
              <a:rPr dirty="0" err="1"/>
              <a:t>CLAUDE.md</a:t>
            </a:r>
            <a:r>
              <a:rPr dirty="0"/>
              <a:t> solo </a:t>
            </a:r>
            <a:r>
              <a:rPr dirty="0" err="1"/>
              <a:t>apunta</a:t>
            </a:r>
            <a:r>
              <a:rPr dirty="0"/>
              <a:t> a </a:t>
            </a:r>
            <a:r>
              <a:rPr dirty="0" err="1"/>
              <a:t>AGENTS.md</a:t>
            </a:r>
            <a:r>
              <a:rPr dirty="0"/>
              <a:t>. La </a:t>
            </a:r>
            <a:r>
              <a:rPr dirty="0" err="1"/>
              <a:t>constitución</a:t>
            </a:r>
            <a:r>
              <a:rPr dirty="0"/>
              <a:t> se escribe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vez</a:t>
            </a:r>
            <a:r>
              <a:rPr dirty="0"/>
              <a:t>. Y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funcionalidad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carpeta</a:t>
            </a:r>
            <a:r>
              <a:rPr dirty="0"/>
              <a:t> </a:t>
            </a:r>
            <a:r>
              <a:rPr dirty="0" err="1"/>
              <a:t>numerada</a:t>
            </a:r>
            <a:r>
              <a:rPr dirty="0"/>
              <a:t> con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ficheros</a:t>
            </a:r>
            <a:r>
              <a:rPr dirty="0"/>
              <a:t>: spec, plan y </a:t>
            </a:r>
            <a:r>
              <a:rPr dirty="0" err="1"/>
              <a:t>tareas</a:t>
            </a:r>
            <a:r>
              <a:rPr dirty="0"/>
              <a:t>. Todo es Markdown </a:t>
            </a:r>
            <a:r>
              <a:rPr dirty="0" err="1"/>
              <a:t>dentro</a:t>
            </a:r>
            <a:r>
              <a:rPr dirty="0"/>
              <a:t> del repo, </a:t>
            </a:r>
            <a:r>
              <a:rPr dirty="0" err="1"/>
              <a:t>así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historial</a:t>
            </a:r>
            <a:r>
              <a:rPr dirty="0"/>
              <a:t> y se </a:t>
            </a:r>
            <a:r>
              <a:rPr dirty="0" err="1"/>
              <a:t>revisa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el </a:t>
            </a:r>
            <a:r>
              <a:rPr dirty="0" err="1"/>
              <a:t>código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Paso 5, </a:t>
            </a:r>
            <a:r>
              <a:rPr dirty="0" err="1"/>
              <a:t>implementación</a:t>
            </a:r>
            <a:r>
              <a:rPr dirty="0"/>
              <a:t>: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tarea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vez</a:t>
            </a:r>
            <a:r>
              <a:rPr dirty="0"/>
              <a:t>; primero </a:t>
            </a:r>
            <a:r>
              <a:rPr dirty="0" err="1"/>
              <a:t>los</a:t>
            </a:r>
            <a:r>
              <a:rPr dirty="0"/>
              <a:t> tests, </a:t>
            </a:r>
            <a:r>
              <a:rPr dirty="0" err="1"/>
              <a:t>después</a:t>
            </a:r>
            <a:r>
              <a:rPr dirty="0"/>
              <a:t> el </a:t>
            </a:r>
            <a:r>
              <a:rPr dirty="0" err="1"/>
              <a:t>código</a:t>
            </a:r>
            <a:r>
              <a:rPr dirty="0"/>
              <a:t>, y el </a:t>
            </a:r>
            <a:r>
              <a:rPr dirty="0" err="1"/>
              <a:t>agente</a:t>
            </a:r>
            <a:r>
              <a:rPr dirty="0"/>
              <a:t> se para para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revisemos</a:t>
            </a:r>
            <a:r>
              <a:rPr dirty="0"/>
              <a:t>. Paso 6, </a:t>
            </a:r>
            <a:r>
              <a:rPr dirty="0" err="1"/>
              <a:t>validación</a:t>
            </a:r>
            <a:r>
              <a:rPr dirty="0"/>
              <a:t>: el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recorre</a:t>
            </a:r>
            <a:r>
              <a:rPr dirty="0"/>
              <a:t> la spec </a:t>
            </a:r>
            <a:r>
              <a:rPr dirty="0" err="1"/>
              <a:t>requisito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requisito</a:t>
            </a:r>
            <a:r>
              <a:rPr dirty="0"/>
              <a:t> y </a:t>
            </a:r>
            <a:r>
              <a:rPr dirty="0" err="1"/>
              <a:t>nos</a:t>
            </a:r>
            <a:r>
              <a:rPr dirty="0"/>
              <a:t> dice </a:t>
            </a:r>
            <a:r>
              <a:rPr dirty="0" err="1"/>
              <a:t>qué</a:t>
            </a:r>
            <a:r>
              <a:rPr dirty="0"/>
              <a:t> test </a:t>
            </a:r>
            <a:r>
              <a:rPr dirty="0" err="1"/>
              <a:t>cubre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uno y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pasa</a:t>
            </a:r>
            <a:r>
              <a:rPr dirty="0"/>
              <a:t>. ¿Y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llega</a:t>
            </a:r>
            <a:r>
              <a:rPr dirty="0"/>
              <a:t> un </a:t>
            </a:r>
            <a:r>
              <a:rPr dirty="0" err="1"/>
              <a:t>cambio</a:t>
            </a:r>
            <a:r>
              <a:rPr dirty="0"/>
              <a:t>? No </a:t>
            </a:r>
            <a:r>
              <a:rPr dirty="0" err="1"/>
              <a:t>tocamos</a:t>
            </a:r>
            <a:r>
              <a:rPr dirty="0"/>
              <a:t> el </a:t>
            </a:r>
            <a:r>
              <a:rPr dirty="0" err="1"/>
              <a:t>código</a:t>
            </a:r>
            <a:r>
              <a:rPr dirty="0"/>
              <a:t>: primero la spec, y </a:t>
            </a:r>
            <a:r>
              <a:rPr dirty="0" err="1"/>
              <a:t>desde</a:t>
            </a:r>
            <a:r>
              <a:rPr dirty="0"/>
              <a:t> ahí plan, </a:t>
            </a:r>
            <a:r>
              <a:rPr dirty="0" err="1"/>
              <a:t>tarea</a:t>
            </a:r>
            <a:r>
              <a:rPr dirty="0"/>
              <a:t>, </a:t>
            </a:r>
            <a:r>
              <a:rPr dirty="0" err="1"/>
              <a:t>implementación</a:t>
            </a:r>
            <a:r>
              <a:rPr dirty="0"/>
              <a:t> y </a:t>
            </a:r>
            <a:r>
              <a:rPr dirty="0" err="1"/>
              <a:t>validación</a:t>
            </a:r>
            <a:r>
              <a:rPr dirty="0"/>
              <a:t>. </a:t>
            </a:r>
            <a:r>
              <a:rPr dirty="0" err="1"/>
              <a:t>Transición</a:t>
            </a:r>
            <a:r>
              <a:rPr dirty="0"/>
              <a:t>: «Hay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habilidad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lo </a:t>
            </a:r>
            <a:r>
              <a:rPr dirty="0" err="1"/>
              <a:t>sostiene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: </a:t>
            </a:r>
            <a:r>
              <a:rPr dirty="0" err="1"/>
              <a:t>escribir</a:t>
            </a:r>
            <a:r>
              <a:rPr dirty="0"/>
              <a:t> buenos </a:t>
            </a:r>
            <a:r>
              <a:rPr dirty="0" err="1"/>
              <a:t>requisitos</a:t>
            </a:r>
            <a:r>
              <a:rPr dirty="0"/>
              <a:t>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Cambia a la demo. </a:t>
            </a:r>
            <a:r>
              <a:rPr dirty="0" err="1"/>
              <a:t>Recorreréis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vivo el </a:t>
            </a:r>
            <a:r>
              <a:rPr dirty="0" err="1"/>
              <a:t>flujo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funcionalidad</a:t>
            </a:r>
            <a:r>
              <a:rPr dirty="0"/>
              <a:t> </a:t>
            </a:r>
            <a:r>
              <a:rPr dirty="0" err="1"/>
              <a:t>pequeña</a:t>
            </a:r>
            <a:r>
              <a:rPr dirty="0"/>
              <a:t>: </a:t>
            </a:r>
            <a:r>
              <a:rPr dirty="0" err="1"/>
              <a:t>constitución</a:t>
            </a:r>
            <a:r>
              <a:rPr dirty="0"/>
              <a:t>, spec con las </a:t>
            </a:r>
            <a:r>
              <a:rPr dirty="0" err="1"/>
              <a:t>preguntas</a:t>
            </a:r>
            <a:r>
              <a:rPr dirty="0"/>
              <a:t> del </a:t>
            </a:r>
            <a:r>
              <a:rPr dirty="0" err="1"/>
              <a:t>agente</a:t>
            </a:r>
            <a:r>
              <a:rPr dirty="0"/>
              <a:t>, plan, </a:t>
            </a:r>
            <a:r>
              <a:rPr dirty="0" err="1"/>
              <a:t>tareas</a:t>
            </a:r>
            <a:r>
              <a:rPr dirty="0"/>
              <a:t>,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tarea</a:t>
            </a:r>
            <a:r>
              <a:rPr dirty="0"/>
              <a:t> </a:t>
            </a:r>
            <a:r>
              <a:rPr dirty="0" err="1"/>
              <a:t>implementada</a:t>
            </a:r>
            <a:r>
              <a:rPr dirty="0"/>
              <a:t> con tests y la </a:t>
            </a:r>
            <a:r>
              <a:rPr dirty="0" err="1"/>
              <a:t>validación</a:t>
            </a:r>
            <a:r>
              <a:rPr dirty="0"/>
              <a:t>. Al </a:t>
            </a:r>
            <a:r>
              <a:rPr dirty="0" err="1"/>
              <a:t>terminar</a:t>
            </a:r>
            <a:r>
              <a:rPr dirty="0"/>
              <a:t>, </a:t>
            </a:r>
            <a:r>
              <a:rPr dirty="0" err="1"/>
              <a:t>vuelve</a:t>
            </a:r>
            <a:r>
              <a:rPr dirty="0"/>
              <a:t> a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presentación</a:t>
            </a:r>
            <a:r>
              <a:rPr dirty="0"/>
              <a:t> para el </a:t>
            </a:r>
            <a:r>
              <a:rPr dirty="0" err="1"/>
              <a:t>cierre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Si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tenéis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quedar</a:t>
            </a:r>
            <a:r>
              <a:rPr dirty="0"/>
              <a:t> con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cosas</a:t>
            </a:r>
            <a:r>
              <a:rPr dirty="0"/>
              <a:t>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sean</a:t>
            </a:r>
            <a:r>
              <a:rPr dirty="0"/>
              <a:t> </a:t>
            </a:r>
            <a:r>
              <a:rPr dirty="0" err="1"/>
              <a:t>estas</a:t>
            </a:r>
            <a:r>
              <a:rPr dirty="0"/>
              <a:t>. Una: la spec es el </a:t>
            </a:r>
            <a:r>
              <a:rPr dirty="0" err="1"/>
              <a:t>contrato</a:t>
            </a:r>
            <a:r>
              <a:rPr dirty="0"/>
              <a:t> con la IA; lo </a:t>
            </a:r>
            <a:r>
              <a:rPr dirty="0" err="1"/>
              <a:t>que</a:t>
            </a:r>
            <a:r>
              <a:rPr dirty="0"/>
              <a:t> no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spec, no se </a:t>
            </a:r>
            <a:r>
              <a:rPr dirty="0" err="1"/>
              <a:t>construye</a:t>
            </a:r>
            <a:r>
              <a:rPr dirty="0"/>
              <a:t>. Dos: modo plan y </a:t>
            </a:r>
            <a:r>
              <a:rPr dirty="0" err="1"/>
              <a:t>preguntas</a:t>
            </a:r>
            <a:r>
              <a:rPr dirty="0"/>
              <a:t> antes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. Tres: </a:t>
            </a:r>
            <a:r>
              <a:rPr dirty="0" err="1"/>
              <a:t>tareas</a:t>
            </a:r>
            <a:r>
              <a:rPr dirty="0"/>
              <a:t> </a:t>
            </a:r>
            <a:r>
              <a:rPr dirty="0" err="1"/>
              <a:t>pequeñas</a:t>
            </a:r>
            <a:r>
              <a:rPr dirty="0"/>
              <a:t>, tests primero y </a:t>
            </a:r>
            <a:r>
              <a:rPr dirty="0" err="1"/>
              <a:t>validar</a:t>
            </a:r>
            <a:r>
              <a:rPr dirty="0"/>
              <a:t> contra la spec. Y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última</a:t>
            </a:r>
            <a:r>
              <a:rPr dirty="0"/>
              <a:t>: el </a:t>
            </a:r>
            <a:r>
              <a:rPr dirty="0" err="1"/>
              <a:t>responsable</a:t>
            </a:r>
            <a:r>
              <a:rPr dirty="0"/>
              <a:t> </a:t>
            </a:r>
            <a:r>
              <a:rPr dirty="0" err="1"/>
              <a:t>sigue</a:t>
            </a:r>
            <a:r>
              <a:rPr dirty="0"/>
              <a:t> </a:t>
            </a:r>
            <a:r>
              <a:rPr dirty="0" err="1"/>
              <a:t>siendo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uno de </a:t>
            </a:r>
            <a:r>
              <a:rPr dirty="0" err="1"/>
              <a:t>nosotros</a:t>
            </a:r>
            <a:r>
              <a:rPr dirty="0"/>
              <a:t>. Si algo </a:t>
            </a:r>
            <a:r>
              <a:rPr dirty="0" err="1"/>
              <a:t>falla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producción</a:t>
            </a:r>
            <a:r>
              <a:rPr dirty="0"/>
              <a:t>, no </a:t>
            </a:r>
            <a:r>
              <a:rPr dirty="0" err="1"/>
              <a:t>despiden</a:t>
            </a:r>
            <a:r>
              <a:rPr dirty="0"/>
              <a:t> a la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Deja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diapositiva</a:t>
            </a:r>
            <a:r>
              <a:rPr dirty="0"/>
              <a:t> </a:t>
            </a:r>
            <a:r>
              <a:rPr dirty="0" err="1"/>
              <a:t>fija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las </a:t>
            </a:r>
            <a:r>
              <a:rPr dirty="0" err="1"/>
              <a:t>preguntas</a:t>
            </a:r>
            <a:r>
              <a:rPr dirty="0"/>
              <a:t>. ¿No es </a:t>
            </a:r>
            <a:r>
              <a:rPr dirty="0" err="1"/>
              <a:t>más</a:t>
            </a:r>
            <a:r>
              <a:rPr dirty="0"/>
              <a:t> lento? Al principio </a:t>
            </a:r>
            <a:r>
              <a:rPr dirty="0" err="1"/>
              <a:t>sí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el </a:t>
            </a:r>
            <a:r>
              <a:rPr dirty="0" err="1"/>
              <a:t>código</a:t>
            </a:r>
            <a:r>
              <a:rPr dirty="0"/>
              <a:t> lo escribe el </a:t>
            </a:r>
            <a:r>
              <a:rPr dirty="0" err="1"/>
              <a:t>agente</a:t>
            </a:r>
            <a:r>
              <a:rPr dirty="0"/>
              <a:t> y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ahorras</a:t>
            </a:r>
            <a:r>
              <a:rPr dirty="0"/>
              <a:t> el </a:t>
            </a:r>
            <a:r>
              <a:rPr dirty="0" err="1"/>
              <a:t>retrabajo</a:t>
            </a:r>
            <a:r>
              <a:rPr dirty="0"/>
              <a:t> de lo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inventó</a:t>
            </a:r>
            <a:r>
              <a:rPr dirty="0"/>
              <a:t>. 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uso</a:t>
            </a:r>
            <a:r>
              <a:rPr dirty="0"/>
              <a:t>? El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tengas</a:t>
            </a:r>
            <a:r>
              <a:rPr dirty="0"/>
              <a:t>. ¿</a:t>
            </a:r>
            <a:r>
              <a:rPr dirty="0" err="1"/>
              <a:t>Quién</a:t>
            </a:r>
            <a:r>
              <a:rPr dirty="0"/>
              <a:t> escribe la spec? La </a:t>
            </a:r>
            <a:r>
              <a:rPr dirty="0" err="1"/>
              <a:t>redacta</a:t>
            </a:r>
            <a:r>
              <a:rPr dirty="0"/>
              <a:t> la IA a </a:t>
            </a:r>
            <a:r>
              <a:rPr dirty="0" err="1"/>
              <a:t>partir</a:t>
            </a:r>
            <a:r>
              <a:rPr dirty="0"/>
              <a:t> de </a:t>
            </a:r>
            <a:r>
              <a:rPr dirty="0" err="1"/>
              <a:t>tus</a:t>
            </a:r>
            <a:r>
              <a:rPr dirty="0"/>
              <a:t> </a:t>
            </a:r>
            <a:r>
              <a:rPr dirty="0" err="1"/>
              <a:t>respuestas</a:t>
            </a:r>
            <a:r>
              <a:rPr dirty="0"/>
              <a:t>; </a:t>
            </a:r>
            <a:r>
              <a:rPr dirty="0" err="1"/>
              <a:t>tú</a:t>
            </a:r>
            <a:r>
              <a:rPr dirty="0"/>
              <a:t> decides y </a:t>
            </a:r>
            <a:r>
              <a:rPr dirty="0" err="1"/>
              <a:t>revisas</a:t>
            </a:r>
            <a:r>
              <a:rPr dirty="0"/>
              <a:t>. ¿Sirve para un </a:t>
            </a:r>
            <a:r>
              <a:rPr dirty="0" err="1"/>
              <a:t>proyecto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existe</a:t>
            </a:r>
            <a:r>
              <a:rPr dirty="0"/>
              <a:t>? </a:t>
            </a:r>
            <a:r>
              <a:rPr dirty="0" err="1"/>
              <a:t>Sí</a:t>
            </a:r>
            <a:r>
              <a:rPr dirty="0"/>
              <a:t>: </a:t>
            </a:r>
            <a:r>
              <a:rPr dirty="0" err="1"/>
              <a:t>empieza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un </a:t>
            </a:r>
            <a:r>
              <a:rPr dirty="0" err="1"/>
              <a:t>AGENTS.md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lo </a:t>
            </a:r>
            <a:r>
              <a:rPr dirty="0" err="1"/>
              <a:t>describa</a:t>
            </a:r>
            <a:r>
              <a:rPr dirty="0"/>
              <a:t> y </a:t>
            </a:r>
            <a:r>
              <a:rPr dirty="0" err="1"/>
              <a:t>una</a:t>
            </a:r>
            <a:r>
              <a:rPr dirty="0"/>
              <a:t> spec para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cambio</a:t>
            </a:r>
            <a:r>
              <a:rPr dirty="0"/>
              <a:t> nuevo. ¿Y para un </a:t>
            </a:r>
            <a:r>
              <a:rPr dirty="0" err="1"/>
              <a:t>prototipo</a:t>
            </a:r>
            <a:r>
              <a:rPr dirty="0"/>
              <a:t> </a:t>
            </a:r>
            <a:r>
              <a:rPr dirty="0" err="1"/>
              <a:t>rápido</a:t>
            </a:r>
            <a:r>
              <a:rPr dirty="0"/>
              <a:t>? Ahí no </a:t>
            </a:r>
            <a:r>
              <a:rPr dirty="0" err="1"/>
              <a:t>compensa</a:t>
            </a:r>
            <a:r>
              <a:rPr dirty="0"/>
              <a:t>: el vibe coding </a:t>
            </a:r>
            <a:r>
              <a:rPr dirty="0" err="1"/>
              <a:t>está</a:t>
            </a:r>
            <a:r>
              <a:rPr dirty="0"/>
              <a:t> bien para lo </a:t>
            </a:r>
            <a:r>
              <a:rPr dirty="0" err="1"/>
              <a:t>que</a:t>
            </a:r>
            <a:r>
              <a:rPr dirty="0"/>
              <a:t> vas a </a:t>
            </a:r>
            <a:r>
              <a:rPr dirty="0" err="1"/>
              <a:t>tirar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latform Cover"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mage Overlay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61571"/>
            <a:ext cx="12192000" cy="3496429"/>
          </a:xfrm>
          <a:prstGeom prst="rect">
            <a:avLst/>
          </a:prstGeom>
          <a:gradFill>
            <a:gsLst>
              <a:gs pos="91000">
                <a:srgbClr val="070F26">
                  <a:alpha val="79000"/>
                </a:srgbClr>
              </a:gs>
              <a:gs pos="27000">
                <a:srgbClr val="070F26">
                  <a:alpha val="0"/>
                </a:srgbClr>
              </a:gs>
            </a:gsLst>
            <a:lin ang="5400000" scaled="0"/>
          </a:gra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5848"/>
            <a:ext cx="12192000" cy="350215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548640" rIns="0" bIns="0" anchor="t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Insert Picture (Fill) button below.</a:t>
            </a:r>
            <a:br>
              <a:rPr lang="en-US" dirty="0"/>
            </a:br>
            <a:r>
              <a:rPr lang="en-US" dirty="0"/>
              <a:t>Then Arrange &gt; Send to Back</a:t>
            </a:r>
          </a:p>
        </p:txBody>
      </p:sp>
      <p:sp>
        <p:nvSpPr>
          <p:cNvPr id="2" name="Brand Statement Overlay">
            <a:extLst>
              <a:ext uri="{FF2B5EF4-FFF2-40B4-BE49-F238E27FC236}">
                <a16:creationId xmlns:a16="http://schemas.microsoft.com/office/drawing/2014/main" id="{6CF4C396-FB7A-4611-B9A9-DD62A7F1A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096000"/>
            <a:ext cx="11814048" cy="237744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ot Matrix">
            <a:extLst>
              <a:ext uri="{FF2B5EF4-FFF2-40B4-BE49-F238E27FC236}">
                <a16:creationId xmlns:a16="http://schemas.microsoft.com/office/drawing/2014/main" id="{C4DD4A67-A1E3-FE08-C386-7E880F65C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27848" y="1439720"/>
            <a:ext cx="4078224" cy="3840480"/>
          </a:xfrm>
          <a:prstGeom prst="rect">
            <a:avLst/>
          </a:prstGeom>
          <a:blipFill dpi="0" rotWithShape="1"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E3BAD1A6-AE36-4EC7-E8E9-E68CE84F067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90832" y="3125786"/>
            <a:ext cx="2926080" cy="182880"/>
          </a:xfrm>
        </p:spPr>
        <p:txBody>
          <a:bodyPr lIns="0" tIns="0" rIns="0" bIns="0" anchor="b"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7187872" cy="609600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Click to enter the subtitle text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6B8D68FD-3EFC-86B8-83A6-942558B1B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066800"/>
            <a:ext cx="7187872" cy="1371600"/>
          </a:xfr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639E6271-C556-3CDE-4CA2-0E42C3B98DE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381000" y="6409944"/>
            <a:ext cx="2926080" cy="182880"/>
          </a:xfrm>
        </p:spPr>
        <p:txBody>
          <a:bodyPr lIns="0" tIns="0" rIns="0" bIns="0" anchor="b"/>
          <a:lstStyle>
            <a:lvl1pPr algn="l">
              <a:defRPr sz="8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© 2026 NTT DATA</a:t>
            </a:r>
            <a:endParaRPr lang="en-US" sz="800" dirty="0"/>
          </a:p>
        </p:txBody>
      </p:sp>
      <p:sp>
        <p:nvSpPr>
          <p:cNvPr id="4" name="InformationType">
            <a:extLst>
              <a:ext uri="{FF2B5EF4-FFF2-40B4-BE49-F238E27FC236}">
                <a16:creationId xmlns:a16="http://schemas.microsoft.com/office/drawing/2014/main" id="{C3DAC39C-CF8E-2F9C-ACD8-8D0BDB2310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42792" y="3125786"/>
            <a:ext cx="2926080" cy="182880"/>
          </a:xfrm>
          <a:prstGeom prst="rect">
            <a:avLst/>
          </a:prstGeom>
        </p:spPr>
        <p:txBody>
          <a:bodyPr lIns="0" tIns="0" rIns="0" bIns="0" anchor="b"/>
          <a:lstStyle>
            <a:lvl1pPr algn="ctr">
              <a:defRPr lang="en-US" sz="9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[Information Type]</a:t>
            </a:r>
          </a:p>
        </p:txBody>
      </p:sp>
      <p:sp>
        <p:nvSpPr>
          <p:cNvPr id="14" name="Blue Line">
            <a:extLst>
              <a:ext uri="{FF2B5EF4-FFF2-40B4-BE49-F238E27FC236}">
                <a16:creationId xmlns:a16="http://schemas.microsoft.com/office/drawing/2014/main" id="{140BC6DF-2B7B-4207-BD97-B2E09413E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4" y="3343415"/>
            <a:ext cx="12188952" cy="2743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effectLst/>
        </p:spPr>
        <p:txBody>
          <a:bodyPr anchor="b"/>
          <a:lstStyle>
            <a:lvl1pPr>
              <a:defRPr sz="100">
                <a:noFill/>
              </a:defRPr>
            </a:lvl1pPr>
            <a:lvl2pPr>
              <a:defRPr sz="1000">
                <a:noFill/>
              </a:defRPr>
            </a:lvl2pPr>
            <a:lvl3pPr>
              <a:defRPr sz="1000">
                <a:noFill/>
              </a:defRPr>
            </a:lvl3pPr>
            <a:lvl4pPr>
              <a:defRPr sz="1000">
                <a:noFill/>
              </a:defRPr>
            </a:lvl4pPr>
            <a:lvl5pPr>
              <a:defRPr sz="1000">
                <a:noFill/>
              </a:defRPr>
            </a:lvl5pPr>
          </a:lstStyle>
          <a:p>
            <a:pPr lvl="0"/>
            <a:r>
              <a:rPr lang="en-US" dirty="0"/>
              <a:t>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3479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latform No Image Cover"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Statement Overlay">
            <a:extLst>
              <a:ext uri="{FF2B5EF4-FFF2-40B4-BE49-F238E27FC236}">
                <a16:creationId xmlns:a16="http://schemas.microsoft.com/office/drawing/2014/main" id="{6CF4C396-FB7A-4611-B9A9-DD62A7F1A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096000"/>
            <a:ext cx="11814048" cy="237744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ot Matrix">
            <a:extLst>
              <a:ext uri="{FF2B5EF4-FFF2-40B4-BE49-F238E27FC236}">
                <a16:creationId xmlns:a16="http://schemas.microsoft.com/office/drawing/2014/main" id="{C4DD4A67-A1E3-FE08-C386-7E880F65C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27848" y="1439720"/>
            <a:ext cx="4078224" cy="3840480"/>
          </a:xfrm>
          <a:prstGeom prst="rect">
            <a:avLst/>
          </a:prstGeom>
          <a:blipFill dpi="0" rotWithShape="1"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E3BAD1A6-AE36-4EC7-E8E9-E68CE84F067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90832" y="4299472"/>
            <a:ext cx="2926080" cy="182880"/>
          </a:xfrm>
        </p:spPr>
        <p:txBody>
          <a:bodyPr lIns="0" tIns="0" rIns="0" bIns="0" anchor="b"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3612086"/>
            <a:ext cx="7187872" cy="609600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dirty="0"/>
              <a:t>Click to enter the subtitle text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6B8D68FD-3EFC-86B8-83A6-942558B1B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240486"/>
            <a:ext cx="7187872" cy="1371600"/>
          </a:xfr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639E6271-C556-3CDE-4CA2-0E42C3B98DE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381000" y="6409944"/>
            <a:ext cx="2926080" cy="182880"/>
          </a:xfrm>
        </p:spPr>
        <p:txBody>
          <a:bodyPr lIns="0" tIns="0" rIns="0" bIns="0" anchor="b"/>
          <a:lstStyle>
            <a:lvl1pPr algn="l">
              <a:defRPr sz="8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© 2026 NTT DATA</a:t>
            </a:r>
            <a:endParaRPr lang="en-US" sz="800" dirty="0"/>
          </a:p>
        </p:txBody>
      </p:sp>
      <p:sp>
        <p:nvSpPr>
          <p:cNvPr id="4" name="InformationType">
            <a:extLst>
              <a:ext uri="{FF2B5EF4-FFF2-40B4-BE49-F238E27FC236}">
                <a16:creationId xmlns:a16="http://schemas.microsoft.com/office/drawing/2014/main" id="{C3DAC39C-CF8E-2F9C-ACD8-8D0BDB2310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8800" y="338453"/>
            <a:ext cx="2365248" cy="3473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defRPr lang="en-US" sz="700" b="0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Information Type: [Insert type]</a:t>
            </a:r>
            <a:br>
              <a:rPr lang="en-US" noProof="0" dirty="0"/>
            </a:br>
            <a:r>
              <a:rPr lang="en-US" noProof="0" dirty="0"/>
              <a:t>Company name: [Insert owner]</a:t>
            </a:r>
            <a:br>
              <a:rPr lang="en-US" noProof="0" dirty="0"/>
            </a:br>
            <a:r>
              <a:rPr lang="en-US" noProof="0" dirty="0"/>
              <a:t>Owner: [Insert owner]</a:t>
            </a:r>
          </a:p>
        </p:txBody>
      </p:sp>
    </p:spTree>
    <p:extLst>
      <p:ext uri="{BB962C8B-B14F-4D97-AF65-F5344CB8AC3E}">
        <p14:creationId xmlns:p14="http://schemas.microsoft.com/office/powerpoint/2010/main" val="3005069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224E-6D9A-F20A-E95C-3BD86FD1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B9585-B814-96B8-821F-CFBD1EE5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3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143000"/>
            <a:ext cx="11430000" cy="5029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1436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5562600" cy="50292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143000"/>
            <a:ext cx="5562600" cy="50292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81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3657600" cy="50292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143000"/>
            <a:ext cx="3657600" cy="50292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BCA8BAD-045F-5449-26C8-1CC7E5D921A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53400" y="1143000"/>
            <a:ext cx="3657600" cy="50292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3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rgbClr val="0072B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rgbClr val="0072B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11430000" cy="4495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3268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rgbClr val="0072B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5562600" cy="4495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676400"/>
            <a:ext cx="5562600" cy="4495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304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3657600" cy="44958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676400"/>
            <a:ext cx="3657600" cy="44958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DFD2628-F803-8221-12EB-7198D350225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676400"/>
            <a:ext cx="3657600" cy="44958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rgbClr val="0072B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22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idebar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F741D54-F18D-E80B-E1F9-560492621C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378ED44B-0811-B32D-0C14-3157DD85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886200"/>
          </a:xfrm>
        </p:spPr>
        <p:txBody>
          <a:bodyPr/>
          <a:lstStyle>
            <a:lvl1pPr>
              <a:defRPr>
                <a:solidFill>
                  <a:srgbClr val="070F26"/>
                </a:solidFill>
                <a:latin typeface="+mj-lt"/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CB869EF-7066-7A3E-AA6F-C7CD49114F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973400" y="6400800"/>
            <a:ext cx="360000" cy="304801"/>
          </a:xfrm>
          <a:ln w="3175">
            <a:noFill/>
          </a:ln>
        </p:spPr>
        <p:txBody>
          <a:bodyPr/>
          <a:lstStyle>
            <a:lvl1pPr>
              <a:defRPr>
                <a:solidFill>
                  <a:srgbClr val="070F26"/>
                </a:solidFill>
              </a:defRPr>
            </a:lvl1pPr>
          </a:lstStyle>
          <a:p>
            <a:fld id="{58D24BC2-2B9E-4076-8133-31C4983A0EB9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2FA19E7-E40A-0756-7707-A3998AC3C7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#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5E8737-D04F-0044-8705-1A768D6DE82F}"/>
              </a:ext>
            </a:extLst>
          </p:cNvPr>
          <p:cNvSpPr txBox="1"/>
          <p:nvPr userDrawn="1"/>
        </p:nvSpPr>
        <p:spPr>
          <a:xfrm>
            <a:off x="4495800" y="6402324"/>
            <a:ext cx="334772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800" dirty="0">
                <a:solidFill>
                  <a:srgbClr val="070F26"/>
                </a:solidFill>
              </a:rPr>
              <a:t>© 2026 NTT DATA</a:t>
            </a:r>
          </a:p>
        </p:txBody>
      </p:sp>
      <p:sp>
        <p:nvSpPr>
          <p:cNvPr id="6" name="LineDivider">
            <a:extLst>
              <a:ext uri="{FF2B5EF4-FFF2-40B4-BE49-F238E27FC236}">
                <a16:creationId xmlns:a16="http://schemas.microsoft.com/office/drawing/2014/main" id="{ED733F3E-B350-C9C6-3E9B-A91E9080B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 rot="5400000">
            <a:off x="594360" y="3415284"/>
            <a:ext cx="6858000" cy="2743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effectLst/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114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idebar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mage Overlay">
            <a:extLst>
              <a:ext uri="{FF2B5EF4-FFF2-40B4-BE49-F238E27FC236}">
                <a16:creationId xmlns:a16="http://schemas.microsoft.com/office/drawing/2014/main" id="{5FC85E01-C3E9-D0FC-BC23-0226EBD7CD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53398" y="3352800"/>
            <a:ext cx="4038601" cy="3505200"/>
          </a:xfrm>
          <a:prstGeom prst="rect">
            <a:avLst/>
          </a:prstGeom>
          <a:gradFill>
            <a:gsLst>
              <a:gs pos="91000">
                <a:srgbClr val="070F26">
                  <a:alpha val="79000"/>
                </a:srgbClr>
              </a:gs>
              <a:gs pos="27000">
                <a:srgbClr val="070F26">
                  <a:alpha val="0"/>
                </a:srgbClr>
              </a:gs>
            </a:gsLst>
            <a:lin ang="5400000" scaled="0"/>
          </a:gra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F741D54-F18D-E80B-E1F9-560492621C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53400" y="0"/>
            <a:ext cx="4038600" cy="68580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tIns="2560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Insert Picture (Fill)</a:t>
            </a:r>
            <a:br>
              <a:rPr lang="en-US" dirty="0"/>
            </a:br>
            <a:r>
              <a:rPr lang="en-US" dirty="0"/>
              <a:t>Then Arrange &gt; Send to Back</a:t>
            </a:r>
          </a:p>
        </p:txBody>
      </p:sp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643BDF5E-82C4-62F6-F755-52AB8D2DE5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0588752" y="6428232"/>
            <a:ext cx="1216152" cy="24688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378ED44B-0811-B32D-0C14-3157DD85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096" y="2286000"/>
            <a:ext cx="7315200" cy="3886200"/>
          </a:xfrm>
        </p:spPr>
        <p:txBody>
          <a:bodyPr/>
          <a:lstStyle>
            <a:lvl1pPr>
              <a:defRPr>
                <a:solidFill>
                  <a:srgbClr val="070F26"/>
                </a:solidFill>
                <a:latin typeface="+mj-lt"/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CB869EF-7066-7A3E-AA6F-C7CD49114F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565648" y="6400800"/>
            <a:ext cx="1060704" cy="304801"/>
          </a:xfrm>
          <a:ln w="3175">
            <a:noFill/>
          </a:ln>
        </p:spPr>
        <p:txBody>
          <a:bodyPr/>
          <a:lstStyle>
            <a:lvl1pPr>
              <a:defRPr>
                <a:solidFill>
                  <a:srgbClr val="070F26"/>
                </a:solidFill>
              </a:defRPr>
            </a:lvl1pPr>
          </a:lstStyle>
          <a:p>
            <a:fld id="{58D24BC2-2B9E-4076-8133-31C4983A0EB9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2FA19E7-E40A-0756-7707-A3998AC3C7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7096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#</a:t>
            </a:r>
          </a:p>
        </p:txBody>
      </p:sp>
      <p:sp>
        <p:nvSpPr>
          <p:cNvPr id="6" name="LineDivider">
            <a:extLst>
              <a:ext uri="{FF2B5EF4-FFF2-40B4-BE49-F238E27FC236}">
                <a16:creationId xmlns:a16="http://schemas.microsoft.com/office/drawing/2014/main" id="{E56CF47D-EC9A-6C02-C087-10A3629B4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 rot="5400000">
            <a:off x="4710684" y="3415284"/>
            <a:ext cx="6858000" cy="2743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effectLst/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Legal Line">
            <a:extLst>
              <a:ext uri="{FF2B5EF4-FFF2-40B4-BE49-F238E27FC236}">
                <a16:creationId xmlns:a16="http://schemas.microsoft.com/office/drawing/2014/main" id="{D11A8A33-6060-B716-032A-D73B64C703C6}"/>
              </a:ext>
            </a:extLst>
          </p:cNvPr>
          <p:cNvSpPr txBox="1"/>
          <p:nvPr userDrawn="1"/>
        </p:nvSpPr>
        <p:spPr>
          <a:xfrm>
            <a:off x="381000" y="6400800"/>
            <a:ext cx="403860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800" dirty="0">
                <a:solidFill>
                  <a:srgbClr val="070F26"/>
                </a:solidFill>
              </a:rPr>
              <a:t>© 2026 NTT DATA</a:t>
            </a:r>
          </a:p>
        </p:txBody>
      </p:sp>
    </p:spTree>
    <p:extLst>
      <p:ext uri="{BB962C8B-B14F-4D97-AF65-F5344CB8AC3E}">
        <p14:creationId xmlns:p14="http://schemas.microsoft.com/office/powerpoint/2010/main" val="16588117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idebar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F741D54-F18D-E80B-E1F9-560492621C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tIns="274320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378ED44B-0811-B32D-0C14-3157DD85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0" y="2286000"/>
            <a:ext cx="7315200" cy="3886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CB869EF-7066-7A3E-AA6F-C7CD49114F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973400" y="6400800"/>
            <a:ext cx="360000" cy="304801"/>
          </a:xfrm>
          <a:ln w="3175"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8D24BC2-2B9E-4076-8133-31C4983A0EB9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2FA19E7-E40A-0756-7707-A3998AC3C7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5800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0" dirty="0" smtClean="0">
                <a:solidFill>
                  <a:srgbClr val="FFFFFF"/>
                </a:solidFill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#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5E8737-D04F-0044-8705-1A768D6DE82F}"/>
              </a:ext>
            </a:extLst>
          </p:cNvPr>
          <p:cNvSpPr txBox="1"/>
          <p:nvPr userDrawn="1"/>
        </p:nvSpPr>
        <p:spPr>
          <a:xfrm>
            <a:off x="4495800" y="6402324"/>
            <a:ext cx="334772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800" dirty="0">
                <a:solidFill>
                  <a:schemeClr val="tx1"/>
                </a:solidFill>
              </a:rPr>
              <a:t>© 2026 NTT DATA</a:t>
            </a:r>
          </a:p>
        </p:txBody>
      </p:sp>
      <p:sp>
        <p:nvSpPr>
          <p:cNvPr id="6" name="LineDivider">
            <a:extLst>
              <a:ext uri="{FF2B5EF4-FFF2-40B4-BE49-F238E27FC236}">
                <a16:creationId xmlns:a16="http://schemas.microsoft.com/office/drawing/2014/main" id="{ED733F3E-B350-C9C6-3E9B-A91E9080B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 rot="5400000">
            <a:off x="594360" y="3415284"/>
            <a:ext cx="6858000" cy="2743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effectLst/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422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idebar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rkener">
            <a:extLst>
              <a:ext uri="{FF2B5EF4-FFF2-40B4-BE49-F238E27FC236}">
                <a16:creationId xmlns:a16="http://schemas.microsoft.com/office/drawing/2014/main" id="{5FC85E01-C3E9-D0FC-BC23-0226EBD7CD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53398" y="3352800"/>
            <a:ext cx="4038601" cy="3505200"/>
          </a:xfrm>
          <a:prstGeom prst="rect">
            <a:avLst/>
          </a:prstGeom>
          <a:gradFill>
            <a:gsLst>
              <a:gs pos="91000">
                <a:srgbClr val="070F26">
                  <a:alpha val="79000"/>
                </a:srgbClr>
              </a:gs>
              <a:gs pos="27000">
                <a:srgbClr val="070F26">
                  <a:alpha val="0"/>
                </a:srgbClr>
              </a:gs>
            </a:gsLst>
            <a:lin ang="5400000" scaled="0"/>
          </a:gra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F741D54-F18D-E80B-E1F9-560492621C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53400" y="0"/>
            <a:ext cx="4038600" cy="68580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tIns="2560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Insert Picture (Fill)</a:t>
            </a:r>
            <a:br>
              <a:rPr lang="en-US" dirty="0"/>
            </a:br>
            <a:r>
              <a:rPr lang="en-US" dirty="0"/>
              <a:t>Then Arrange &gt; Send to Back</a:t>
            </a:r>
          </a:p>
        </p:txBody>
      </p:sp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643BDF5E-82C4-62F6-F755-52AB8D2DE5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0588752" y="6428232"/>
            <a:ext cx="1216152" cy="24688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378ED44B-0811-B32D-0C14-3157DD85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096" y="2286000"/>
            <a:ext cx="7315200" cy="3886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CB869EF-7066-7A3E-AA6F-C7CD49114F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565648" y="6400800"/>
            <a:ext cx="1060704" cy="304801"/>
          </a:xfrm>
          <a:ln w="3175"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8D24BC2-2B9E-4076-8133-31C4983A0EB9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2FA19E7-E40A-0756-7707-A3998AC3C7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7096" y="685800"/>
            <a:ext cx="7315200" cy="14478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sz="9600" b="0" dirty="0" smtClean="0">
                <a:solidFill>
                  <a:srgbClr val="FFFFFF"/>
                </a:solidFill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 dirty="0"/>
              <a:t>#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A95E8737-D04F-0044-8705-1A768D6DE82F}"/>
              </a:ext>
            </a:extLst>
          </p:cNvPr>
          <p:cNvSpPr txBox="1"/>
          <p:nvPr userDrawn="1"/>
        </p:nvSpPr>
        <p:spPr>
          <a:xfrm>
            <a:off x="387096" y="6402324"/>
            <a:ext cx="334772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800" dirty="0">
                <a:solidFill>
                  <a:schemeClr val="tx1"/>
                </a:solidFill>
              </a:rPr>
              <a:t>© 2026 NTT DATA</a:t>
            </a:r>
          </a:p>
        </p:txBody>
      </p:sp>
      <p:sp>
        <p:nvSpPr>
          <p:cNvPr id="6" name="LineDivider">
            <a:extLst>
              <a:ext uri="{FF2B5EF4-FFF2-40B4-BE49-F238E27FC236}">
                <a16:creationId xmlns:a16="http://schemas.microsoft.com/office/drawing/2014/main" id="{E56CF47D-EC9A-6C02-C087-10A3629B4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 rot="5400000">
            <a:off x="4701540" y="3406140"/>
            <a:ext cx="6858000" cy="4572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effectLst/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3320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DA1D7C05-6427-2687-6EB6-39368CA8EE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62600" y="6400800"/>
            <a:ext cx="1066800" cy="304800"/>
          </a:xfrm>
        </p:spPr>
        <p:txBody>
          <a:bodyPr lIns="0" tIns="0" rIns="0" bIns="0"/>
          <a:lstStyle/>
          <a:p>
            <a:pPr algn="ctr"/>
            <a:fld id="{83ADEA99-682E-4231-A4C9-95AE759D37D5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369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ou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4892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DA1D7C05-6427-2687-6EB6-39368CA8EE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62600" y="6400800"/>
            <a:ext cx="1066800" cy="304800"/>
          </a:xfrm>
        </p:spPr>
        <p:txBody>
          <a:bodyPr lIns="0" tIns="0" rIns="0" bIns="0"/>
          <a:lstStyle/>
          <a:p>
            <a:pPr algn="ctr"/>
            <a:fld id="{83ADEA99-682E-4231-A4C9-95AE759D37D5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1998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ou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7666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224E-6D9A-F20A-E95C-3BD86FD1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B9585-B814-96B8-821F-CFBD1EE5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219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143000"/>
            <a:ext cx="114300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45057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5562600" cy="50292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143000"/>
            <a:ext cx="5562600" cy="50292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6137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3657600" cy="50292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143000"/>
            <a:ext cx="3657600" cy="50292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BCA8BAD-045F-5449-26C8-1CC7E5D921A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53400" y="1143000"/>
            <a:ext cx="3657600" cy="50292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233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rgbClr val="19A3F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01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rgbClr val="19A3F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11430000" cy="4495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117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rgbClr val="19A3F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5562600" cy="44958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676400"/>
            <a:ext cx="5562600" cy="4495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83265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3657600" cy="44958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676400"/>
            <a:ext cx="3657600" cy="44958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DFD2628-F803-8221-12EB-7198D350225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676400"/>
            <a:ext cx="3657600" cy="44958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rgbClr val="19A3FC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508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ture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2A4A4756-BF09-2DAA-9B2B-7274ADF973F2}"/>
              </a:ext>
            </a:extLst>
          </p:cNvPr>
          <p:cNvSpPr/>
          <p:nvPr userDrawn="1"/>
        </p:nvSpPr>
        <p:spPr bwMode="black">
          <a:xfrm>
            <a:off x="3403470" y="2880360"/>
            <a:ext cx="5385061" cy="1097280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FFFFFF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1029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Navy"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1615296B-7D86-833D-E6BA-B94DB6EC001E}"/>
              </a:ext>
            </a:extLst>
          </p:cNvPr>
          <p:cNvSpPr/>
          <p:nvPr userDrawn="1"/>
        </p:nvSpPr>
        <p:spPr bwMode="black">
          <a:xfrm>
            <a:off x="3403470" y="2880360"/>
            <a:ext cx="5385061" cy="1097280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FFFFFF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9005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TT DATA Global Logo" descr="NTT DATA Global Logo">
            <a:extLst>
              <a:ext uri="{FF2B5EF4-FFF2-40B4-BE49-F238E27FC236}">
                <a16:creationId xmlns:a16="http://schemas.microsoft.com/office/drawing/2014/main" id="{9B1656D1-90B8-BAEC-BAE1-40408FA32F2C}"/>
              </a:ext>
            </a:extLst>
          </p:cNvPr>
          <p:cNvSpPr/>
          <p:nvPr userDrawn="1"/>
        </p:nvSpPr>
        <p:spPr bwMode="black">
          <a:xfrm>
            <a:off x="3403470" y="2880360"/>
            <a:ext cx="5385061" cy="1097280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accent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866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0D73EB22-28B8-EDF3-DAF5-3AC807C66A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NTT DATA Global Logo" descr="NTT DATA Global Logo">
            <a:extLst>
              <a:ext uri="{FF2B5EF4-FFF2-40B4-BE49-F238E27FC236}">
                <a16:creationId xmlns:a16="http://schemas.microsoft.com/office/drawing/2014/main" id="{534A451C-A194-D71D-4CF6-5B22A3878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3333909" y="2865120"/>
            <a:ext cx="5524182" cy="112776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2F858FA1-7D21-8F05-79E4-62B789D77D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2400"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Insert Picture (Fill) button above. </a:t>
            </a:r>
            <a:br>
              <a:rPr lang="en-US" dirty="0"/>
            </a:br>
            <a:r>
              <a:rPr lang="en-US" dirty="0"/>
              <a:t>Then Arrange &gt; Send to Back</a:t>
            </a:r>
          </a:p>
        </p:txBody>
      </p:sp>
    </p:spTree>
    <p:extLst>
      <p:ext uri="{BB962C8B-B14F-4D97-AF65-F5344CB8AC3E}">
        <p14:creationId xmlns:p14="http://schemas.microsoft.com/office/powerpoint/2010/main" val="3941592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9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ACE2E93-F0C6-496C-92F8-919FE55763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24601"/>
            <a:ext cx="1295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[Month Year]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6F6F2F78-2ADE-918C-2B29-50DDCEC82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24600"/>
            <a:ext cx="411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© 2026 NTT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00200"/>
            <a:ext cx="495300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6" name="NTT DATA Global Logo" descr="NTT DATA Global Logo">
            <a:extLst>
              <a:ext uri="{FF2B5EF4-FFF2-40B4-BE49-F238E27FC236}">
                <a16:creationId xmlns:a16="http://schemas.microsoft.com/office/drawing/2014/main" id="{9BB150AA-7E16-0669-0BE0-D2DE680F91CD}"/>
              </a:ext>
            </a:extLst>
          </p:cNvPr>
          <p:cNvSpPr/>
          <p:nvPr userDrawn="1"/>
        </p:nvSpPr>
        <p:spPr bwMode="black">
          <a:xfrm>
            <a:off x="381000" y="320040"/>
            <a:ext cx="1956816" cy="39872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96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79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400" b="0" i="0" kern="1200" dirty="0">
          <a:solidFill>
            <a:schemeClr val="tx1"/>
          </a:solidFill>
          <a:latin typeface="+mj-lt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7440" userDrawn="1">
          <p15:clr>
            <a:srgbClr val="F26B43"/>
          </p15:clr>
        </p15:guide>
        <p15:guide id="4" pos="2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5333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5ACC7-9813-39D4-E0E6-4E62A194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143000"/>
            <a:ext cx="11430000" cy="50292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7" name="NTT DATA Global Logo">
            <a:extLst>
              <a:ext uri="{FF2B5EF4-FFF2-40B4-BE49-F238E27FC236}">
                <a16:creationId xmlns:a16="http://schemas.microsoft.com/office/drawing/2014/main" id="{E4A297F2-4804-B5AA-637C-78C8A88550D2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730919A-842B-324C-CCDA-7945A8CEB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 algn="ctr">
              <a:defRPr lang="en-US" sz="800" smtClean="0">
                <a:solidFill>
                  <a:srgbClr val="070F26"/>
                </a:solidFill>
              </a:defRPr>
            </a:lvl1pPr>
          </a:lstStyle>
          <a:p>
            <a:fld id="{60D39823-8059-4D49-BD26-6D32C31B8621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6" name="Legal Line">
            <a:extLst>
              <a:ext uri="{FF2B5EF4-FFF2-40B4-BE49-F238E27FC236}">
                <a16:creationId xmlns:a16="http://schemas.microsoft.com/office/drawing/2014/main" id="{2DFD1EEB-4B72-8C2A-2570-1C1E7557115E}"/>
              </a:ext>
            </a:extLst>
          </p:cNvPr>
          <p:cNvSpPr txBox="1"/>
          <p:nvPr userDrawn="1"/>
        </p:nvSpPr>
        <p:spPr>
          <a:xfrm>
            <a:off x="381000" y="6400800"/>
            <a:ext cx="403860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800" dirty="0">
                <a:solidFill>
                  <a:srgbClr val="070F26"/>
                </a:solidFill>
              </a:rPr>
              <a:t>© 2026 NTT DATA</a:t>
            </a:r>
          </a:p>
        </p:txBody>
      </p:sp>
    </p:spTree>
    <p:extLst>
      <p:ext uri="{BB962C8B-B14F-4D97-AF65-F5344CB8AC3E}">
        <p14:creationId xmlns:p14="http://schemas.microsoft.com/office/powerpoint/2010/main" val="67405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186" r:id="rId3"/>
    <p:sldLayoutId id="2147484195" r:id="rId4"/>
    <p:sldLayoutId id="2147484196" r:id="rId5"/>
    <p:sldLayoutId id="2147484197" r:id="rId6"/>
    <p:sldLayoutId id="2147484198" r:id="rId7"/>
    <p:sldLayoutId id="214748419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0" kern="1200" dirty="0">
          <a:solidFill>
            <a:srgbClr val="070F26"/>
          </a:solidFill>
          <a:latin typeface="+mj-lt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3888" userDrawn="1">
          <p15:clr>
            <a:srgbClr val="F26B43"/>
          </p15:clr>
        </p15:guide>
        <p15:guide id="5" pos="240" userDrawn="1">
          <p15:clr>
            <a:srgbClr val="F26B43"/>
          </p15:clr>
        </p15:guide>
        <p15:guide id="6" pos="7440" userDrawn="1">
          <p15:clr>
            <a:srgbClr val="F26B43"/>
          </p15:clr>
        </p15:guide>
        <p15:guide id="7" orient="horz" pos="72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Legal">
            <a:extLst>
              <a:ext uri="{FF2B5EF4-FFF2-40B4-BE49-F238E27FC236}">
                <a16:creationId xmlns:a16="http://schemas.microsoft.com/office/drawing/2014/main" id="{BDF70361-4B6B-3910-FF6C-ECC5D8C51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1" y="6400800"/>
            <a:ext cx="5105400" cy="304394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rgbClr val="070F26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 DATA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0"/>
            <a:ext cx="7239000" cy="2667000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DC08B3B-0173-8E52-C079-CC15406A8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031"/>
          </a:xfrm>
          <a:prstGeom prst="rect">
            <a:avLst/>
          </a:prstGeom>
          <a:ln w="3175">
            <a:noFill/>
          </a:ln>
        </p:spPr>
        <p:txBody>
          <a:bodyPr lIns="0" tIns="0" rIns="0" bIns="0" anchor="ctr"/>
          <a:lstStyle>
            <a:lvl1pPr algn="ctr">
              <a:defRPr lang="en-US" sz="800" noProof="0" smtClean="0">
                <a:solidFill>
                  <a:srgbClr val="070F26"/>
                </a:solidFill>
              </a:defRPr>
            </a:lvl1pPr>
          </a:lstStyle>
          <a:p>
            <a:fld id="{58D24BC2-2B9E-4076-8133-31C4983A0EB9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NTT DATA Global Logo">
            <a:extLst>
              <a:ext uri="{FF2B5EF4-FFF2-40B4-BE49-F238E27FC236}">
                <a16:creationId xmlns:a16="http://schemas.microsoft.com/office/drawing/2014/main" id="{ACF67C27-B40E-34F0-C726-29EAECB10D3A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8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3" r:id="rId1"/>
    <p:sldLayoutId id="2147484239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400" b="0" i="0" kern="1200" dirty="0">
          <a:solidFill>
            <a:srgbClr val="070F26"/>
          </a:solidFill>
          <a:latin typeface="+mj-lt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40" userDrawn="1">
          <p15:clr>
            <a:srgbClr val="F26B43"/>
          </p15:clr>
        </p15:guide>
        <p15:guide id="4" pos="7440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  <p15:guide id="6" orient="horz" pos="432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Legal">
            <a:extLst>
              <a:ext uri="{FF2B5EF4-FFF2-40B4-BE49-F238E27FC236}">
                <a16:creationId xmlns:a16="http://schemas.microsoft.com/office/drawing/2014/main" id="{BDF70361-4B6B-3910-FF6C-ECC5D8C51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1" y="6400800"/>
            <a:ext cx="5105400" cy="304394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© 2026 NTT DATA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0"/>
            <a:ext cx="7239000" cy="2667000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DC08B3B-0173-8E52-C079-CC15406A8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031"/>
          </a:xfrm>
          <a:prstGeom prst="rect">
            <a:avLst/>
          </a:prstGeom>
          <a:ln w="3175">
            <a:noFill/>
          </a:ln>
        </p:spPr>
        <p:txBody>
          <a:bodyPr lIns="0" tIns="0" rIns="0" bIns="0" anchor="ctr"/>
          <a:lstStyle>
            <a:lvl1pPr algn="ctr">
              <a:defRPr lang="en-US" sz="800" noProof="0" smtClean="0">
                <a:solidFill>
                  <a:schemeClr val="tx1"/>
                </a:solidFill>
              </a:defRPr>
            </a:lvl1pPr>
          </a:lstStyle>
          <a:p>
            <a:fld id="{58D24BC2-2B9E-4076-8133-31C4983A0EB9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NTT DATA Global Logo">
            <a:extLst>
              <a:ext uri="{FF2B5EF4-FFF2-40B4-BE49-F238E27FC236}">
                <a16:creationId xmlns:a16="http://schemas.microsoft.com/office/drawing/2014/main" id="{ACF67C27-B40E-34F0-C726-29EAECB10D3A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247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1" r:id="rId1"/>
    <p:sldLayoutId id="2147484242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400" b="0" i="0" kern="1200" dirty="0">
          <a:solidFill>
            <a:schemeClr val="tx1"/>
          </a:solidFill>
          <a:latin typeface="+mj-lt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40" userDrawn="1">
          <p15:clr>
            <a:srgbClr val="F26B43"/>
          </p15:clr>
        </p15:guide>
        <p15:guide id="4" pos="74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6CCEEA4F-B2F9-F5FD-831B-C14426169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lIns="0" tIns="0" rIns="0" bIns="0" anchor="ctr"/>
          <a:lstStyle>
            <a:lvl1pPr>
              <a:defRPr lang="en-US" sz="800" noProof="0" smtClean="0">
                <a:solidFill>
                  <a:srgbClr val="070F26"/>
                </a:solidFill>
              </a:defRPr>
            </a:lvl1pPr>
          </a:lstStyle>
          <a:p>
            <a:pPr algn="ctr"/>
            <a:fld id="{83ADEA99-682E-4231-A4C9-95AE759D37D5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2" name="NTT DATA Global Logo">
            <a:extLst>
              <a:ext uri="{FF2B5EF4-FFF2-40B4-BE49-F238E27FC236}">
                <a16:creationId xmlns:a16="http://schemas.microsoft.com/office/drawing/2014/main" id="{BCFF8549-A65D-657A-573F-06333E7CA78B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5D123-6DF7-0A15-136C-158C5AEC9409}"/>
              </a:ext>
            </a:extLst>
          </p:cNvPr>
          <p:cNvSpPr txBox="1"/>
          <p:nvPr userDrawn="1"/>
        </p:nvSpPr>
        <p:spPr>
          <a:xfrm>
            <a:off x="374374" y="6402324"/>
            <a:ext cx="510540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800" dirty="0">
                <a:solidFill>
                  <a:srgbClr val="070F26"/>
                </a:solidFill>
              </a:rPr>
              <a:t>© 2026 NTT DATA</a:t>
            </a:r>
          </a:p>
        </p:txBody>
      </p:sp>
    </p:spTree>
    <p:extLst>
      <p:ext uri="{BB962C8B-B14F-4D97-AF65-F5344CB8AC3E}">
        <p14:creationId xmlns:p14="http://schemas.microsoft.com/office/powerpoint/2010/main" val="2386717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rgbClr val="2E404D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pos="7440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  <p15:guide id="6" orient="horz" pos="432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6CCEEA4F-B2F9-F5FD-831B-C14426169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lIns="0" tIns="0" rIns="0" bIns="0" anchor="ctr"/>
          <a:lstStyle>
            <a:lvl1pPr>
              <a:defRPr lang="en-US" sz="800" noProof="0" smtClean="0">
                <a:solidFill>
                  <a:schemeClr val="tx1"/>
                </a:solidFill>
              </a:defRPr>
            </a:lvl1pPr>
          </a:lstStyle>
          <a:p>
            <a:pPr algn="ctr"/>
            <a:fld id="{83ADEA99-682E-4231-A4C9-95AE759D37D5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2" name="NTT DATA Global Logo">
            <a:extLst>
              <a:ext uri="{FF2B5EF4-FFF2-40B4-BE49-F238E27FC236}">
                <a16:creationId xmlns:a16="http://schemas.microsoft.com/office/drawing/2014/main" id="{BCFF8549-A65D-657A-573F-06333E7CA78B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5D123-6DF7-0A15-136C-158C5AEC9409}"/>
              </a:ext>
            </a:extLst>
          </p:cNvPr>
          <p:cNvSpPr txBox="1"/>
          <p:nvPr userDrawn="1"/>
        </p:nvSpPr>
        <p:spPr>
          <a:xfrm>
            <a:off x="374374" y="6402324"/>
            <a:ext cx="510540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800" dirty="0">
                <a:solidFill>
                  <a:schemeClr val="tx1"/>
                </a:solidFill>
              </a:rPr>
              <a:t>© 2026 NTT DATA</a:t>
            </a:r>
          </a:p>
        </p:txBody>
      </p:sp>
    </p:spTree>
    <p:extLst>
      <p:ext uri="{BB962C8B-B14F-4D97-AF65-F5344CB8AC3E}">
        <p14:creationId xmlns:p14="http://schemas.microsoft.com/office/powerpoint/2010/main" val="1340613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4" r:id="rId1"/>
    <p:sldLayoutId id="2147484245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rgbClr val="2E404D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pos="7440" userDrawn="1">
          <p15:clr>
            <a:srgbClr val="F26B43"/>
          </p15:clr>
        </p15:guide>
        <p15:guide id="5" orient="horz" pos="432" userDrawn="1">
          <p15:clr>
            <a:srgbClr val="F26B43"/>
          </p15:clr>
        </p15:guide>
        <p15:guide id="6" orient="horz" pos="3888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5333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5ACC7-9813-39D4-E0E6-4E62A194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143000"/>
            <a:ext cx="11430000" cy="503396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A58B4-77D9-E987-C197-DA4CB60F7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 algn="ctr">
              <a:defRPr lang="en-US" sz="800" smtClean="0">
                <a:solidFill>
                  <a:schemeClr val="tx1"/>
                </a:solidFill>
              </a:defRPr>
            </a:lvl1pPr>
          </a:lstStyle>
          <a:p>
            <a:fld id="{60D39823-8059-4D49-BD26-6D32C31B8621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NTT DATA Global Logo">
            <a:extLst>
              <a:ext uri="{FF2B5EF4-FFF2-40B4-BE49-F238E27FC236}">
                <a16:creationId xmlns:a16="http://schemas.microsoft.com/office/drawing/2014/main" id="{EE0929A7-1D82-E58C-7D80-4E5ADC6ECCAE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tx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E83BE6-DDC3-9EEA-7861-D7573391F21D}"/>
              </a:ext>
            </a:extLst>
          </p:cNvPr>
          <p:cNvSpPr txBox="1"/>
          <p:nvPr userDrawn="1"/>
        </p:nvSpPr>
        <p:spPr>
          <a:xfrm>
            <a:off x="374374" y="6402324"/>
            <a:ext cx="510540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800" dirty="0">
                <a:solidFill>
                  <a:schemeClr val="tx1"/>
                </a:solidFill>
              </a:rPr>
              <a:t>© 2026 NTT DATA</a:t>
            </a:r>
          </a:p>
        </p:txBody>
      </p:sp>
    </p:spTree>
    <p:extLst>
      <p:ext uri="{BB962C8B-B14F-4D97-AF65-F5344CB8AC3E}">
        <p14:creationId xmlns:p14="http://schemas.microsoft.com/office/powerpoint/2010/main" val="371141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4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pos="7440" userDrawn="1">
          <p15:clr>
            <a:srgbClr val="F26B43"/>
          </p15:clr>
        </p15:guide>
        <p15:guide id="6" orient="horz" pos="720" userDrawn="1">
          <p15:clr>
            <a:srgbClr val="F26B43"/>
          </p15:clr>
        </p15:guide>
        <p15:guide id="7" orient="horz" pos="3888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0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5" r:id="rId1"/>
    <p:sldLayoutId id="2147484236" r:id="rId2"/>
    <p:sldLayoutId id="2147484237" r:id="rId3"/>
    <p:sldLayoutId id="2147484238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6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github.com/mouredev/hello-sdd" TargetMode="Externa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uredev/hello-sdd" TargetMode="Externa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0C8C3E-0F48-7E0F-1D8D-3CF705110E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Placeholder 2" descr="Páginas de una especificación sobre un degradado azul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8" b="18"/>
          <a:stretch>
            <a:fillRect/>
          </a:stretch>
        </p:blipFill>
        <p:spPr>
          <a:xfrm>
            <a:off x="12700" y="3370847"/>
            <a:ext cx="12192000" cy="350215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2736C-AD71-F70F-6D72-936463422A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AA95E0-44FA-42E1-71DE-784574E5F1E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69D6D21-E288-01C4-954D-658C85EFF49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s-ES" dirty="0"/>
              <a:t>Antonio Rocamora Manteca</a:t>
            </a:r>
            <a:br>
              <a:rPr lang="es-ES" dirty="0"/>
            </a:br>
            <a:r>
              <a:rPr lang="es-ES" dirty="0"/>
              <a:t>22/10/2026</a:t>
            </a:r>
            <a:endParaRPr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B092BF7-6046-F41A-247D-6746B1D713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Primero la spec, después el código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FACC9F2-9B7A-41EF-D5BA-E2E86CFE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Spec-Driven Development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44019CB-C6A4-D487-0F95-62CE77C512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© 2026 NTT DATA</a:t>
            </a:r>
            <a:endParaRPr lang="en-US" sz="8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59D728-CE9D-7191-C15B-C176619E55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A5D035C-6403-F167-F538-0A759AAD51D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63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384048" y="3840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19A3FC"/>
                </a:solidFill>
                <a:latin typeface="+mn-lt"/>
                <a:cs typeface="+mn-lt"/>
              </a:rPr>
              <a:t>01 · EL PROBLEMA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384048" y="621792"/>
            <a:ext cx="11420856" cy="566928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3200" dirty="0"/>
              <a:t>Para empezar, una pregunta</a:t>
            </a:r>
          </a:p>
        </p:txBody>
      </p:sp>
      <p:sp>
        <p:nvSpPr>
          <p:cNvPr id="4" name="Slide Numb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8DF680A-7513-4A75-8B89-09FC857B879D}" type="slidenum">
              <a:rPr lang="es-ES" dirty="0"/>
              <a:pPr algn="ctr"/>
              <a:t>2</a:t>
            </a:fld>
            <a:endParaRPr lang="es-ES" dirty="0"/>
          </a:p>
        </p:txBody>
      </p:sp>
      <p:pic>
        <p:nvPicPr>
          <p:cNvPr id="5" name="Dot pattern" descr="Trama de pun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600200"/>
            <a:ext cx="4023360" cy="4023360"/>
          </a:xfrm>
          <a:prstGeom prst="rect">
            <a:avLst/>
          </a:prstGeom>
        </p:spPr>
      </p:pic>
      <p:sp>
        <p:nvSpPr>
          <p:cNvPr id="6" name="question circle"/>
          <p:cNvSpPr/>
          <p:nvPr/>
        </p:nvSpPr>
        <p:spPr>
          <a:xfrm>
            <a:off x="9464040" y="2697480"/>
            <a:ext cx="1554480" cy="1554480"/>
          </a:xfrm>
          <a:prstGeom prst="ellipse">
            <a:avLst/>
          </a:prstGeom>
          <a:solidFill>
            <a:srgbClr val="19A3F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7" name="question icon" descr="ques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6026" y="3039466"/>
            <a:ext cx="870509" cy="870509"/>
          </a:xfrm>
          <a:prstGeom prst="rect">
            <a:avLst/>
          </a:prstGeom>
        </p:spPr>
      </p:pic>
      <p:sp>
        <p:nvSpPr>
          <p:cNvPr id="8" name="Question 1"/>
          <p:cNvSpPr txBox="1"/>
          <p:nvPr/>
        </p:nvSpPr>
        <p:spPr>
          <a:xfrm>
            <a:off x="384048" y="2286000"/>
            <a:ext cx="8229600" cy="1920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dirty="0">
                <a:solidFill>
                  <a:srgbClr val="FFFFFF"/>
                </a:solidFill>
                <a:latin typeface="+mj-lt"/>
                <a:cs typeface="+mj-lt"/>
              </a:rPr>
              <a:t>¿A quién le ha devuelto la IA código que funcionaba… pero no era lo que quería?</a:t>
            </a:r>
          </a:p>
        </p:txBody>
      </p:sp>
      <p:sp>
        <p:nvSpPr>
          <p:cNvPr id="9" name="Question 2"/>
          <p:cNvSpPr txBox="1"/>
          <p:nvPr/>
        </p:nvSpPr>
        <p:spPr>
          <a:xfrm>
            <a:off x="384048" y="443484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i="1" dirty="0">
                <a:solidFill>
                  <a:srgbClr val="19A3FC"/>
                </a:solidFill>
                <a:latin typeface="+mj-lt"/>
                <a:cs typeface="+mj-lt"/>
              </a:rPr>
              <a:t>¿Y quién tuvo que volver a tocarlo una semana después?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384048" y="3840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01 · EL PROBLEMA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384048" y="621792"/>
            <a:ext cx="11420856" cy="566928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3200" dirty="0"/>
              <a:t>Vibe coding: rápido, pero sin control</a:t>
            </a:r>
          </a:p>
        </p:txBody>
      </p:sp>
      <p:sp>
        <p:nvSpPr>
          <p:cNvPr id="4" name="Subtitle 4"/>
          <p:cNvSpPr>
            <a:spLocks noGrp="1"/>
          </p:cNvSpPr>
          <p:nvPr>
            <p:ph type="body" sz="quarter" idx="13"/>
          </p:nvPr>
        </p:nvSpPr>
        <p:spPr>
          <a:xfrm>
            <a:off x="384048" y="1225296"/>
            <a:ext cx="11420856" cy="365760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ES" sz="1600" dirty="0"/>
              <a:t>Sin requisitos no hay un resultado correcto: hay lo que decidió la IA</a:t>
            </a:r>
          </a:p>
        </p:txBody>
      </p:sp>
      <p:sp>
        <p:nvSpPr>
          <p:cNvPr id="5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8328E39-0814-4913-9FC0-42ED1A7F6399}" type="slidenum">
              <a:rPr lang="es-ES" dirty="0"/>
              <a:pPr algn="ctr"/>
              <a:t>3</a:t>
            </a:fld>
            <a:endParaRPr lang="es-ES" dirty="0"/>
          </a:p>
        </p:txBody>
      </p:sp>
      <p:sp>
        <p:nvSpPr>
          <p:cNvPr id="6" name="Card No es determinista"/>
          <p:cNvSpPr/>
          <p:nvPr/>
        </p:nvSpPr>
        <p:spPr>
          <a:xfrm>
            <a:off x="384048" y="1783080"/>
            <a:ext cx="3566160" cy="2331720"/>
          </a:xfrm>
          <a:prstGeom prst="roundRect">
            <a:avLst>
              <a:gd name="adj" fmla="val 5490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huffle circle"/>
          <p:cNvSpPr/>
          <p:nvPr/>
        </p:nvSpPr>
        <p:spPr>
          <a:xfrm>
            <a:off x="658368" y="2057400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8" name="shuffle icon" descr="shuff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5" y="2162007"/>
            <a:ext cx="266273" cy="266273"/>
          </a:xfrm>
          <a:prstGeom prst="rect">
            <a:avLst/>
          </a:prstGeom>
        </p:spPr>
      </p:pic>
      <p:sp>
        <p:nvSpPr>
          <p:cNvPr id="9" name="Card title No es determinista"/>
          <p:cNvSpPr txBox="1"/>
          <p:nvPr/>
        </p:nvSpPr>
        <p:spPr>
          <a:xfrm>
            <a:off x="658368" y="2715768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070F26"/>
                </a:solidFill>
                <a:latin typeface="+mn-lt"/>
                <a:cs typeface="+mn-lt"/>
              </a:rPr>
              <a:t>No es determinista</a:t>
            </a:r>
          </a:p>
        </p:txBody>
      </p:sp>
      <p:sp>
        <p:nvSpPr>
          <p:cNvPr id="10" name="Card body No es determinista"/>
          <p:cNvSpPr txBox="1"/>
          <p:nvPr/>
        </p:nvSpPr>
        <p:spPr>
          <a:xfrm>
            <a:off x="658368" y="3392424"/>
            <a:ext cx="301752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dirty="0">
                <a:solidFill>
                  <a:srgbClr val="2E404D"/>
                </a:solidFill>
                <a:latin typeface="+mn-lt"/>
                <a:cs typeface="+mn-lt"/>
              </a:rPr>
              <a:t>La misma petición diez veces da diez resultados distintos.</a:t>
            </a:r>
          </a:p>
        </p:txBody>
      </p:sp>
      <p:sp>
        <p:nvSpPr>
          <p:cNvPr id="11" name="Card Rellena huecos en silencio"/>
          <p:cNvSpPr/>
          <p:nvPr/>
        </p:nvSpPr>
        <p:spPr>
          <a:xfrm>
            <a:off x="4311396" y="1783080"/>
            <a:ext cx="3566160" cy="2331720"/>
          </a:xfrm>
          <a:prstGeom prst="roundRect">
            <a:avLst>
              <a:gd name="adj" fmla="val 5490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bubbleoff circle"/>
          <p:cNvSpPr/>
          <p:nvPr/>
        </p:nvSpPr>
        <p:spPr>
          <a:xfrm>
            <a:off x="4585716" y="2057400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3" name="bubbleoff icon" descr="bubbleo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323" y="2162007"/>
            <a:ext cx="266273" cy="266273"/>
          </a:xfrm>
          <a:prstGeom prst="rect">
            <a:avLst/>
          </a:prstGeom>
        </p:spPr>
      </p:pic>
      <p:sp>
        <p:nvSpPr>
          <p:cNvPr id="14" name="Card title Rellena huecos en silencio"/>
          <p:cNvSpPr txBox="1"/>
          <p:nvPr/>
        </p:nvSpPr>
        <p:spPr>
          <a:xfrm>
            <a:off x="4585716" y="2715768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070F26"/>
                </a:solidFill>
                <a:latin typeface="+mn-lt"/>
                <a:cs typeface="+mn-lt"/>
              </a:rPr>
              <a:t>Rellena huecos en silencio</a:t>
            </a:r>
          </a:p>
        </p:txBody>
      </p:sp>
      <p:sp>
        <p:nvSpPr>
          <p:cNvPr id="15" name="Card body Rellena huecos en silencio"/>
          <p:cNvSpPr txBox="1"/>
          <p:nvPr/>
        </p:nvSpPr>
        <p:spPr>
          <a:xfrm>
            <a:off x="4585716" y="3392424"/>
            <a:ext cx="301752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dirty="0">
                <a:solidFill>
                  <a:srgbClr val="2E404D"/>
                </a:solidFill>
                <a:latin typeface="+mn-lt"/>
                <a:cs typeface="+mn-lt"/>
              </a:rPr>
              <a:t>Lo que no dices, lo decide ella. Y no avisa.</a:t>
            </a:r>
          </a:p>
        </p:txBody>
      </p:sp>
      <p:sp>
        <p:nvSpPr>
          <p:cNvPr id="16" name="Card Cuanto más genera, menos revisamos"/>
          <p:cNvSpPr/>
          <p:nvPr/>
        </p:nvSpPr>
        <p:spPr>
          <a:xfrm>
            <a:off x="8238744" y="1783080"/>
            <a:ext cx="3566160" cy="2331720"/>
          </a:xfrm>
          <a:prstGeom prst="roundRect">
            <a:avLst>
              <a:gd name="adj" fmla="val 5490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eyeoff circle"/>
          <p:cNvSpPr/>
          <p:nvPr/>
        </p:nvSpPr>
        <p:spPr>
          <a:xfrm>
            <a:off x="8513064" y="2057400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8" name="eyeoff icon" descr="eyeof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7671" y="2162007"/>
            <a:ext cx="266273" cy="266273"/>
          </a:xfrm>
          <a:prstGeom prst="rect">
            <a:avLst/>
          </a:prstGeom>
        </p:spPr>
      </p:pic>
      <p:sp>
        <p:nvSpPr>
          <p:cNvPr id="19" name="Card title Cuanto más genera, menos revisamos"/>
          <p:cNvSpPr txBox="1"/>
          <p:nvPr/>
        </p:nvSpPr>
        <p:spPr>
          <a:xfrm>
            <a:off x="8513064" y="2715768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070F26"/>
                </a:solidFill>
                <a:latin typeface="+mn-lt"/>
                <a:cs typeface="+mn-lt"/>
              </a:rPr>
              <a:t>Cuanto más genera, menos revisamos</a:t>
            </a:r>
          </a:p>
        </p:txBody>
      </p:sp>
      <p:sp>
        <p:nvSpPr>
          <p:cNvPr id="20" name="Card body Cuanto más genera, menos revisamos"/>
          <p:cNvSpPr txBox="1"/>
          <p:nvPr/>
        </p:nvSpPr>
        <p:spPr>
          <a:xfrm>
            <a:off x="8513064" y="3392424"/>
            <a:ext cx="301752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dirty="0">
                <a:solidFill>
                  <a:srgbClr val="2E404D"/>
                </a:solidFill>
                <a:latin typeface="+mn-lt"/>
                <a:cs typeface="+mn-lt"/>
              </a:rPr>
              <a:t>Y lo que no se revisa acaba en fallos de seguridad y deuda técnica.</a:t>
            </a:r>
          </a:p>
        </p:txBody>
      </p:sp>
      <p:sp>
        <p:nvSpPr>
          <p:cNvPr id="21" name="Callout arneses"/>
          <p:cNvSpPr/>
          <p:nvPr/>
        </p:nvSpPr>
        <p:spPr>
          <a:xfrm>
            <a:off x="384048" y="4389120"/>
            <a:ext cx="7493508" cy="1600200"/>
          </a:xfrm>
          <a:prstGeom prst="roundRect">
            <a:avLst>
              <a:gd name="adj" fmla="val 8000"/>
            </a:avLst>
          </a:prstGeom>
          <a:solidFill>
            <a:srgbClr val="070F26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layers circle"/>
          <p:cNvSpPr/>
          <p:nvPr/>
        </p:nvSpPr>
        <p:spPr>
          <a:xfrm>
            <a:off x="704088" y="4914900"/>
            <a:ext cx="548640" cy="548640"/>
          </a:xfrm>
          <a:prstGeom prst="ellipse">
            <a:avLst/>
          </a:prstGeom>
          <a:solidFill>
            <a:srgbClr val="19A3F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23" name="layers icon" descr="layer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9" y="5035601"/>
            <a:ext cx="307238" cy="307238"/>
          </a:xfrm>
          <a:prstGeom prst="rect">
            <a:avLst/>
          </a:prstGeom>
        </p:spPr>
      </p:pic>
      <p:sp>
        <p:nvSpPr>
          <p:cNvPr id="24" name="Callout arneses text"/>
          <p:cNvSpPr txBox="1"/>
          <p:nvPr/>
        </p:nvSpPr>
        <p:spPr>
          <a:xfrm>
            <a:off x="1481328" y="4389120"/>
            <a:ext cx="6121908" cy="1600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ES" sz="1700" b="1" dirty="0">
                <a:solidFill>
                  <a:srgbClr val="FFFFFF"/>
                </a:solidFill>
                <a:latin typeface="+mn-lt"/>
                <a:cs typeface="+mn-lt"/>
              </a:rPr>
              <a:t>Los arneses ayudan, pero no bastan.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CDE7F7"/>
                </a:solidFill>
                <a:latin typeface="+mn-lt"/>
                <a:cs typeface="+mn-lt"/>
              </a:rPr>
              <a:t>Reglas, skills y MCP no sirven si el agente no sabe qué construir.</a:t>
            </a:r>
          </a:p>
        </p:txBody>
      </p:sp>
      <p:sp>
        <p:nvSpPr>
          <p:cNvPr id="25" name="Callout cuándo sí"/>
          <p:cNvSpPr/>
          <p:nvPr/>
        </p:nvSpPr>
        <p:spPr>
          <a:xfrm>
            <a:off x="8238744" y="438912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E6F9EF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checkcircle circle"/>
          <p:cNvSpPr/>
          <p:nvPr/>
        </p:nvSpPr>
        <p:spPr>
          <a:xfrm>
            <a:off x="8513064" y="4663440"/>
            <a:ext cx="475488" cy="475488"/>
          </a:xfrm>
          <a:prstGeom prst="ellipse">
            <a:avLst/>
          </a:prstGeom>
          <a:solidFill>
            <a:srgbClr val="00CB5D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27" name="checkcircle icon" descr="checkcirc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7671" y="4768047"/>
            <a:ext cx="266273" cy="266273"/>
          </a:xfrm>
          <a:prstGeom prst="rect">
            <a:avLst/>
          </a:prstGeom>
        </p:spPr>
      </p:pic>
      <p:sp>
        <p:nvSpPr>
          <p:cNvPr id="28" name="Callout cuándo sí text"/>
          <p:cNvSpPr txBox="1"/>
          <p:nvPr/>
        </p:nvSpPr>
        <p:spPr>
          <a:xfrm>
            <a:off x="9153144" y="4572000"/>
            <a:ext cx="2423160" cy="1325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solidFill>
                  <a:srgbClr val="070F26"/>
                </a:solidFill>
                <a:latin typeface="+mn-lt"/>
                <a:cs typeface="+mn-lt"/>
              </a:rPr>
              <a:t>Cuándo sí vale: </a:t>
            </a:r>
            <a:r>
              <a:rPr lang="es-ES" sz="1450" dirty="0">
                <a:solidFill>
                  <a:srgbClr val="2E404D"/>
                </a:solidFill>
                <a:latin typeface="+mn-lt"/>
                <a:cs typeface="+mn-lt"/>
              </a:rPr>
              <a:t>prototipos, pruebas de concepto y herramientas solo para 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384048" y="3840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01 · EL PROBLEMA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384048" y="621792"/>
            <a:ext cx="11420856" cy="566928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3200" dirty="0"/>
              <a:t>La misma petición, dos respuestas</a:t>
            </a:r>
          </a:p>
        </p:txBody>
      </p:sp>
      <p:sp>
        <p:nvSpPr>
          <p:cNvPr id="4" name="Subtitle 4"/>
          <p:cNvSpPr>
            <a:spLocks noGrp="1"/>
          </p:cNvSpPr>
          <p:nvPr>
            <p:ph type="body" sz="quarter" idx="13"/>
          </p:nvPr>
        </p:nvSpPr>
        <p:spPr>
          <a:xfrm>
            <a:off x="384048" y="1225296"/>
            <a:ext cx="11420856" cy="365760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ES" sz="1600" dirty="0"/>
              <a:t>Las dos funcionan. ¿Cuál está bien? Ninguna: nadie dijo qué era estar bien</a:t>
            </a:r>
          </a:p>
        </p:txBody>
      </p:sp>
      <p:sp>
        <p:nvSpPr>
          <p:cNvPr id="5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BDB5749A-45A1-4895-97D5-2D0675758078}" type="slidenum">
              <a:rPr lang="es-ES" dirty="0"/>
              <a:pPr algn="ctr"/>
              <a:t>4</a:t>
            </a:fld>
            <a:endParaRPr lang="es-ES" dirty="0"/>
          </a:p>
        </p:txBody>
      </p:sp>
      <p:sp>
        <p:nvSpPr>
          <p:cNvPr id="6" name="Prompt bar"/>
          <p:cNvSpPr/>
          <p:nvPr/>
        </p:nvSpPr>
        <p:spPr>
          <a:xfrm>
            <a:off x="384048" y="1783080"/>
            <a:ext cx="11420856" cy="658368"/>
          </a:xfrm>
          <a:prstGeom prst="roundRect">
            <a:avLst>
              <a:gd name="adj" fmla="val 50000"/>
            </a:avLst>
          </a:prstGeom>
          <a:solidFill>
            <a:srgbClr val="070F26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bubblesq circle"/>
          <p:cNvSpPr/>
          <p:nvPr/>
        </p:nvSpPr>
        <p:spPr>
          <a:xfrm>
            <a:off x="530352" y="1911096"/>
            <a:ext cx="402336" cy="402336"/>
          </a:xfrm>
          <a:prstGeom prst="ellipse">
            <a:avLst/>
          </a:prstGeom>
          <a:solidFill>
            <a:srgbClr val="19A3F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8" name="bubblesq icon" descr="bubbles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66" y="1999610"/>
            <a:ext cx="225308" cy="225308"/>
          </a:xfrm>
          <a:prstGeom prst="rect">
            <a:avLst/>
          </a:prstGeom>
        </p:spPr>
      </p:pic>
      <p:sp>
        <p:nvSpPr>
          <p:cNvPr id="9" name="Prompt text"/>
          <p:cNvSpPr txBox="1"/>
          <p:nvPr/>
        </p:nvSpPr>
        <p:spPr>
          <a:xfrm>
            <a:off x="1161288" y="1783080"/>
            <a:ext cx="10323576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dirty="0">
                <a:solidFill>
                  <a:srgbClr val="FFFFFF"/>
                </a:solidFill>
                <a:latin typeface="Courier New"/>
                <a:cs typeface="Courier New"/>
              </a:rPr>
              <a:t>«Añade un login a la aplicación»</a:t>
            </a:r>
          </a:p>
        </p:txBody>
      </p:sp>
      <p:sp>
        <p:nvSpPr>
          <p:cNvPr id="10" name="Versión A"/>
          <p:cNvSpPr/>
          <p:nvPr/>
        </p:nvSpPr>
        <p:spPr>
          <a:xfrm>
            <a:off x="384048" y="2715768"/>
            <a:ext cx="5436108" cy="3273552"/>
          </a:xfrm>
          <a:prstGeom prst="roundRect">
            <a:avLst>
              <a:gd name="adj" fmla="val 3910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Label A"/>
          <p:cNvSpPr txBox="1"/>
          <p:nvPr/>
        </p:nvSpPr>
        <p:spPr>
          <a:xfrm>
            <a:off x="749808" y="299008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VERSIÓN A</a:t>
            </a:r>
          </a:p>
        </p:txBody>
      </p:sp>
      <p:sp>
        <p:nvSpPr>
          <p:cNvPr id="12" name="Row A0"/>
          <p:cNvSpPr txBox="1"/>
          <p:nvPr/>
        </p:nvSpPr>
        <p:spPr>
          <a:xfrm>
            <a:off x="749808" y="3401568"/>
            <a:ext cx="4704588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50" dirty="0">
                <a:solidFill>
                  <a:srgbClr val="070F26"/>
                </a:solidFill>
                <a:latin typeface="+mn-lt"/>
                <a:cs typeface="+mn-lt"/>
              </a:rPr>
              <a:t>Email y contraseña</a:t>
            </a:r>
          </a:p>
        </p:txBody>
      </p:sp>
      <p:cxnSp>
        <p:nvCxnSpPr>
          <p:cNvPr id="13" name="Separator"/>
          <p:cNvCxnSpPr/>
          <p:nvPr/>
        </p:nvCxnSpPr>
        <p:spPr>
          <a:xfrm>
            <a:off x="749808" y="3968496"/>
            <a:ext cx="4704588" cy="0"/>
          </a:xfrm>
          <a:prstGeom prst="line">
            <a:avLst/>
          </a:prstGeom>
          <a:ln w="9525" cap="rnd">
            <a:solidFill>
              <a:srgbClr val="C9D3DF"/>
            </a:solidFill>
          </a:ln>
        </p:spPr>
      </p:cxnSp>
      <p:sp>
        <p:nvSpPr>
          <p:cNvPr id="14" name="Row A1"/>
          <p:cNvSpPr txBox="1"/>
          <p:nvPr/>
        </p:nvSpPr>
        <p:spPr>
          <a:xfrm>
            <a:off x="749808" y="3968496"/>
            <a:ext cx="4704588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50" dirty="0">
                <a:solidFill>
                  <a:srgbClr val="070F26"/>
                </a:solidFill>
                <a:latin typeface="+mn-lt"/>
                <a:cs typeface="+mn-lt"/>
              </a:rPr>
              <a:t>Sin límite de intentos</a:t>
            </a:r>
          </a:p>
        </p:txBody>
      </p:sp>
      <p:cxnSp>
        <p:nvCxnSpPr>
          <p:cNvPr id="15" name="Separator"/>
          <p:cNvCxnSpPr/>
          <p:nvPr/>
        </p:nvCxnSpPr>
        <p:spPr>
          <a:xfrm>
            <a:off x="749808" y="4535424"/>
            <a:ext cx="4704588" cy="0"/>
          </a:xfrm>
          <a:prstGeom prst="line">
            <a:avLst/>
          </a:prstGeom>
          <a:ln w="9525" cap="rnd">
            <a:solidFill>
              <a:srgbClr val="C9D3DF"/>
            </a:solidFill>
          </a:ln>
        </p:spPr>
      </p:cxnSp>
      <p:sp>
        <p:nvSpPr>
          <p:cNvPr id="16" name="Row A2"/>
          <p:cNvSpPr txBox="1"/>
          <p:nvPr/>
        </p:nvSpPr>
        <p:spPr>
          <a:xfrm>
            <a:off x="749808" y="4535424"/>
            <a:ext cx="4704588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50" dirty="0">
                <a:solidFill>
                  <a:srgbClr val="070F26"/>
                </a:solidFill>
                <a:latin typeface="+mn-lt"/>
                <a:cs typeface="+mn-lt"/>
              </a:rPr>
              <a:t>La sesión no caduca</a:t>
            </a:r>
          </a:p>
        </p:txBody>
      </p:sp>
      <p:sp>
        <p:nvSpPr>
          <p:cNvPr id="17" name="check circle"/>
          <p:cNvSpPr/>
          <p:nvPr/>
        </p:nvSpPr>
        <p:spPr>
          <a:xfrm>
            <a:off x="749808" y="5303520"/>
            <a:ext cx="365760" cy="365760"/>
          </a:xfrm>
          <a:prstGeom prst="ellipse">
            <a:avLst/>
          </a:prstGeom>
          <a:solidFill>
            <a:srgbClr val="00CB5D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8" name="check icon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" y="5383987"/>
            <a:ext cx="204826" cy="204826"/>
          </a:xfrm>
          <a:prstGeom prst="rect">
            <a:avLst/>
          </a:prstGeom>
        </p:spPr>
      </p:pic>
      <p:sp>
        <p:nvSpPr>
          <p:cNvPr id="19" name="Funciona A"/>
          <p:cNvSpPr txBox="1"/>
          <p:nvPr/>
        </p:nvSpPr>
        <p:spPr>
          <a:xfrm>
            <a:off x="1252728" y="53035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i="1" dirty="0">
                <a:solidFill>
                  <a:srgbClr val="070F26"/>
                </a:solidFill>
                <a:latin typeface="+mn-lt"/>
                <a:cs typeface="+mn-lt"/>
              </a:rPr>
              <a:t>Funciona</a:t>
            </a:r>
          </a:p>
        </p:txBody>
      </p:sp>
      <p:sp>
        <p:nvSpPr>
          <p:cNvPr id="20" name="Versión B"/>
          <p:cNvSpPr/>
          <p:nvPr/>
        </p:nvSpPr>
        <p:spPr>
          <a:xfrm>
            <a:off x="6368796" y="2715768"/>
            <a:ext cx="5436108" cy="3273552"/>
          </a:xfrm>
          <a:prstGeom prst="roundRect">
            <a:avLst>
              <a:gd name="adj" fmla="val 3910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Label B"/>
          <p:cNvSpPr txBox="1"/>
          <p:nvPr/>
        </p:nvSpPr>
        <p:spPr>
          <a:xfrm>
            <a:off x="6734556" y="299008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VERSIÓN B</a:t>
            </a:r>
          </a:p>
        </p:txBody>
      </p:sp>
      <p:sp>
        <p:nvSpPr>
          <p:cNvPr id="22" name="Row B0"/>
          <p:cNvSpPr txBox="1"/>
          <p:nvPr/>
        </p:nvSpPr>
        <p:spPr>
          <a:xfrm>
            <a:off x="6734556" y="3401568"/>
            <a:ext cx="4704588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50" dirty="0">
                <a:solidFill>
                  <a:srgbClr val="070F26"/>
                </a:solidFill>
                <a:latin typeface="+mn-lt"/>
                <a:cs typeface="+mn-lt"/>
              </a:rPr>
              <a:t>Usuario y contraseña</a:t>
            </a:r>
          </a:p>
        </p:txBody>
      </p:sp>
      <p:cxnSp>
        <p:nvCxnSpPr>
          <p:cNvPr id="23" name="Separator"/>
          <p:cNvCxnSpPr/>
          <p:nvPr/>
        </p:nvCxnSpPr>
        <p:spPr>
          <a:xfrm>
            <a:off x="6734556" y="3968496"/>
            <a:ext cx="4704588" cy="0"/>
          </a:xfrm>
          <a:prstGeom prst="line">
            <a:avLst/>
          </a:prstGeom>
          <a:ln w="9525" cap="rnd">
            <a:solidFill>
              <a:srgbClr val="C9D3DF"/>
            </a:solidFill>
          </a:ln>
        </p:spPr>
      </p:cxnSp>
      <p:sp>
        <p:nvSpPr>
          <p:cNvPr id="24" name="Row B1"/>
          <p:cNvSpPr txBox="1"/>
          <p:nvPr/>
        </p:nvSpPr>
        <p:spPr>
          <a:xfrm>
            <a:off x="6734556" y="3968496"/>
            <a:ext cx="4704588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50" dirty="0">
                <a:solidFill>
                  <a:srgbClr val="070F26"/>
                </a:solidFill>
                <a:latin typeface="+mn-lt"/>
                <a:cs typeface="+mn-lt"/>
              </a:rPr>
              <a:t>Bloqueo tras 5 intentos</a:t>
            </a:r>
          </a:p>
        </p:txBody>
      </p:sp>
      <p:cxnSp>
        <p:nvCxnSpPr>
          <p:cNvPr id="25" name="Separator"/>
          <p:cNvCxnSpPr/>
          <p:nvPr/>
        </p:nvCxnSpPr>
        <p:spPr>
          <a:xfrm>
            <a:off x="6734556" y="4535424"/>
            <a:ext cx="4704588" cy="0"/>
          </a:xfrm>
          <a:prstGeom prst="line">
            <a:avLst/>
          </a:prstGeom>
          <a:ln w="9525" cap="rnd">
            <a:solidFill>
              <a:srgbClr val="C9D3DF"/>
            </a:solidFill>
          </a:ln>
        </p:spPr>
      </p:cxnSp>
      <p:sp>
        <p:nvSpPr>
          <p:cNvPr id="26" name="Row B2"/>
          <p:cNvSpPr txBox="1"/>
          <p:nvPr/>
        </p:nvSpPr>
        <p:spPr>
          <a:xfrm>
            <a:off x="6734556" y="4535424"/>
            <a:ext cx="4704588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50" dirty="0">
                <a:solidFill>
                  <a:srgbClr val="070F26"/>
                </a:solidFill>
                <a:latin typeface="+mn-lt"/>
                <a:cs typeface="+mn-lt"/>
              </a:rPr>
              <a:t>Sesión de 30 minutos</a:t>
            </a:r>
          </a:p>
        </p:txBody>
      </p:sp>
      <p:sp>
        <p:nvSpPr>
          <p:cNvPr id="27" name="check circle"/>
          <p:cNvSpPr/>
          <p:nvPr/>
        </p:nvSpPr>
        <p:spPr>
          <a:xfrm>
            <a:off x="6734556" y="5303520"/>
            <a:ext cx="365760" cy="365760"/>
          </a:xfrm>
          <a:prstGeom prst="ellipse">
            <a:avLst/>
          </a:prstGeom>
          <a:solidFill>
            <a:srgbClr val="00CB5D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28" name="check icon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023" y="5383987"/>
            <a:ext cx="204826" cy="204826"/>
          </a:xfrm>
          <a:prstGeom prst="rect">
            <a:avLst/>
          </a:prstGeom>
        </p:spPr>
      </p:pic>
      <p:sp>
        <p:nvSpPr>
          <p:cNvPr id="29" name="Funciona B"/>
          <p:cNvSpPr txBox="1"/>
          <p:nvPr/>
        </p:nvSpPr>
        <p:spPr>
          <a:xfrm>
            <a:off x="7237476" y="53035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i="1" dirty="0">
                <a:solidFill>
                  <a:srgbClr val="070F26"/>
                </a:solidFill>
                <a:latin typeface="+mn-lt"/>
                <a:cs typeface="+mn-lt"/>
              </a:rPr>
              <a:t>Funciona</a:t>
            </a:r>
          </a:p>
        </p:txBody>
      </p:sp>
      <p:sp>
        <p:nvSpPr>
          <p:cNvPr id="30" name="vs"/>
          <p:cNvSpPr txBox="1"/>
          <p:nvPr/>
        </p:nvSpPr>
        <p:spPr>
          <a:xfrm>
            <a:off x="5820156" y="36301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i="1" dirty="0">
                <a:solidFill>
                  <a:srgbClr val="6F7D8F"/>
                </a:solidFill>
                <a:latin typeface="+mj-lt"/>
                <a:cs typeface="+mj-lt"/>
              </a:rPr>
              <a:t>vs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384048" y="3840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02 · LA IDEA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384048" y="621792"/>
            <a:ext cx="11420856" cy="566928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3200" dirty="0"/>
              <a:t>Spec-Driven Development</a:t>
            </a:r>
          </a:p>
        </p:txBody>
      </p:sp>
      <p:sp>
        <p:nvSpPr>
          <p:cNvPr id="4" name="Subtitle 4"/>
          <p:cNvSpPr>
            <a:spLocks noGrp="1"/>
          </p:cNvSpPr>
          <p:nvPr>
            <p:ph type="body" sz="quarter" idx="13"/>
          </p:nvPr>
        </p:nvSpPr>
        <p:spPr>
          <a:xfrm>
            <a:off x="384048" y="1225296"/>
            <a:ext cx="11420856" cy="365760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ES" sz="1600" dirty="0"/>
              <a:t>Antes de pedir código, escribimos qué queremos y por qué</a:t>
            </a:r>
          </a:p>
        </p:txBody>
      </p:sp>
      <p:sp>
        <p:nvSpPr>
          <p:cNvPr id="5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4905D8D-DAD1-41D9-A1D2-A2E8F869D5EB}" type="slidenum">
              <a:rPr lang="es-ES" dirty="0"/>
              <a:pPr algn="ctr"/>
              <a:t>5</a:t>
            </a:fld>
            <a:endParaRPr lang="es-ES" dirty="0"/>
          </a:p>
        </p:txBody>
      </p:sp>
      <p:sp>
        <p:nvSpPr>
          <p:cNvPr id="6" name="Card La spec"/>
          <p:cNvSpPr/>
          <p:nvPr/>
        </p:nvSpPr>
        <p:spPr>
          <a:xfrm>
            <a:off x="384048" y="1783080"/>
            <a:ext cx="3566160" cy="3749040"/>
          </a:xfrm>
          <a:prstGeom prst="roundRect">
            <a:avLst>
              <a:gd name="adj" fmla="val 3589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Numeral 01"/>
          <p:cNvSpPr txBox="1"/>
          <p:nvPr/>
        </p:nvSpPr>
        <p:spPr>
          <a:xfrm>
            <a:off x="704088" y="1984248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>
                <a:solidFill>
                  <a:srgbClr val="0072BC"/>
                </a:solidFill>
                <a:latin typeface="+mj-lt"/>
                <a:cs typeface="+mj-lt"/>
              </a:rPr>
              <a:t>01</a:t>
            </a:r>
          </a:p>
        </p:txBody>
      </p:sp>
      <p:sp>
        <p:nvSpPr>
          <p:cNvPr id="8" name="filetext circle"/>
          <p:cNvSpPr/>
          <p:nvPr/>
        </p:nvSpPr>
        <p:spPr>
          <a:xfrm>
            <a:off x="3118104" y="2075688"/>
            <a:ext cx="512064" cy="512064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9" name="filetext icon" descr="filetex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758" y="2188342"/>
            <a:ext cx="286756" cy="286756"/>
          </a:xfrm>
          <a:prstGeom prst="rect">
            <a:avLst/>
          </a:prstGeom>
        </p:spPr>
      </p:pic>
      <p:sp>
        <p:nvSpPr>
          <p:cNvPr id="10" name="Title La spec"/>
          <p:cNvSpPr txBox="1"/>
          <p:nvPr/>
        </p:nvSpPr>
        <p:spPr>
          <a:xfrm>
            <a:off x="704088" y="30175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070F26"/>
                </a:solidFill>
                <a:latin typeface="+mn-lt"/>
                <a:cs typeface="+mn-lt"/>
              </a:rPr>
              <a:t>La spec</a:t>
            </a:r>
          </a:p>
        </p:txBody>
      </p:sp>
      <p:sp>
        <p:nvSpPr>
          <p:cNvPr id="11" name="What La spec"/>
          <p:cNvSpPr txBox="1"/>
          <p:nvPr/>
        </p:nvSpPr>
        <p:spPr>
          <a:xfrm>
            <a:off x="704088" y="356616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i="1" dirty="0">
                <a:solidFill>
                  <a:srgbClr val="0072BC"/>
                </a:solidFill>
                <a:latin typeface="+mj-lt"/>
                <a:cs typeface="+mj-lt"/>
              </a:rPr>
              <a:t>qué y por qué</a:t>
            </a:r>
          </a:p>
        </p:txBody>
      </p:sp>
      <p:sp>
        <p:nvSpPr>
          <p:cNvPr id="12" name="Pill la decides tú"/>
          <p:cNvSpPr/>
          <p:nvPr/>
        </p:nvSpPr>
        <p:spPr>
          <a:xfrm>
            <a:off x="704088" y="4663440"/>
            <a:ext cx="172534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rnd">
            <a:solidFill>
              <a:srgbClr val="E3E9F0"/>
            </a:solidFill>
            <a:round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3" name="us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758080"/>
            <a:ext cx="231343" cy="231343"/>
          </a:xfrm>
          <a:prstGeom prst="rect">
            <a:avLst/>
          </a:prstGeom>
        </p:spPr>
      </p:pic>
      <p:sp>
        <p:nvSpPr>
          <p:cNvPr id="14" name="Pill text la decides tú"/>
          <p:cNvSpPr txBox="1"/>
          <p:nvPr/>
        </p:nvSpPr>
        <p:spPr>
          <a:xfrm>
            <a:off x="1228039" y="4663440"/>
            <a:ext cx="104594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72BC"/>
                </a:solidFill>
                <a:latin typeface="+mn-lt"/>
                <a:cs typeface="+mn-lt"/>
              </a:rPr>
              <a:t>la decides tú</a:t>
            </a:r>
          </a:p>
        </p:txBody>
      </p:sp>
      <p:sp>
        <p:nvSpPr>
          <p:cNvPr id="15" name="Chevron"/>
          <p:cNvSpPr/>
          <p:nvPr/>
        </p:nvSpPr>
        <p:spPr>
          <a:xfrm>
            <a:off x="3975354" y="3429000"/>
            <a:ext cx="237744" cy="457200"/>
          </a:xfrm>
          <a:prstGeom prst="chevron">
            <a:avLst/>
          </a:prstGeom>
          <a:solidFill>
            <a:srgbClr val="19A3F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Card El código"/>
          <p:cNvSpPr/>
          <p:nvPr/>
        </p:nvSpPr>
        <p:spPr>
          <a:xfrm>
            <a:off x="4311396" y="1783080"/>
            <a:ext cx="3566160" cy="3749040"/>
          </a:xfrm>
          <a:prstGeom prst="roundRect">
            <a:avLst>
              <a:gd name="adj" fmla="val 3589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Numeral 02"/>
          <p:cNvSpPr txBox="1"/>
          <p:nvPr/>
        </p:nvSpPr>
        <p:spPr>
          <a:xfrm>
            <a:off x="4631436" y="1984248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>
                <a:solidFill>
                  <a:srgbClr val="0072BC"/>
                </a:solidFill>
                <a:latin typeface="+mj-lt"/>
                <a:cs typeface="+mj-lt"/>
              </a:rPr>
              <a:t>02</a:t>
            </a:r>
          </a:p>
        </p:txBody>
      </p:sp>
      <p:sp>
        <p:nvSpPr>
          <p:cNvPr id="18" name="code circle"/>
          <p:cNvSpPr/>
          <p:nvPr/>
        </p:nvSpPr>
        <p:spPr>
          <a:xfrm>
            <a:off x="7045452" y="2075688"/>
            <a:ext cx="512064" cy="512064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9" name="code icon" descr="cod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8106" y="2188342"/>
            <a:ext cx="286756" cy="286756"/>
          </a:xfrm>
          <a:prstGeom prst="rect">
            <a:avLst/>
          </a:prstGeom>
        </p:spPr>
      </p:pic>
      <p:sp>
        <p:nvSpPr>
          <p:cNvPr id="20" name="Title El código"/>
          <p:cNvSpPr txBox="1"/>
          <p:nvPr/>
        </p:nvSpPr>
        <p:spPr>
          <a:xfrm>
            <a:off x="4631436" y="30175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070F26"/>
                </a:solidFill>
                <a:latin typeface="+mn-lt"/>
                <a:cs typeface="+mn-lt"/>
              </a:rPr>
              <a:t>El código</a:t>
            </a:r>
          </a:p>
        </p:txBody>
      </p:sp>
      <p:sp>
        <p:nvSpPr>
          <p:cNvPr id="21" name="What El código"/>
          <p:cNvSpPr txBox="1"/>
          <p:nvPr/>
        </p:nvSpPr>
        <p:spPr>
          <a:xfrm>
            <a:off x="4631436" y="356616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i="1" dirty="0">
                <a:solidFill>
                  <a:srgbClr val="0072BC"/>
                </a:solidFill>
                <a:latin typeface="+mj-lt"/>
                <a:cs typeface="+mj-lt"/>
              </a:rPr>
              <a:t>cómo</a:t>
            </a:r>
          </a:p>
        </p:txBody>
      </p:sp>
      <p:sp>
        <p:nvSpPr>
          <p:cNvPr id="22" name="Pill lo escribe el agente"/>
          <p:cNvSpPr/>
          <p:nvPr/>
        </p:nvSpPr>
        <p:spPr>
          <a:xfrm>
            <a:off x="4631436" y="4663440"/>
            <a:ext cx="225770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rnd">
            <a:solidFill>
              <a:srgbClr val="E3E9F0"/>
            </a:solidFill>
            <a:round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23" name="bo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2604" y="4758080"/>
            <a:ext cx="231343" cy="231343"/>
          </a:xfrm>
          <a:prstGeom prst="rect">
            <a:avLst/>
          </a:prstGeom>
        </p:spPr>
      </p:pic>
      <p:sp>
        <p:nvSpPr>
          <p:cNvPr id="24" name="Pill text lo escribe el agente"/>
          <p:cNvSpPr txBox="1"/>
          <p:nvPr/>
        </p:nvSpPr>
        <p:spPr>
          <a:xfrm>
            <a:off x="5155387" y="4663440"/>
            <a:ext cx="1578302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72BC"/>
                </a:solidFill>
                <a:latin typeface="+mn-lt"/>
                <a:cs typeface="+mn-lt"/>
              </a:rPr>
              <a:t>lo escribe el agente</a:t>
            </a:r>
          </a:p>
        </p:txBody>
      </p:sp>
      <p:sp>
        <p:nvSpPr>
          <p:cNvPr id="25" name="Chevron"/>
          <p:cNvSpPr/>
          <p:nvPr/>
        </p:nvSpPr>
        <p:spPr>
          <a:xfrm>
            <a:off x="7902702" y="3429000"/>
            <a:ext cx="237744" cy="457200"/>
          </a:xfrm>
          <a:prstGeom prst="chevron">
            <a:avLst/>
          </a:prstGeom>
          <a:solidFill>
            <a:srgbClr val="19A3F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Card La revisión"/>
          <p:cNvSpPr/>
          <p:nvPr/>
        </p:nvSpPr>
        <p:spPr>
          <a:xfrm>
            <a:off x="8238744" y="1783080"/>
            <a:ext cx="3566160" cy="3749040"/>
          </a:xfrm>
          <a:prstGeom prst="roundRect">
            <a:avLst>
              <a:gd name="adj" fmla="val 3589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7" name="Numeral 03"/>
          <p:cNvSpPr txBox="1"/>
          <p:nvPr/>
        </p:nvSpPr>
        <p:spPr>
          <a:xfrm>
            <a:off x="8558784" y="1984248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>
                <a:solidFill>
                  <a:srgbClr val="0072BC"/>
                </a:solidFill>
                <a:latin typeface="+mj-lt"/>
                <a:cs typeface="+mj-lt"/>
              </a:rPr>
              <a:t>03</a:t>
            </a:r>
          </a:p>
        </p:txBody>
      </p:sp>
      <p:sp>
        <p:nvSpPr>
          <p:cNvPr id="28" name="clipboard circle"/>
          <p:cNvSpPr/>
          <p:nvPr/>
        </p:nvSpPr>
        <p:spPr>
          <a:xfrm>
            <a:off x="10972800" y="2075688"/>
            <a:ext cx="512064" cy="512064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29" name="clipboard icon" descr="clipboar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5454" y="2188342"/>
            <a:ext cx="286756" cy="286756"/>
          </a:xfrm>
          <a:prstGeom prst="rect">
            <a:avLst/>
          </a:prstGeom>
        </p:spPr>
      </p:pic>
      <p:sp>
        <p:nvSpPr>
          <p:cNvPr id="30" name="Title La revisión"/>
          <p:cNvSpPr txBox="1"/>
          <p:nvPr/>
        </p:nvSpPr>
        <p:spPr>
          <a:xfrm>
            <a:off x="8558784" y="30175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070F26"/>
                </a:solidFill>
                <a:latin typeface="+mn-lt"/>
                <a:cs typeface="+mn-lt"/>
              </a:rPr>
              <a:t>La revisión</a:t>
            </a:r>
          </a:p>
        </p:txBody>
      </p:sp>
      <p:sp>
        <p:nvSpPr>
          <p:cNvPr id="31" name="What La revisión"/>
          <p:cNvSpPr txBox="1"/>
          <p:nvPr/>
        </p:nvSpPr>
        <p:spPr>
          <a:xfrm>
            <a:off x="8558784" y="356616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i="1" dirty="0">
                <a:solidFill>
                  <a:srgbClr val="0072BC"/>
                </a:solidFill>
                <a:latin typeface="+mj-lt"/>
                <a:cs typeface="+mj-lt"/>
              </a:rPr>
              <a:t>contra la spec</a:t>
            </a:r>
          </a:p>
        </p:txBody>
      </p:sp>
      <p:sp>
        <p:nvSpPr>
          <p:cNvPr id="32" name="Pill la haces tú"/>
          <p:cNvSpPr/>
          <p:nvPr/>
        </p:nvSpPr>
        <p:spPr>
          <a:xfrm>
            <a:off x="8558784" y="4663440"/>
            <a:ext cx="1578599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rnd">
            <a:solidFill>
              <a:srgbClr val="E3E9F0"/>
            </a:solidFill>
            <a:round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33" name="us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4758080"/>
            <a:ext cx="231343" cy="231343"/>
          </a:xfrm>
          <a:prstGeom prst="rect">
            <a:avLst/>
          </a:prstGeom>
        </p:spPr>
      </p:pic>
      <p:sp>
        <p:nvSpPr>
          <p:cNvPr id="34" name="Pill text la haces tú"/>
          <p:cNvSpPr txBox="1"/>
          <p:nvPr/>
        </p:nvSpPr>
        <p:spPr>
          <a:xfrm>
            <a:off x="9082735" y="4663440"/>
            <a:ext cx="89920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072BC"/>
                </a:solidFill>
                <a:latin typeface="+mn-lt"/>
                <a:cs typeface="+mn-lt"/>
              </a:rPr>
              <a:t>la haces tú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384048" y="3840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02 · LA IDEA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384048" y="621792"/>
            <a:ext cx="11420856" cy="566928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3200" dirty="0"/>
              <a:t>No es nuevo: es el ciclo de siempre</a:t>
            </a:r>
          </a:p>
        </p:txBody>
      </p:sp>
      <p:sp>
        <p:nvSpPr>
          <p:cNvPr id="4" name="Subtitle 4"/>
          <p:cNvSpPr>
            <a:spLocks noGrp="1"/>
          </p:cNvSpPr>
          <p:nvPr>
            <p:ph type="body" sz="quarter" idx="13"/>
          </p:nvPr>
        </p:nvSpPr>
        <p:spPr>
          <a:xfrm>
            <a:off x="384048" y="1225296"/>
            <a:ext cx="11420856" cy="365760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ES" sz="1600" dirty="0"/>
              <a:t>Lo único que cambia es quién implementa</a:t>
            </a:r>
          </a:p>
        </p:txBody>
      </p:sp>
      <p:sp>
        <p:nvSpPr>
          <p:cNvPr id="5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017B39E-105F-4E42-9C9E-AE29ADF48313}" type="slidenum">
              <a:rPr lang="es-ES" dirty="0"/>
              <a:pPr algn="ctr"/>
              <a:t>6</a:t>
            </a:fld>
            <a:endParaRPr lang="es-ES" dirty="0"/>
          </a:p>
        </p:txBody>
      </p:sp>
      <p:sp>
        <p:nvSpPr>
          <p:cNvPr id="6" name="Header classic"/>
          <p:cNvSpPr txBox="1"/>
          <p:nvPr/>
        </p:nvSpPr>
        <p:spPr>
          <a:xfrm>
            <a:off x="658368" y="1783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2E404D"/>
                </a:solidFill>
                <a:latin typeface="+mn-lt"/>
                <a:cs typeface="+mn-lt"/>
              </a:rPr>
              <a:t>CICLO CLÁSICO</a:t>
            </a:r>
          </a:p>
        </p:txBody>
      </p:sp>
      <p:sp>
        <p:nvSpPr>
          <p:cNvPr id="7" name="Header sdd"/>
          <p:cNvSpPr txBox="1"/>
          <p:nvPr/>
        </p:nvSpPr>
        <p:spPr>
          <a:xfrm>
            <a:off x="6629400" y="1783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CON SDD</a:t>
            </a:r>
          </a:p>
        </p:txBody>
      </p:sp>
      <p:sp>
        <p:nvSpPr>
          <p:cNvPr id="8" name="Classic Planificación"/>
          <p:cNvSpPr/>
          <p:nvPr/>
        </p:nvSpPr>
        <p:spPr>
          <a:xfrm>
            <a:off x="384048" y="2167128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lassic text Planificación"/>
          <p:cNvSpPr txBox="1"/>
          <p:nvPr/>
        </p:nvSpPr>
        <p:spPr>
          <a:xfrm>
            <a:off x="658368" y="216712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2E404D"/>
                </a:solidFill>
                <a:latin typeface="+mn-lt"/>
                <a:cs typeface="+mn-lt"/>
              </a:rPr>
              <a:t>Planificación</a:t>
            </a:r>
          </a:p>
        </p:txBody>
      </p:sp>
      <p:cxnSp>
        <p:nvCxnSpPr>
          <p:cNvPr id="10" name="Arrow"/>
          <p:cNvCxnSpPr/>
          <p:nvPr/>
        </p:nvCxnSpPr>
        <p:spPr>
          <a:xfrm>
            <a:off x="5431536" y="2395728"/>
            <a:ext cx="722376" cy="0"/>
          </a:xfrm>
          <a:prstGeom prst="line">
            <a:avLst/>
          </a:prstGeom>
          <a:ln w="22225" cap="rnd">
            <a:solidFill>
              <a:srgbClr val="19A3FC"/>
            </a:solidFill>
            <a:tailEnd type="triangle" w="med" len="med"/>
          </a:ln>
        </p:spPr>
      </p:cxnSp>
      <p:sp>
        <p:nvSpPr>
          <p:cNvPr id="11" name="SDD Constitución"/>
          <p:cNvSpPr/>
          <p:nvPr/>
        </p:nvSpPr>
        <p:spPr>
          <a:xfrm>
            <a:off x="6355080" y="2167128"/>
            <a:ext cx="5449824" cy="457200"/>
          </a:xfrm>
          <a:prstGeom prst="roundRect">
            <a:avLst>
              <a:gd name="adj" fmla="val 20000"/>
            </a:avLst>
          </a:prstGeom>
          <a:solidFill>
            <a:srgbClr val="E6F2FB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SDD text Constitución"/>
          <p:cNvSpPr txBox="1"/>
          <p:nvPr/>
        </p:nvSpPr>
        <p:spPr>
          <a:xfrm>
            <a:off x="6629400" y="2167128"/>
            <a:ext cx="490118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Constitución</a:t>
            </a:r>
          </a:p>
        </p:txBody>
      </p:sp>
      <p:sp>
        <p:nvSpPr>
          <p:cNvPr id="13" name="Classic Análisis de requisitos"/>
          <p:cNvSpPr/>
          <p:nvPr/>
        </p:nvSpPr>
        <p:spPr>
          <a:xfrm>
            <a:off x="384048" y="2715768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Classic text Análisis de requisitos"/>
          <p:cNvSpPr txBox="1"/>
          <p:nvPr/>
        </p:nvSpPr>
        <p:spPr>
          <a:xfrm>
            <a:off x="658368" y="271576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2E404D"/>
                </a:solidFill>
                <a:latin typeface="+mn-lt"/>
                <a:cs typeface="+mn-lt"/>
              </a:rPr>
              <a:t>Análisis de requisitos</a:t>
            </a:r>
          </a:p>
        </p:txBody>
      </p:sp>
      <p:cxnSp>
        <p:nvCxnSpPr>
          <p:cNvPr id="15" name="Arrow"/>
          <p:cNvCxnSpPr/>
          <p:nvPr/>
        </p:nvCxnSpPr>
        <p:spPr>
          <a:xfrm>
            <a:off x="5431536" y="2944368"/>
            <a:ext cx="722376" cy="0"/>
          </a:xfrm>
          <a:prstGeom prst="line">
            <a:avLst/>
          </a:prstGeom>
          <a:ln w="22225" cap="rnd">
            <a:solidFill>
              <a:srgbClr val="19A3FC"/>
            </a:solidFill>
            <a:tailEnd type="triangle" w="med" len="med"/>
          </a:ln>
        </p:spPr>
      </p:cxnSp>
      <p:sp>
        <p:nvSpPr>
          <p:cNvPr id="16" name="SDD Spec"/>
          <p:cNvSpPr/>
          <p:nvPr/>
        </p:nvSpPr>
        <p:spPr>
          <a:xfrm>
            <a:off x="6355080" y="2715768"/>
            <a:ext cx="5449824" cy="457200"/>
          </a:xfrm>
          <a:prstGeom prst="roundRect">
            <a:avLst>
              <a:gd name="adj" fmla="val 20000"/>
            </a:avLst>
          </a:prstGeom>
          <a:solidFill>
            <a:srgbClr val="E6F2FB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SDD text Spec"/>
          <p:cNvSpPr txBox="1"/>
          <p:nvPr/>
        </p:nvSpPr>
        <p:spPr>
          <a:xfrm>
            <a:off x="6629400" y="2715768"/>
            <a:ext cx="490118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Spec</a:t>
            </a:r>
          </a:p>
        </p:txBody>
      </p:sp>
      <p:sp>
        <p:nvSpPr>
          <p:cNvPr id="18" name="Classic Diseño"/>
          <p:cNvSpPr/>
          <p:nvPr/>
        </p:nvSpPr>
        <p:spPr>
          <a:xfrm>
            <a:off x="384048" y="3264408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Classic text Diseño"/>
          <p:cNvSpPr txBox="1"/>
          <p:nvPr/>
        </p:nvSpPr>
        <p:spPr>
          <a:xfrm>
            <a:off x="658368" y="326440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2E404D"/>
                </a:solidFill>
                <a:latin typeface="+mn-lt"/>
                <a:cs typeface="+mn-lt"/>
              </a:rPr>
              <a:t>Diseño</a:t>
            </a:r>
          </a:p>
        </p:txBody>
      </p:sp>
      <p:cxnSp>
        <p:nvCxnSpPr>
          <p:cNvPr id="20" name="Arrow"/>
          <p:cNvCxnSpPr/>
          <p:nvPr/>
        </p:nvCxnSpPr>
        <p:spPr>
          <a:xfrm>
            <a:off x="5431536" y="3493008"/>
            <a:ext cx="722376" cy="0"/>
          </a:xfrm>
          <a:prstGeom prst="line">
            <a:avLst/>
          </a:prstGeom>
          <a:ln w="22225" cap="rnd">
            <a:solidFill>
              <a:srgbClr val="19A3FC"/>
            </a:solidFill>
            <a:tailEnd type="triangle" w="med" len="med"/>
          </a:ln>
        </p:spPr>
      </p:cxnSp>
      <p:sp>
        <p:nvSpPr>
          <p:cNvPr id="21" name="SDD Plan técnico"/>
          <p:cNvSpPr/>
          <p:nvPr/>
        </p:nvSpPr>
        <p:spPr>
          <a:xfrm>
            <a:off x="6355080" y="3264408"/>
            <a:ext cx="5449824" cy="457200"/>
          </a:xfrm>
          <a:prstGeom prst="roundRect">
            <a:avLst>
              <a:gd name="adj" fmla="val 20000"/>
            </a:avLst>
          </a:prstGeom>
          <a:solidFill>
            <a:srgbClr val="E6F2FB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SDD text Plan técnico"/>
          <p:cNvSpPr txBox="1"/>
          <p:nvPr/>
        </p:nvSpPr>
        <p:spPr>
          <a:xfrm>
            <a:off x="6629400" y="3264408"/>
            <a:ext cx="490118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Plan técnico</a:t>
            </a:r>
          </a:p>
        </p:txBody>
      </p:sp>
      <p:sp>
        <p:nvSpPr>
          <p:cNvPr id="23" name="Classic Desglose del trabajo"/>
          <p:cNvSpPr/>
          <p:nvPr/>
        </p:nvSpPr>
        <p:spPr>
          <a:xfrm>
            <a:off x="384048" y="3813048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Classic text Desglose del trabajo"/>
          <p:cNvSpPr txBox="1"/>
          <p:nvPr/>
        </p:nvSpPr>
        <p:spPr>
          <a:xfrm>
            <a:off x="658368" y="381304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2E404D"/>
                </a:solidFill>
                <a:latin typeface="+mn-lt"/>
                <a:cs typeface="+mn-lt"/>
              </a:rPr>
              <a:t>Desglose del trabajo</a:t>
            </a:r>
          </a:p>
        </p:txBody>
      </p:sp>
      <p:cxnSp>
        <p:nvCxnSpPr>
          <p:cNvPr id="25" name="Arrow"/>
          <p:cNvCxnSpPr/>
          <p:nvPr/>
        </p:nvCxnSpPr>
        <p:spPr>
          <a:xfrm>
            <a:off x="5431536" y="4041648"/>
            <a:ext cx="722376" cy="0"/>
          </a:xfrm>
          <a:prstGeom prst="line">
            <a:avLst/>
          </a:prstGeom>
          <a:ln w="22225" cap="rnd">
            <a:solidFill>
              <a:srgbClr val="19A3FC"/>
            </a:solidFill>
            <a:tailEnd type="triangle" w="med" len="med"/>
          </a:ln>
        </p:spPr>
      </p:cxnSp>
      <p:sp>
        <p:nvSpPr>
          <p:cNvPr id="26" name="SDD Tareas"/>
          <p:cNvSpPr/>
          <p:nvPr/>
        </p:nvSpPr>
        <p:spPr>
          <a:xfrm>
            <a:off x="6355080" y="3813048"/>
            <a:ext cx="5449824" cy="457200"/>
          </a:xfrm>
          <a:prstGeom prst="roundRect">
            <a:avLst>
              <a:gd name="adj" fmla="val 20000"/>
            </a:avLst>
          </a:prstGeom>
          <a:solidFill>
            <a:srgbClr val="E6F2FB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7" name="SDD text Tareas"/>
          <p:cNvSpPr txBox="1"/>
          <p:nvPr/>
        </p:nvSpPr>
        <p:spPr>
          <a:xfrm>
            <a:off x="6629400" y="3813048"/>
            <a:ext cx="490118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Tareas</a:t>
            </a:r>
          </a:p>
        </p:txBody>
      </p:sp>
      <p:sp>
        <p:nvSpPr>
          <p:cNvPr id="28" name="Classic Implementación"/>
          <p:cNvSpPr/>
          <p:nvPr/>
        </p:nvSpPr>
        <p:spPr>
          <a:xfrm>
            <a:off x="384048" y="4361688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9" name="Classic text Implementación"/>
          <p:cNvSpPr txBox="1"/>
          <p:nvPr/>
        </p:nvSpPr>
        <p:spPr>
          <a:xfrm>
            <a:off x="658368" y="436168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70F26"/>
                </a:solidFill>
                <a:latin typeface="+mn-lt"/>
                <a:cs typeface="+mn-lt"/>
              </a:rPr>
              <a:t>Implementación</a:t>
            </a:r>
          </a:p>
        </p:txBody>
      </p:sp>
      <p:cxnSp>
        <p:nvCxnSpPr>
          <p:cNvPr id="30" name="Arrow"/>
          <p:cNvCxnSpPr/>
          <p:nvPr/>
        </p:nvCxnSpPr>
        <p:spPr>
          <a:xfrm>
            <a:off x="5431536" y="4590288"/>
            <a:ext cx="722376" cy="0"/>
          </a:xfrm>
          <a:prstGeom prst="line">
            <a:avLst/>
          </a:prstGeom>
          <a:ln w="22225" cap="rnd">
            <a:solidFill>
              <a:srgbClr val="0072BC"/>
            </a:solidFill>
            <a:tailEnd type="triangle" w="med" len="med"/>
          </a:ln>
        </p:spPr>
      </p:cxnSp>
      <p:sp>
        <p:nvSpPr>
          <p:cNvPr id="31" name="SDD El agente implementa"/>
          <p:cNvSpPr/>
          <p:nvPr/>
        </p:nvSpPr>
        <p:spPr>
          <a:xfrm>
            <a:off x="6355080" y="4361688"/>
            <a:ext cx="5449824" cy="457200"/>
          </a:xfrm>
          <a:prstGeom prst="roundRect">
            <a:avLst>
              <a:gd name="adj" fmla="val 20000"/>
            </a:avLst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2" name="SDD text El agente implementa"/>
          <p:cNvSpPr txBox="1"/>
          <p:nvPr/>
        </p:nvSpPr>
        <p:spPr>
          <a:xfrm>
            <a:off x="6629400" y="4361688"/>
            <a:ext cx="490118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FFFF"/>
                </a:solidFill>
                <a:latin typeface="+mn-lt"/>
                <a:cs typeface="+mn-lt"/>
              </a:rPr>
              <a:t>El agente implementa</a:t>
            </a:r>
          </a:p>
        </p:txBody>
      </p:sp>
      <p:sp>
        <p:nvSpPr>
          <p:cNvPr id="33" name="Classic Testing y QA"/>
          <p:cNvSpPr/>
          <p:nvPr/>
        </p:nvSpPr>
        <p:spPr>
          <a:xfrm>
            <a:off x="384048" y="4910328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4" name="Classic text Testing y QA"/>
          <p:cNvSpPr txBox="1"/>
          <p:nvPr/>
        </p:nvSpPr>
        <p:spPr>
          <a:xfrm>
            <a:off x="658368" y="491032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2E404D"/>
                </a:solidFill>
                <a:latin typeface="+mn-lt"/>
                <a:cs typeface="+mn-lt"/>
              </a:rPr>
              <a:t>Testing y QA</a:t>
            </a:r>
          </a:p>
        </p:txBody>
      </p:sp>
      <p:cxnSp>
        <p:nvCxnSpPr>
          <p:cNvPr id="35" name="Arrow"/>
          <p:cNvCxnSpPr/>
          <p:nvPr/>
        </p:nvCxnSpPr>
        <p:spPr>
          <a:xfrm>
            <a:off x="5431536" y="5138928"/>
            <a:ext cx="722376" cy="0"/>
          </a:xfrm>
          <a:prstGeom prst="line">
            <a:avLst/>
          </a:prstGeom>
          <a:ln w="22225" cap="rnd">
            <a:solidFill>
              <a:srgbClr val="19A3FC"/>
            </a:solidFill>
            <a:tailEnd type="triangle" w="med" len="med"/>
          </a:ln>
        </p:spPr>
      </p:cxnSp>
      <p:sp>
        <p:nvSpPr>
          <p:cNvPr id="36" name="SDD Validación contra la spec"/>
          <p:cNvSpPr/>
          <p:nvPr/>
        </p:nvSpPr>
        <p:spPr>
          <a:xfrm>
            <a:off x="6355080" y="4910328"/>
            <a:ext cx="5449824" cy="457200"/>
          </a:xfrm>
          <a:prstGeom prst="roundRect">
            <a:avLst>
              <a:gd name="adj" fmla="val 20000"/>
            </a:avLst>
          </a:prstGeom>
          <a:solidFill>
            <a:srgbClr val="E6F2FB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7" name="SDD text Validación contra la spec"/>
          <p:cNvSpPr txBox="1"/>
          <p:nvPr/>
        </p:nvSpPr>
        <p:spPr>
          <a:xfrm>
            <a:off x="6629400" y="4910328"/>
            <a:ext cx="490118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Validación contra la spec</a:t>
            </a:r>
          </a:p>
        </p:txBody>
      </p:sp>
      <p:sp>
        <p:nvSpPr>
          <p:cNvPr id="38" name="Classic Mantenimiento"/>
          <p:cNvSpPr/>
          <p:nvPr/>
        </p:nvSpPr>
        <p:spPr>
          <a:xfrm>
            <a:off x="384048" y="5458968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9" name="Classic text Mantenimiento"/>
          <p:cNvSpPr txBox="1"/>
          <p:nvPr/>
        </p:nvSpPr>
        <p:spPr>
          <a:xfrm>
            <a:off x="658368" y="545896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2E404D"/>
                </a:solidFill>
                <a:latin typeface="+mn-lt"/>
                <a:cs typeface="+mn-lt"/>
              </a:rPr>
              <a:t>Mantenimiento</a:t>
            </a:r>
          </a:p>
        </p:txBody>
      </p:sp>
      <p:cxnSp>
        <p:nvCxnSpPr>
          <p:cNvPr id="40" name="Arrow"/>
          <p:cNvCxnSpPr/>
          <p:nvPr/>
        </p:nvCxnSpPr>
        <p:spPr>
          <a:xfrm>
            <a:off x="5431536" y="5687568"/>
            <a:ext cx="722376" cy="0"/>
          </a:xfrm>
          <a:prstGeom prst="line">
            <a:avLst/>
          </a:prstGeom>
          <a:ln w="22225" cap="rnd">
            <a:solidFill>
              <a:srgbClr val="19A3FC"/>
            </a:solidFill>
            <a:tailEnd type="triangle" w="med" len="med"/>
          </a:ln>
        </p:spPr>
      </p:cxnSp>
      <p:sp>
        <p:nvSpPr>
          <p:cNvPr id="41" name="SDD Cambios que empiezan en la spec"/>
          <p:cNvSpPr/>
          <p:nvPr/>
        </p:nvSpPr>
        <p:spPr>
          <a:xfrm>
            <a:off x="6355080" y="5458968"/>
            <a:ext cx="5449824" cy="457200"/>
          </a:xfrm>
          <a:prstGeom prst="roundRect">
            <a:avLst>
              <a:gd name="adj" fmla="val 20000"/>
            </a:avLst>
          </a:prstGeom>
          <a:solidFill>
            <a:srgbClr val="E6F2FB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2" name="SDD text Cambios que empiezan en la spec"/>
          <p:cNvSpPr txBox="1"/>
          <p:nvPr/>
        </p:nvSpPr>
        <p:spPr>
          <a:xfrm>
            <a:off x="6629400" y="5458968"/>
            <a:ext cx="4901184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Cambios que empiezan en la spec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384048" y="3840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19A3FC"/>
                </a:solidFill>
                <a:latin typeface="+mn-lt"/>
                <a:cs typeface="+mn-lt"/>
              </a:rPr>
              <a:t>02 · LA IDEA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384048" y="621792"/>
            <a:ext cx="11420856" cy="566928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3200" dirty="0"/>
              <a:t>La idea en una frase</a:t>
            </a:r>
          </a:p>
        </p:txBody>
      </p:sp>
      <p:sp>
        <p:nvSpPr>
          <p:cNvPr id="4" name="Slide Numb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C7C602F-0968-4E25-9F07-DC0DC70C1398}" type="slidenum">
              <a:rPr lang="es-ES" dirty="0"/>
              <a:pPr algn="ctr"/>
              <a:t>7</a:t>
            </a:fld>
            <a:endParaRPr lang="es-ES" dirty="0"/>
          </a:p>
        </p:txBody>
      </p:sp>
      <p:pic>
        <p:nvPicPr>
          <p:cNvPr id="5" name="Dot pattern" descr="Trama de pun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43200"/>
            <a:ext cx="3840480" cy="3840480"/>
          </a:xfrm>
          <a:prstGeom prst="rect">
            <a:avLst/>
          </a:prstGeom>
        </p:spPr>
      </p:pic>
      <p:sp>
        <p:nvSpPr>
          <p:cNvPr id="6" name="Quote mark"/>
          <p:cNvSpPr txBox="1"/>
          <p:nvPr/>
        </p:nvSpPr>
        <p:spPr>
          <a:xfrm>
            <a:off x="338328" y="2148840"/>
            <a:ext cx="1005840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0" dirty="0">
                <a:solidFill>
                  <a:srgbClr val="19A3FC"/>
                </a:solidFill>
                <a:latin typeface="+mj-lt"/>
                <a:cs typeface="+mj-lt"/>
              </a:rPr>
              <a:t>“</a:t>
            </a:r>
          </a:p>
        </p:txBody>
      </p:sp>
      <p:sp>
        <p:nvSpPr>
          <p:cNvPr id="7" name="Quote"/>
          <p:cNvSpPr txBox="1"/>
          <p:nvPr/>
        </p:nvSpPr>
        <p:spPr>
          <a:xfrm>
            <a:off x="1344168" y="2514600"/>
            <a:ext cx="10094976" cy="2194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ES" sz="4000" dirty="0">
                <a:solidFill>
                  <a:srgbClr val="FFFFFF"/>
                </a:solidFill>
                <a:latin typeface="+mj-lt"/>
                <a:cs typeface="+mj-lt"/>
              </a:rPr>
              <a:t>La IA no elimina la ingeniería de software.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 dirty="0">
                <a:solidFill>
                  <a:srgbClr val="19A3FC"/>
                </a:solidFill>
                <a:latin typeface="+mj-lt"/>
                <a:cs typeface="+mj-lt"/>
              </a:rPr>
              <a:t>La lleva a la especificación.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384048" y="3840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02 · LA IDEA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384048" y="621792"/>
            <a:ext cx="11420856" cy="566928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3200" dirty="0"/>
              <a:t>Tres tipos de SDD</a:t>
            </a:r>
          </a:p>
        </p:txBody>
      </p:sp>
      <p:sp>
        <p:nvSpPr>
          <p:cNvPr id="4" name="Subtitle 4"/>
          <p:cNvSpPr>
            <a:spLocks noGrp="1"/>
          </p:cNvSpPr>
          <p:nvPr>
            <p:ph type="body" sz="quarter" idx="13"/>
          </p:nvPr>
        </p:nvSpPr>
        <p:spPr>
          <a:xfrm>
            <a:off x="384048" y="1225296"/>
            <a:ext cx="11420856" cy="365760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ES" sz="1600" dirty="0"/>
              <a:t>La diferencia: qué pasa con la spec cuando el código ya existe</a:t>
            </a:r>
          </a:p>
        </p:txBody>
      </p:sp>
      <p:sp>
        <p:nvSpPr>
          <p:cNvPr id="5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2B5DA38-A919-48A1-8753-B24BFC7E795C}" type="slidenum">
              <a:rPr lang="es-ES" dirty="0"/>
              <a:pPr algn="ctr"/>
              <a:t>8</a:t>
            </a:fld>
            <a:endParaRPr lang="es-ES" dirty="0"/>
          </a:p>
        </p:txBody>
      </p:sp>
      <p:sp>
        <p:nvSpPr>
          <p:cNvPr id="6" name="Card Spec-first"/>
          <p:cNvSpPr/>
          <p:nvPr/>
        </p:nvSpPr>
        <p:spPr>
          <a:xfrm>
            <a:off x="384048" y="1783080"/>
            <a:ext cx="3566160" cy="3886200"/>
          </a:xfrm>
          <a:prstGeom prst="roundRect">
            <a:avLst>
              <a:gd name="adj" fmla="val 3589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flag circle"/>
          <p:cNvSpPr/>
          <p:nvPr/>
        </p:nvSpPr>
        <p:spPr>
          <a:xfrm>
            <a:off x="704088" y="2103120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8" name="flag icon" descr="fla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95" y="2207727"/>
            <a:ext cx="266273" cy="266273"/>
          </a:xfrm>
          <a:prstGeom prst="rect">
            <a:avLst/>
          </a:prstGeom>
        </p:spPr>
      </p:pic>
      <p:sp>
        <p:nvSpPr>
          <p:cNvPr id="9" name="Pill Recomendado"/>
          <p:cNvSpPr/>
          <p:nvPr/>
        </p:nvSpPr>
        <p:spPr>
          <a:xfrm>
            <a:off x="2265311" y="2185416"/>
            <a:ext cx="1364857" cy="310896"/>
          </a:xfrm>
          <a:prstGeom prst="roundRect">
            <a:avLst>
              <a:gd name="adj" fmla="val 50000"/>
            </a:avLst>
          </a:prstGeom>
          <a:solidFill>
            <a:srgbClr val="00CB5D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Pill text Recomendado"/>
          <p:cNvSpPr txBox="1"/>
          <p:nvPr/>
        </p:nvSpPr>
        <p:spPr>
          <a:xfrm>
            <a:off x="2466479" y="2185416"/>
            <a:ext cx="1008241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70F26"/>
                </a:solidFill>
                <a:latin typeface="+mn-lt"/>
                <a:cs typeface="+mn-lt"/>
              </a:rPr>
              <a:t>Recomendado</a:t>
            </a:r>
          </a:p>
        </p:txBody>
      </p:sp>
      <p:sp>
        <p:nvSpPr>
          <p:cNvPr id="11" name="Title Spec-first"/>
          <p:cNvSpPr txBox="1"/>
          <p:nvPr/>
        </p:nvSpPr>
        <p:spPr>
          <a:xfrm>
            <a:off x="704088" y="2807208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070F26"/>
                </a:solidFill>
                <a:latin typeface="+mn-lt"/>
                <a:cs typeface="+mn-lt"/>
              </a:rPr>
              <a:t>Spec-first</a:t>
            </a:r>
          </a:p>
        </p:txBody>
      </p:sp>
      <p:sp>
        <p:nvSpPr>
          <p:cNvPr id="12" name="Desc Spec-first"/>
          <p:cNvSpPr txBox="1"/>
          <p:nvPr/>
        </p:nvSpPr>
        <p:spPr>
          <a:xfrm>
            <a:off x="704088" y="324612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dirty="0">
                <a:solidFill>
                  <a:srgbClr val="2E404D"/>
                </a:solidFill>
                <a:latin typeface="+mn-lt"/>
                <a:cs typeface="+mn-lt"/>
              </a:rPr>
              <a:t>La spec arranca el desarrollo y después se olvida.</a:t>
            </a:r>
          </a:p>
        </p:txBody>
      </p:sp>
      <p:sp>
        <p:nvSpPr>
          <p:cNvPr id="13" name="Truth label"/>
          <p:cNvSpPr txBox="1"/>
          <p:nvPr/>
        </p:nvSpPr>
        <p:spPr>
          <a:xfrm>
            <a:off x="704088" y="420624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 spc="150" dirty="0">
                <a:solidFill>
                  <a:srgbClr val="2E404D"/>
                </a:solidFill>
                <a:latin typeface="+mn-lt"/>
                <a:cs typeface="+mn-lt"/>
              </a:rPr>
              <a:t>FUENTE DE VERDAD</a:t>
            </a:r>
          </a:p>
        </p:txBody>
      </p:sp>
      <p:sp>
        <p:nvSpPr>
          <p:cNvPr id="14" name="Truth value"/>
          <p:cNvSpPr txBox="1"/>
          <p:nvPr/>
        </p:nvSpPr>
        <p:spPr>
          <a:xfrm>
            <a:off x="704088" y="4434840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70F26"/>
                </a:solidFill>
                <a:latin typeface="+mn-lt"/>
                <a:cs typeface="+mn-lt"/>
              </a:rPr>
              <a:t>El código</a:t>
            </a:r>
          </a:p>
        </p:txBody>
      </p:sp>
      <p:sp>
        <p:nvSpPr>
          <p:cNvPr id="15" name="Commit label"/>
          <p:cNvSpPr txBox="1"/>
          <p:nvPr/>
        </p:nvSpPr>
        <p:spPr>
          <a:xfrm>
            <a:off x="704088" y="4910328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 spc="150" dirty="0">
                <a:solidFill>
                  <a:srgbClr val="2E404D"/>
                </a:solidFill>
                <a:latin typeface="+mn-lt"/>
                <a:cs typeface="+mn-lt"/>
              </a:rPr>
              <a:t>COMPROMISO CON LA SPEC</a:t>
            </a:r>
          </a:p>
        </p:txBody>
      </p:sp>
      <p:sp>
        <p:nvSpPr>
          <p:cNvPr id="16" name="Meter segment"/>
          <p:cNvSpPr/>
          <p:nvPr/>
        </p:nvSpPr>
        <p:spPr>
          <a:xfrm>
            <a:off x="704088" y="5202936"/>
            <a:ext cx="914400" cy="109728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Meter segment"/>
          <p:cNvSpPr/>
          <p:nvPr/>
        </p:nvSpPr>
        <p:spPr>
          <a:xfrm>
            <a:off x="1709928" y="5202936"/>
            <a:ext cx="914400" cy="109728"/>
          </a:xfrm>
          <a:prstGeom prst="roundRect">
            <a:avLst>
              <a:gd name="adj" fmla="val 50000"/>
            </a:avLst>
          </a:prstGeom>
          <a:solidFill>
            <a:srgbClr val="C9D3DF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Meter segment"/>
          <p:cNvSpPr/>
          <p:nvPr/>
        </p:nvSpPr>
        <p:spPr>
          <a:xfrm>
            <a:off x="2715768" y="5202936"/>
            <a:ext cx="914400" cy="109728"/>
          </a:xfrm>
          <a:prstGeom prst="roundRect">
            <a:avLst>
              <a:gd name="adj" fmla="val 50000"/>
            </a:avLst>
          </a:prstGeom>
          <a:solidFill>
            <a:srgbClr val="C9D3DF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Card Spec-anchored"/>
          <p:cNvSpPr/>
          <p:nvPr/>
        </p:nvSpPr>
        <p:spPr>
          <a:xfrm>
            <a:off x="4311396" y="1783080"/>
            <a:ext cx="3566160" cy="3886200"/>
          </a:xfrm>
          <a:prstGeom prst="roundRect">
            <a:avLst>
              <a:gd name="adj" fmla="val 3589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anchor circle"/>
          <p:cNvSpPr/>
          <p:nvPr/>
        </p:nvSpPr>
        <p:spPr>
          <a:xfrm>
            <a:off x="4631436" y="2103120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21" name="anchor icon" descr="anch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043" y="2207727"/>
            <a:ext cx="266273" cy="266273"/>
          </a:xfrm>
          <a:prstGeom prst="rect">
            <a:avLst/>
          </a:prstGeom>
        </p:spPr>
      </p:pic>
      <p:sp>
        <p:nvSpPr>
          <p:cNvPr id="22" name="Pill Recomendado"/>
          <p:cNvSpPr/>
          <p:nvPr/>
        </p:nvSpPr>
        <p:spPr>
          <a:xfrm>
            <a:off x="6192659" y="2185416"/>
            <a:ext cx="1364857" cy="310896"/>
          </a:xfrm>
          <a:prstGeom prst="roundRect">
            <a:avLst>
              <a:gd name="adj" fmla="val 50000"/>
            </a:avLst>
          </a:prstGeom>
          <a:solidFill>
            <a:srgbClr val="00CB5D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3" name="Pill text Recomendado"/>
          <p:cNvSpPr txBox="1"/>
          <p:nvPr/>
        </p:nvSpPr>
        <p:spPr>
          <a:xfrm>
            <a:off x="6393827" y="2185416"/>
            <a:ext cx="1008241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70F26"/>
                </a:solidFill>
                <a:latin typeface="+mn-lt"/>
                <a:cs typeface="+mn-lt"/>
              </a:rPr>
              <a:t>Recomendado</a:t>
            </a:r>
          </a:p>
        </p:txBody>
      </p:sp>
      <p:sp>
        <p:nvSpPr>
          <p:cNvPr id="24" name="Title Spec-anchored"/>
          <p:cNvSpPr txBox="1"/>
          <p:nvPr/>
        </p:nvSpPr>
        <p:spPr>
          <a:xfrm>
            <a:off x="4631436" y="2807208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070F26"/>
                </a:solidFill>
                <a:latin typeface="+mn-lt"/>
                <a:cs typeface="+mn-lt"/>
              </a:rPr>
              <a:t>Spec-anchored</a:t>
            </a:r>
          </a:p>
        </p:txBody>
      </p:sp>
      <p:sp>
        <p:nvSpPr>
          <p:cNvPr id="25" name="Desc Spec-anchored"/>
          <p:cNvSpPr txBox="1"/>
          <p:nvPr/>
        </p:nvSpPr>
        <p:spPr>
          <a:xfrm>
            <a:off x="4631436" y="324612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dirty="0">
                <a:solidFill>
                  <a:srgbClr val="2E404D"/>
                </a:solidFill>
                <a:latin typeface="+mn-lt"/>
                <a:cs typeface="+mn-lt"/>
              </a:rPr>
              <a:t>La spec acompaña al código: si cambia uno, cambia el otro.</a:t>
            </a:r>
          </a:p>
        </p:txBody>
      </p:sp>
      <p:sp>
        <p:nvSpPr>
          <p:cNvPr id="26" name="Truth label"/>
          <p:cNvSpPr txBox="1"/>
          <p:nvPr/>
        </p:nvSpPr>
        <p:spPr>
          <a:xfrm>
            <a:off x="4631436" y="420624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 spc="150" dirty="0">
                <a:solidFill>
                  <a:srgbClr val="2E404D"/>
                </a:solidFill>
                <a:latin typeface="+mn-lt"/>
                <a:cs typeface="+mn-lt"/>
              </a:rPr>
              <a:t>FUENTE DE VERDAD</a:t>
            </a:r>
          </a:p>
        </p:txBody>
      </p:sp>
      <p:sp>
        <p:nvSpPr>
          <p:cNvPr id="27" name="Truth value"/>
          <p:cNvSpPr txBox="1"/>
          <p:nvPr/>
        </p:nvSpPr>
        <p:spPr>
          <a:xfrm>
            <a:off x="4631436" y="4434840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70F26"/>
                </a:solidFill>
                <a:latin typeface="+mn-lt"/>
                <a:cs typeface="+mn-lt"/>
              </a:rPr>
              <a:t>Código y spec</a:t>
            </a:r>
          </a:p>
        </p:txBody>
      </p:sp>
      <p:sp>
        <p:nvSpPr>
          <p:cNvPr id="28" name="Commit label"/>
          <p:cNvSpPr txBox="1"/>
          <p:nvPr/>
        </p:nvSpPr>
        <p:spPr>
          <a:xfrm>
            <a:off x="4631436" y="4910328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 spc="150" dirty="0">
                <a:solidFill>
                  <a:srgbClr val="2E404D"/>
                </a:solidFill>
                <a:latin typeface="+mn-lt"/>
                <a:cs typeface="+mn-lt"/>
              </a:rPr>
              <a:t>COMPROMISO CON LA SPEC</a:t>
            </a:r>
          </a:p>
        </p:txBody>
      </p:sp>
      <p:sp>
        <p:nvSpPr>
          <p:cNvPr id="29" name="Meter segment"/>
          <p:cNvSpPr/>
          <p:nvPr/>
        </p:nvSpPr>
        <p:spPr>
          <a:xfrm>
            <a:off x="4631436" y="5202936"/>
            <a:ext cx="914400" cy="109728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Meter segment"/>
          <p:cNvSpPr/>
          <p:nvPr/>
        </p:nvSpPr>
        <p:spPr>
          <a:xfrm>
            <a:off x="5637276" y="5202936"/>
            <a:ext cx="914400" cy="109728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" name="Meter segment"/>
          <p:cNvSpPr/>
          <p:nvPr/>
        </p:nvSpPr>
        <p:spPr>
          <a:xfrm>
            <a:off x="6643116" y="5202936"/>
            <a:ext cx="914400" cy="109728"/>
          </a:xfrm>
          <a:prstGeom prst="roundRect">
            <a:avLst>
              <a:gd name="adj" fmla="val 50000"/>
            </a:avLst>
          </a:prstGeom>
          <a:solidFill>
            <a:srgbClr val="C9D3DF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2" name="Card Spec-as-source"/>
          <p:cNvSpPr/>
          <p:nvPr/>
        </p:nvSpPr>
        <p:spPr>
          <a:xfrm>
            <a:off x="8238744" y="1783080"/>
            <a:ext cx="3566160" cy="3886200"/>
          </a:xfrm>
          <a:prstGeom prst="roundRect">
            <a:avLst>
              <a:gd name="adj" fmla="val 3589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refresh circle"/>
          <p:cNvSpPr/>
          <p:nvPr/>
        </p:nvSpPr>
        <p:spPr>
          <a:xfrm>
            <a:off x="8558784" y="2103120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34" name="refresh icon" descr="refres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391" y="2207727"/>
            <a:ext cx="266273" cy="266273"/>
          </a:xfrm>
          <a:prstGeom prst="rect">
            <a:avLst/>
          </a:prstGeom>
        </p:spPr>
      </p:pic>
      <p:sp>
        <p:nvSpPr>
          <p:cNvPr id="35" name="Pill Arriesgado"/>
          <p:cNvSpPr/>
          <p:nvPr/>
        </p:nvSpPr>
        <p:spPr>
          <a:xfrm>
            <a:off x="10345035" y="2185416"/>
            <a:ext cx="1139829" cy="310896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6" name="Pill text Arriesgado"/>
          <p:cNvSpPr txBox="1"/>
          <p:nvPr/>
        </p:nvSpPr>
        <p:spPr>
          <a:xfrm>
            <a:off x="10546203" y="2185416"/>
            <a:ext cx="783213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70F26"/>
                </a:solidFill>
                <a:latin typeface="+mn-lt"/>
                <a:cs typeface="+mn-lt"/>
              </a:rPr>
              <a:t>Arriesgado</a:t>
            </a:r>
          </a:p>
        </p:txBody>
      </p:sp>
      <p:sp>
        <p:nvSpPr>
          <p:cNvPr id="37" name="Title Spec-as-source"/>
          <p:cNvSpPr txBox="1"/>
          <p:nvPr/>
        </p:nvSpPr>
        <p:spPr>
          <a:xfrm>
            <a:off x="8558784" y="2807208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070F26"/>
                </a:solidFill>
                <a:latin typeface="+mn-lt"/>
                <a:cs typeface="+mn-lt"/>
              </a:rPr>
              <a:t>Spec-as-source</a:t>
            </a:r>
          </a:p>
        </p:txBody>
      </p:sp>
      <p:sp>
        <p:nvSpPr>
          <p:cNvPr id="38" name="Desc Spec-as-source"/>
          <p:cNvSpPr txBox="1"/>
          <p:nvPr/>
        </p:nvSpPr>
        <p:spPr>
          <a:xfrm>
            <a:off x="8558784" y="324612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dirty="0">
                <a:solidFill>
                  <a:srgbClr val="2E404D"/>
                </a:solidFill>
                <a:latin typeface="+mn-lt"/>
                <a:cs typeface="+mn-lt"/>
              </a:rPr>
              <a:t>La spec es el programa: el código se regenera y casi no se mira.</a:t>
            </a:r>
          </a:p>
        </p:txBody>
      </p:sp>
      <p:sp>
        <p:nvSpPr>
          <p:cNvPr id="39" name="Truth label"/>
          <p:cNvSpPr txBox="1"/>
          <p:nvPr/>
        </p:nvSpPr>
        <p:spPr>
          <a:xfrm>
            <a:off x="8558784" y="420624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 spc="150" dirty="0">
                <a:solidFill>
                  <a:srgbClr val="2E404D"/>
                </a:solidFill>
                <a:latin typeface="+mn-lt"/>
                <a:cs typeface="+mn-lt"/>
              </a:rPr>
              <a:t>FUENTE DE VERDAD</a:t>
            </a:r>
          </a:p>
        </p:txBody>
      </p:sp>
      <p:sp>
        <p:nvSpPr>
          <p:cNvPr id="40" name="Truth value"/>
          <p:cNvSpPr txBox="1"/>
          <p:nvPr/>
        </p:nvSpPr>
        <p:spPr>
          <a:xfrm>
            <a:off x="8558784" y="4434840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70F26"/>
                </a:solidFill>
                <a:latin typeface="+mn-lt"/>
                <a:cs typeface="+mn-lt"/>
              </a:rPr>
              <a:t>La spec</a:t>
            </a:r>
          </a:p>
        </p:txBody>
      </p:sp>
      <p:sp>
        <p:nvSpPr>
          <p:cNvPr id="41" name="Commit label"/>
          <p:cNvSpPr txBox="1"/>
          <p:nvPr/>
        </p:nvSpPr>
        <p:spPr>
          <a:xfrm>
            <a:off x="8558784" y="4910328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 spc="150" dirty="0">
                <a:solidFill>
                  <a:srgbClr val="2E404D"/>
                </a:solidFill>
                <a:latin typeface="+mn-lt"/>
                <a:cs typeface="+mn-lt"/>
              </a:rPr>
              <a:t>COMPROMISO CON LA SPEC</a:t>
            </a:r>
          </a:p>
        </p:txBody>
      </p:sp>
      <p:sp>
        <p:nvSpPr>
          <p:cNvPr id="42" name="Meter segment"/>
          <p:cNvSpPr/>
          <p:nvPr/>
        </p:nvSpPr>
        <p:spPr>
          <a:xfrm>
            <a:off x="8558784" y="5202936"/>
            <a:ext cx="914400" cy="109728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3" name="Meter segment"/>
          <p:cNvSpPr/>
          <p:nvPr/>
        </p:nvSpPr>
        <p:spPr>
          <a:xfrm>
            <a:off x="9564624" y="5202936"/>
            <a:ext cx="914400" cy="109728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4" name="Meter segment"/>
          <p:cNvSpPr/>
          <p:nvPr/>
        </p:nvSpPr>
        <p:spPr>
          <a:xfrm>
            <a:off x="10570464" y="5202936"/>
            <a:ext cx="914400" cy="109728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384048" y="3840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03 · EL FLUJO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384048" y="621792"/>
            <a:ext cx="11420856" cy="566928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3200" dirty="0"/>
              <a:t>El flujo: siete pasos y un bucle</a:t>
            </a:r>
          </a:p>
        </p:txBody>
      </p:sp>
      <p:sp>
        <p:nvSpPr>
          <p:cNvPr id="4" name="Subtitle 4"/>
          <p:cNvSpPr>
            <a:spLocks noGrp="1"/>
          </p:cNvSpPr>
          <p:nvPr>
            <p:ph type="body" sz="quarter" idx="13"/>
          </p:nvPr>
        </p:nvSpPr>
        <p:spPr>
          <a:xfrm>
            <a:off x="384048" y="1225296"/>
            <a:ext cx="11420856" cy="365760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ES" sz="1600" dirty="0"/>
              <a:t>Tú revisas antes y después de cada paso</a:t>
            </a:r>
          </a:p>
        </p:txBody>
      </p:sp>
      <p:sp>
        <p:nvSpPr>
          <p:cNvPr id="5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8F21A09-5A64-48F1-99C0-4FA9C963686B}" type="slidenum">
              <a:rPr lang="es-ES" dirty="0"/>
              <a:pPr algn="ctr"/>
              <a:t>9</a:t>
            </a:fld>
            <a:endParaRPr lang="es-ES" dirty="0"/>
          </a:p>
        </p:txBody>
      </p:sp>
      <p:sp>
        <p:nvSpPr>
          <p:cNvPr id="6" name="Modo plan container"/>
          <p:cNvSpPr/>
          <p:nvPr/>
        </p:nvSpPr>
        <p:spPr>
          <a:xfrm>
            <a:off x="2670048" y="1828800"/>
            <a:ext cx="9144000" cy="1481328"/>
          </a:xfrm>
          <a:prstGeom prst="roundRect">
            <a:avLst>
              <a:gd name="adj" fmla="val 9876"/>
            </a:avLst>
          </a:prstGeom>
          <a:solidFill>
            <a:srgbClr val="E6F2FB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Modo plan label"/>
          <p:cNvSpPr txBox="1"/>
          <p:nvPr/>
        </p:nvSpPr>
        <p:spPr>
          <a:xfrm>
            <a:off x="2852928" y="1901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1" spc="150" dirty="0">
                <a:solidFill>
                  <a:srgbClr val="0072BC"/>
                </a:solidFill>
                <a:latin typeface="+mn-lt"/>
                <a:cs typeface="+mn-lt"/>
              </a:rPr>
              <a:t>MODO PLAN · LA IA PROPONE Y TÚ APRUEBAS</a:t>
            </a:r>
          </a:p>
        </p:txBody>
      </p:sp>
      <p:sp>
        <p:nvSpPr>
          <p:cNvPr id="8" name="Step Constitución"/>
          <p:cNvSpPr/>
          <p:nvPr/>
        </p:nvSpPr>
        <p:spPr>
          <a:xfrm>
            <a:off x="566928" y="224028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072BC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ES" sz="950" b="1" spc="150" dirty="0">
                <a:solidFill>
                  <a:srgbClr val="CDE7F7"/>
                </a:solidFill>
                <a:latin typeface="+mn-lt"/>
                <a:cs typeface="+mn-lt"/>
              </a:rPr>
              <a:t>PASO 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ES" sz="1650" b="1" dirty="0">
                <a:solidFill>
                  <a:srgbClr val="FFFFFF"/>
                </a:solidFill>
                <a:latin typeface="+mn-lt"/>
                <a:cs typeface="+mn-lt"/>
              </a:rPr>
              <a:t>Constitución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FFFFFF"/>
                </a:solidFill>
                <a:latin typeface="+mn-lt"/>
                <a:cs typeface="+mn-lt"/>
              </a:rPr>
              <a:t>una sola vez</a:t>
            </a:r>
          </a:p>
        </p:txBody>
      </p:sp>
      <p:sp>
        <p:nvSpPr>
          <p:cNvPr id="9" name="Step Spec"/>
          <p:cNvSpPr/>
          <p:nvPr/>
        </p:nvSpPr>
        <p:spPr>
          <a:xfrm>
            <a:off x="2852928" y="224028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072BC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ES" sz="950" b="1" spc="150" dirty="0">
                <a:solidFill>
                  <a:srgbClr val="CDE7F7"/>
                </a:solidFill>
                <a:latin typeface="+mn-lt"/>
                <a:cs typeface="+mn-lt"/>
              </a:rPr>
              <a:t>PASO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ES" sz="1650" b="1" dirty="0">
                <a:solidFill>
                  <a:srgbClr val="FFFFFF"/>
                </a:solidFill>
                <a:latin typeface="+mn-lt"/>
                <a:cs typeface="+mn-lt"/>
              </a:rPr>
              <a:t>Spec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FFFFFF"/>
                </a:solidFill>
                <a:latin typeface="+mn-lt"/>
                <a:cs typeface="+mn-lt"/>
              </a:rPr>
              <a:t>qué y por qué</a:t>
            </a:r>
          </a:p>
        </p:txBody>
      </p:sp>
      <p:sp>
        <p:nvSpPr>
          <p:cNvPr id="10" name="Step Clarificación"/>
          <p:cNvSpPr/>
          <p:nvPr/>
        </p:nvSpPr>
        <p:spPr>
          <a:xfrm>
            <a:off x="5138928" y="224028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072BC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ES" sz="950" b="1" spc="150" dirty="0">
                <a:solidFill>
                  <a:srgbClr val="CDE7F7"/>
                </a:solidFill>
                <a:latin typeface="+mn-lt"/>
                <a:cs typeface="+mn-lt"/>
              </a:rPr>
              <a:t>PASO 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ES" sz="1650" b="1" dirty="0">
                <a:solidFill>
                  <a:srgbClr val="FFFFFF"/>
                </a:solidFill>
                <a:latin typeface="+mn-lt"/>
                <a:cs typeface="+mn-lt"/>
              </a:rPr>
              <a:t>Clarificación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FFFFFF"/>
                </a:solidFill>
                <a:latin typeface="+mn-lt"/>
                <a:cs typeface="+mn-lt"/>
              </a:rPr>
              <a:t>dudas y huecos</a:t>
            </a:r>
          </a:p>
        </p:txBody>
      </p:sp>
      <p:sp>
        <p:nvSpPr>
          <p:cNvPr id="11" name="Step Plan"/>
          <p:cNvSpPr/>
          <p:nvPr/>
        </p:nvSpPr>
        <p:spPr>
          <a:xfrm>
            <a:off x="7424928" y="224028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072BC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ES" sz="950" b="1" spc="150" dirty="0">
                <a:solidFill>
                  <a:srgbClr val="CDE7F7"/>
                </a:solidFill>
                <a:latin typeface="+mn-lt"/>
                <a:cs typeface="+mn-lt"/>
              </a:rPr>
              <a:t>PASO 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ES" sz="1650" b="1" dirty="0">
                <a:solidFill>
                  <a:srgbClr val="FFFFFF"/>
                </a:solidFill>
                <a:latin typeface="+mn-lt"/>
                <a:cs typeface="+mn-lt"/>
              </a:rPr>
              <a:t>Plan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FFFFFF"/>
                </a:solidFill>
                <a:latin typeface="+mn-lt"/>
                <a:cs typeface="+mn-lt"/>
              </a:rPr>
              <a:t>el cómo</a:t>
            </a:r>
          </a:p>
        </p:txBody>
      </p:sp>
      <p:sp>
        <p:nvSpPr>
          <p:cNvPr id="12" name="Step Tareas"/>
          <p:cNvSpPr/>
          <p:nvPr/>
        </p:nvSpPr>
        <p:spPr>
          <a:xfrm>
            <a:off x="9710928" y="224028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072BC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ES" sz="950" b="1" spc="150" dirty="0">
                <a:solidFill>
                  <a:srgbClr val="CDE7F7"/>
                </a:solidFill>
                <a:latin typeface="+mn-lt"/>
                <a:cs typeface="+mn-lt"/>
              </a:rPr>
              <a:t>PASO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ES" sz="1650" b="1" dirty="0">
                <a:solidFill>
                  <a:srgbClr val="FFFFFF"/>
                </a:solidFill>
                <a:latin typeface="+mn-lt"/>
                <a:cs typeface="+mn-lt"/>
              </a:rPr>
              <a:t>Tareas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FFFFFF"/>
                </a:solidFill>
                <a:latin typeface="+mn-lt"/>
                <a:cs typeface="+mn-lt"/>
              </a:rPr>
              <a:t>menos de 30 min</a:t>
            </a:r>
          </a:p>
        </p:txBody>
      </p:sp>
      <p:cxnSp>
        <p:nvCxnSpPr>
          <p:cNvPr id="13" name="Flow arrow"/>
          <p:cNvCxnSpPr/>
          <p:nvPr/>
        </p:nvCxnSpPr>
        <p:spPr>
          <a:xfrm>
            <a:off x="2532888" y="2674620"/>
            <a:ext cx="274320" cy="0"/>
          </a:xfrm>
          <a:prstGeom prst="line">
            <a:avLst/>
          </a:prstGeom>
          <a:ln w="22225" cap="rnd">
            <a:solidFill>
              <a:srgbClr val="0072BC"/>
            </a:solidFill>
            <a:tailEnd type="triangle" w="med" len="med"/>
          </a:ln>
        </p:spPr>
      </p:cxnSp>
      <p:cxnSp>
        <p:nvCxnSpPr>
          <p:cNvPr id="14" name="Flow arrow"/>
          <p:cNvCxnSpPr/>
          <p:nvPr/>
        </p:nvCxnSpPr>
        <p:spPr>
          <a:xfrm>
            <a:off x="4818888" y="2674620"/>
            <a:ext cx="274320" cy="0"/>
          </a:xfrm>
          <a:prstGeom prst="line">
            <a:avLst/>
          </a:prstGeom>
          <a:ln w="22225" cap="rnd">
            <a:solidFill>
              <a:srgbClr val="0072BC"/>
            </a:solidFill>
            <a:headEnd type="triangle" w="med" len="med"/>
            <a:tailEnd type="triangle" w="med" len="med"/>
          </a:ln>
        </p:spPr>
      </p:cxnSp>
      <p:cxnSp>
        <p:nvCxnSpPr>
          <p:cNvPr id="15" name="Flow arrow"/>
          <p:cNvCxnSpPr/>
          <p:nvPr/>
        </p:nvCxnSpPr>
        <p:spPr>
          <a:xfrm>
            <a:off x="7104888" y="2674620"/>
            <a:ext cx="274320" cy="0"/>
          </a:xfrm>
          <a:prstGeom prst="line">
            <a:avLst/>
          </a:prstGeom>
          <a:ln w="22225" cap="rnd">
            <a:solidFill>
              <a:srgbClr val="0072BC"/>
            </a:solidFill>
            <a:tailEnd type="triangle" w="med" len="med"/>
          </a:ln>
        </p:spPr>
      </p:cxnSp>
      <p:cxnSp>
        <p:nvCxnSpPr>
          <p:cNvPr id="16" name="Flow arrow"/>
          <p:cNvCxnSpPr/>
          <p:nvPr/>
        </p:nvCxnSpPr>
        <p:spPr>
          <a:xfrm>
            <a:off x="9390888" y="2674620"/>
            <a:ext cx="274320" cy="0"/>
          </a:xfrm>
          <a:prstGeom prst="line">
            <a:avLst/>
          </a:prstGeom>
          <a:ln w="22225" cap="rnd">
            <a:solidFill>
              <a:srgbClr val="0072BC"/>
            </a:solidFill>
            <a:tailEnd type="triangle" w="med" len="med"/>
          </a:ln>
        </p:spPr>
      </p:cxnSp>
      <p:sp>
        <p:nvSpPr>
          <p:cNvPr id="17" name="itera"/>
          <p:cNvSpPr txBox="1"/>
          <p:nvPr/>
        </p:nvSpPr>
        <p:spPr>
          <a:xfrm>
            <a:off x="4498848" y="31089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i="1" dirty="0">
                <a:solidFill>
                  <a:srgbClr val="0072BC"/>
                </a:solidFill>
                <a:latin typeface="+mn-lt"/>
                <a:cs typeface="+mn-lt"/>
              </a:rPr>
              <a:t>itera</a:t>
            </a:r>
          </a:p>
        </p:txBody>
      </p:sp>
      <p:sp>
        <p:nvSpPr>
          <p:cNvPr id="18" name="Hecho"/>
          <p:cNvSpPr/>
          <p:nvPr/>
        </p:nvSpPr>
        <p:spPr>
          <a:xfrm>
            <a:off x="566928" y="434340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0CB5D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ES" sz="1650" b="1" dirty="0">
                <a:solidFill>
                  <a:srgbClr val="070F26"/>
                </a:solidFill>
                <a:latin typeface="+mn-lt"/>
                <a:cs typeface="+mn-lt"/>
              </a:rPr>
              <a:t>Hecho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070F26"/>
                </a:solidFill>
                <a:latin typeface="+mn-lt"/>
                <a:cs typeface="+mn-lt"/>
              </a:rPr>
              <a:t>specs cumplidas</a:t>
            </a:r>
          </a:p>
        </p:txBody>
      </p:sp>
      <p:sp>
        <p:nvSpPr>
          <p:cNvPr id="19" name="¿Cambios?"/>
          <p:cNvSpPr/>
          <p:nvPr/>
        </p:nvSpPr>
        <p:spPr>
          <a:xfrm>
            <a:off x="2898648" y="4183380"/>
            <a:ext cx="1828800" cy="1188720"/>
          </a:xfrm>
          <a:prstGeom prst="diamond">
            <a:avLst/>
          </a:prstGeom>
          <a:solidFill>
            <a:srgbClr val="FFFFFF"/>
          </a:solidFill>
          <a:ln w="19050" cap="rnd">
            <a:solidFill>
              <a:srgbClr val="070F26"/>
            </a:solidFill>
            <a:round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¿Cambios? label"/>
          <p:cNvSpPr txBox="1"/>
          <p:nvPr/>
        </p:nvSpPr>
        <p:spPr>
          <a:xfrm>
            <a:off x="2898648" y="4594860"/>
            <a:ext cx="1828800" cy="36576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070F26"/>
                </a:solidFill>
                <a:latin typeface="+mn-lt"/>
                <a:cs typeface="+mn-lt"/>
              </a:rPr>
              <a:t>¿Cambios?</a:t>
            </a:r>
          </a:p>
        </p:txBody>
      </p:sp>
      <p:sp>
        <p:nvSpPr>
          <p:cNvPr id="21" name="Step Validación"/>
          <p:cNvSpPr/>
          <p:nvPr/>
        </p:nvSpPr>
        <p:spPr>
          <a:xfrm>
            <a:off x="5138928" y="434340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072BC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ES" sz="950" b="1" spc="150" dirty="0">
                <a:solidFill>
                  <a:srgbClr val="CDE7F7"/>
                </a:solidFill>
                <a:latin typeface="+mn-lt"/>
                <a:cs typeface="+mn-lt"/>
              </a:rPr>
              <a:t>PASO 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ES" sz="1650" b="1" dirty="0">
                <a:solidFill>
                  <a:srgbClr val="FFFFFF"/>
                </a:solidFill>
                <a:latin typeface="+mn-lt"/>
                <a:cs typeface="+mn-lt"/>
              </a:rPr>
              <a:t>Validación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FFFFFF"/>
                </a:solidFill>
                <a:latin typeface="+mn-lt"/>
                <a:cs typeface="+mn-lt"/>
              </a:rPr>
              <a:t>contra la spec</a:t>
            </a:r>
          </a:p>
        </p:txBody>
      </p:sp>
      <p:sp>
        <p:nvSpPr>
          <p:cNvPr id="22" name="Step Implementación"/>
          <p:cNvSpPr/>
          <p:nvPr/>
        </p:nvSpPr>
        <p:spPr>
          <a:xfrm>
            <a:off x="7424928" y="434340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072BC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ES" sz="950" b="1" spc="150" dirty="0">
                <a:solidFill>
                  <a:srgbClr val="CDE7F7"/>
                </a:solidFill>
                <a:latin typeface="+mn-lt"/>
                <a:cs typeface="+mn-lt"/>
              </a:rPr>
              <a:t>PASO 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ES" sz="1650" b="1" dirty="0">
                <a:solidFill>
                  <a:srgbClr val="FFFFFF"/>
                </a:solidFill>
                <a:latin typeface="+mn-lt"/>
                <a:cs typeface="+mn-lt"/>
              </a:rPr>
              <a:t>Implementación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FFFFFF"/>
                </a:solidFill>
                <a:latin typeface="+mn-lt"/>
                <a:cs typeface="+mn-lt"/>
              </a:rPr>
              <a:t>tests primero</a:t>
            </a:r>
          </a:p>
        </p:txBody>
      </p:sp>
      <p:cxnSp>
        <p:nvCxnSpPr>
          <p:cNvPr id="23" name="Elbow v"/>
          <p:cNvCxnSpPr/>
          <p:nvPr/>
        </p:nvCxnSpPr>
        <p:spPr>
          <a:xfrm>
            <a:off x="10671048" y="3154680"/>
            <a:ext cx="0" cy="1623060"/>
          </a:xfrm>
          <a:prstGeom prst="line">
            <a:avLst/>
          </a:prstGeom>
          <a:ln w="22225" cap="rnd">
            <a:solidFill>
              <a:srgbClr val="0072BC"/>
            </a:solidFill>
          </a:ln>
        </p:spPr>
      </p:cxnSp>
      <p:cxnSp>
        <p:nvCxnSpPr>
          <p:cNvPr id="24" name="Elbow h"/>
          <p:cNvCxnSpPr/>
          <p:nvPr/>
        </p:nvCxnSpPr>
        <p:spPr>
          <a:xfrm flipH="1">
            <a:off x="9390888" y="4777740"/>
            <a:ext cx="1280160" cy="0"/>
          </a:xfrm>
          <a:prstGeom prst="line">
            <a:avLst/>
          </a:prstGeom>
          <a:ln w="22225" cap="rnd">
            <a:solidFill>
              <a:srgbClr val="0072BC"/>
            </a:solidFill>
            <a:tailEnd type="triangle" w="med" len="med"/>
          </a:ln>
        </p:spPr>
      </p:cxnSp>
      <p:cxnSp>
        <p:nvCxnSpPr>
          <p:cNvPr id="25" name="5 to 6"/>
          <p:cNvCxnSpPr/>
          <p:nvPr/>
        </p:nvCxnSpPr>
        <p:spPr>
          <a:xfrm flipH="1">
            <a:off x="7104888" y="4777740"/>
            <a:ext cx="274320" cy="0"/>
          </a:xfrm>
          <a:prstGeom prst="line">
            <a:avLst/>
          </a:prstGeom>
          <a:ln w="22225" cap="rnd">
            <a:solidFill>
              <a:srgbClr val="0072BC"/>
            </a:solidFill>
            <a:tailEnd type="triangle" w="med" len="med"/>
          </a:ln>
        </p:spPr>
      </p:cxnSp>
      <p:cxnSp>
        <p:nvCxnSpPr>
          <p:cNvPr id="26" name="6 to cambios"/>
          <p:cNvCxnSpPr/>
          <p:nvPr/>
        </p:nvCxnSpPr>
        <p:spPr>
          <a:xfrm flipH="1">
            <a:off x="4773168" y="4777740"/>
            <a:ext cx="320040" cy="0"/>
          </a:xfrm>
          <a:prstGeom prst="line">
            <a:avLst/>
          </a:prstGeom>
          <a:ln w="22225" cap="rnd">
            <a:solidFill>
              <a:srgbClr val="0072BC"/>
            </a:solidFill>
            <a:tailEnd type="triangle" w="med" len="med"/>
          </a:ln>
        </p:spPr>
      </p:cxnSp>
      <p:cxnSp>
        <p:nvCxnSpPr>
          <p:cNvPr id="27" name="no"/>
          <p:cNvCxnSpPr/>
          <p:nvPr/>
        </p:nvCxnSpPr>
        <p:spPr>
          <a:xfrm flipH="1">
            <a:off x="2532888" y="4777740"/>
            <a:ext cx="320040" cy="0"/>
          </a:xfrm>
          <a:prstGeom prst="line">
            <a:avLst/>
          </a:prstGeom>
          <a:ln w="22225" cap="rnd">
            <a:solidFill>
              <a:srgbClr val="0072BC"/>
            </a:solidFill>
            <a:tailEnd type="triangle" w="med" len="med"/>
          </a:ln>
        </p:spPr>
      </p:cxnSp>
      <p:sp>
        <p:nvSpPr>
          <p:cNvPr id="28" name="no label"/>
          <p:cNvSpPr txBox="1"/>
          <p:nvPr/>
        </p:nvSpPr>
        <p:spPr>
          <a:xfrm>
            <a:off x="2487168" y="450342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i="1" dirty="0">
                <a:solidFill>
                  <a:srgbClr val="2E404D"/>
                </a:solidFill>
                <a:latin typeface="+mn-lt"/>
                <a:cs typeface="+mn-lt"/>
              </a:rPr>
              <a:t>no</a:t>
            </a:r>
          </a:p>
        </p:txBody>
      </p:sp>
      <p:cxnSp>
        <p:nvCxnSpPr>
          <p:cNvPr id="29" name="sí"/>
          <p:cNvCxnSpPr/>
          <p:nvPr/>
        </p:nvCxnSpPr>
        <p:spPr>
          <a:xfrm flipV="1">
            <a:off x="3813048" y="3154680"/>
            <a:ext cx="0" cy="982980"/>
          </a:xfrm>
          <a:prstGeom prst="line">
            <a:avLst/>
          </a:prstGeom>
          <a:ln w="22225" cap="rnd">
            <a:solidFill>
              <a:srgbClr val="0072BC"/>
            </a:solidFill>
            <a:tailEnd type="triangle" w="med" len="med"/>
          </a:ln>
        </p:spPr>
      </p:cxnSp>
      <p:sp>
        <p:nvSpPr>
          <p:cNvPr id="30" name="sí label"/>
          <p:cNvSpPr txBox="1"/>
          <p:nvPr/>
        </p:nvSpPr>
        <p:spPr>
          <a:xfrm>
            <a:off x="3922776" y="349300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i="1" dirty="0">
                <a:solidFill>
                  <a:srgbClr val="0072BC"/>
                </a:solidFill>
                <a:latin typeface="+mn-lt"/>
                <a:cs typeface="+mn-lt"/>
              </a:rPr>
              <a:t>sí: primero la spec</a:t>
            </a:r>
          </a:p>
        </p:txBody>
      </p:sp>
      <p:sp>
        <p:nvSpPr>
          <p:cNvPr id="31" name="Footnote"/>
          <p:cNvSpPr txBox="1"/>
          <p:nvPr/>
        </p:nvSpPr>
        <p:spPr>
          <a:xfrm>
            <a:off x="384048" y="5669280"/>
            <a:ext cx="11420856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i="1" dirty="0">
                <a:solidFill>
                  <a:srgbClr val="2E404D"/>
                </a:solidFill>
                <a:latin typeface="+mn-lt"/>
                <a:cs typeface="+mn-lt"/>
              </a:rPr>
              <a:t>La constitución se escribe una vez por proyecto; el resto del bucle, una vez por funcionalidad.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384048" y="3840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03 · EL FLUJO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384048" y="621792"/>
            <a:ext cx="11420856" cy="566928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3200" dirty="0"/>
              <a:t>Pasos 0 y 1: constitución y spec</a:t>
            </a:r>
          </a:p>
        </p:txBody>
      </p:sp>
      <p:sp>
        <p:nvSpPr>
          <p:cNvPr id="4" name="Subtitle 4"/>
          <p:cNvSpPr>
            <a:spLocks noGrp="1"/>
          </p:cNvSpPr>
          <p:nvPr>
            <p:ph type="body" sz="quarter" idx="13"/>
          </p:nvPr>
        </p:nvSpPr>
        <p:spPr>
          <a:xfrm>
            <a:off x="384048" y="1225296"/>
            <a:ext cx="11420856" cy="365760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ES" sz="1600" dirty="0"/>
              <a:t>Cada pregunta del agente es una decisión que, sin spec, tomaría ella en silencio</a:t>
            </a:r>
          </a:p>
        </p:txBody>
      </p:sp>
      <p:sp>
        <p:nvSpPr>
          <p:cNvPr id="5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223DE20C-3577-432C-B5E8-F65C883116BD}" type="slidenum">
              <a:rPr lang="es-ES" dirty="0"/>
              <a:pPr algn="ctr"/>
              <a:t>10</a:t>
            </a:fld>
            <a:endParaRPr lang="es-ES" dirty="0"/>
          </a:p>
        </p:txBody>
      </p:sp>
      <p:sp>
        <p:nvSpPr>
          <p:cNvPr id="6" name="Card constitución"/>
          <p:cNvSpPr/>
          <p:nvPr/>
        </p:nvSpPr>
        <p:spPr>
          <a:xfrm>
            <a:off x="384048" y="1783080"/>
            <a:ext cx="4114800" cy="4206240"/>
          </a:xfrm>
          <a:prstGeom prst="roundRect">
            <a:avLst>
              <a:gd name="adj" fmla="val 3111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Paso 0 label"/>
          <p:cNvSpPr txBox="1"/>
          <p:nvPr/>
        </p:nvSpPr>
        <p:spPr>
          <a:xfrm>
            <a:off x="704088" y="207568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PASO 0</a:t>
            </a:r>
          </a:p>
        </p:txBody>
      </p:sp>
      <p:sp>
        <p:nvSpPr>
          <p:cNvPr id="8" name="scale circle"/>
          <p:cNvSpPr/>
          <p:nvPr/>
        </p:nvSpPr>
        <p:spPr>
          <a:xfrm>
            <a:off x="3703320" y="2039112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9" name="scale icon" descr="sca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927" y="2143719"/>
            <a:ext cx="266273" cy="266273"/>
          </a:xfrm>
          <a:prstGeom prst="rect">
            <a:avLst/>
          </a:prstGeom>
        </p:spPr>
      </p:pic>
      <p:sp>
        <p:nvSpPr>
          <p:cNvPr id="10" name="Constitución title"/>
          <p:cNvSpPr txBox="1"/>
          <p:nvPr/>
        </p:nvSpPr>
        <p:spPr>
          <a:xfrm>
            <a:off x="704088" y="2441448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dirty="0">
                <a:solidFill>
                  <a:srgbClr val="070F26"/>
                </a:solidFill>
                <a:latin typeface="+mn-lt"/>
                <a:cs typeface="+mn-lt"/>
              </a:rPr>
              <a:t>Constitución</a:t>
            </a:r>
          </a:p>
        </p:txBody>
      </p:sp>
      <p:sp>
        <p:nvSpPr>
          <p:cNvPr id="11" name="Constitución body"/>
          <p:cNvSpPr txBox="1"/>
          <p:nvPr/>
        </p:nvSpPr>
        <p:spPr>
          <a:xfrm>
            <a:off x="704088" y="2926080"/>
            <a:ext cx="3474720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dirty="0">
                <a:solidFill>
                  <a:srgbClr val="2E404D"/>
                </a:solidFill>
                <a:latin typeface="+mn-lt"/>
                <a:cs typeface="+mn-lt"/>
              </a:rPr>
              <a:t>Unos seis principios que no se negocian. Se escribe una vez por proyecto.</a:t>
            </a:r>
          </a:p>
        </p:txBody>
      </p:sp>
      <p:sp>
        <p:nvSpPr>
          <p:cNvPr id="12" name="Quote card"/>
          <p:cNvSpPr/>
          <p:nvPr/>
        </p:nvSpPr>
        <p:spPr>
          <a:xfrm>
            <a:off x="704088" y="379476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  <p:txBody>
          <a:bodyPr wrap="square" lIns="201168" tIns="73152" rIns="201168" bIns="73152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i="1" dirty="0">
                <a:solidFill>
                  <a:srgbClr val="070F26"/>
                </a:solidFill>
                <a:latin typeface="+mj-lt"/>
                <a:cs typeface="+mj-lt"/>
              </a:rPr>
              <a:t>«Ninguna tarea termina con tests en rojo.»</a:t>
            </a:r>
          </a:p>
        </p:txBody>
      </p:sp>
      <p:sp>
        <p:nvSpPr>
          <p:cNvPr id="13" name="Quote card"/>
          <p:cNvSpPr/>
          <p:nvPr/>
        </p:nvSpPr>
        <p:spPr>
          <a:xfrm>
            <a:off x="704088" y="484632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  <p:txBody>
          <a:bodyPr wrap="square" lIns="201168" tIns="73152" rIns="201168" bIns="73152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i="1" dirty="0">
                <a:solidFill>
                  <a:srgbClr val="070F26"/>
                </a:solidFill>
                <a:latin typeface="+mj-lt"/>
                <a:cs typeface="+mj-lt"/>
              </a:rPr>
              <a:t>«Si falta una decisión, el agente para y pregunta.»</a:t>
            </a:r>
          </a:p>
        </p:txBody>
      </p:sp>
      <p:sp>
        <p:nvSpPr>
          <p:cNvPr id="14" name="Card spec"/>
          <p:cNvSpPr/>
          <p:nvPr/>
        </p:nvSpPr>
        <p:spPr>
          <a:xfrm>
            <a:off x="4864608" y="1783080"/>
            <a:ext cx="6940296" cy="4206240"/>
          </a:xfrm>
          <a:prstGeom prst="roundRect">
            <a:avLst>
              <a:gd name="adj" fmla="val 3043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Paso 1 label"/>
          <p:cNvSpPr txBox="1"/>
          <p:nvPr/>
        </p:nvSpPr>
        <p:spPr>
          <a:xfrm>
            <a:off x="5184648" y="207568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PASO 1</a:t>
            </a:r>
          </a:p>
        </p:txBody>
      </p:sp>
      <p:sp>
        <p:nvSpPr>
          <p:cNvPr id="16" name="bubbleq circle"/>
          <p:cNvSpPr/>
          <p:nvPr/>
        </p:nvSpPr>
        <p:spPr>
          <a:xfrm>
            <a:off x="11009376" y="2039112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7" name="bubbleq icon" descr="bubbleq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3983" y="2143719"/>
            <a:ext cx="266273" cy="266273"/>
          </a:xfrm>
          <a:prstGeom prst="rect">
            <a:avLst/>
          </a:prstGeom>
        </p:spPr>
      </p:pic>
      <p:sp>
        <p:nvSpPr>
          <p:cNvPr id="18" name="Spec title"/>
          <p:cNvSpPr txBox="1"/>
          <p:nvPr/>
        </p:nvSpPr>
        <p:spPr>
          <a:xfrm>
            <a:off x="5184648" y="2441448"/>
            <a:ext cx="5751576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dirty="0">
                <a:solidFill>
                  <a:srgbClr val="070F26"/>
                </a:solidFill>
                <a:latin typeface="+mn-lt"/>
                <a:cs typeface="+mn-lt"/>
              </a:rPr>
              <a:t>La spec, en modo plan</a:t>
            </a:r>
          </a:p>
        </p:txBody>
      </p:sp>
      <p:sp>
        <p:nvSpPr>
          <p:cNvPr id="19" name="Spec body"/>
          <p:cNvSpPr txBox="1"/>
          <p:nvPr/>
        </p:nvSpPr>
        <p:spPr>
          <a:xfrm>
            <a:off x="5184648" y="2926080"/>
            <a:ext cx="6300216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dirty="0">
                <a:solidFill>
                  <a:srgbClr val="2E404D"/>
                </a:solidFill>
                <a:latin typeface="+mn-lt"/>
                <a:cs typeface="+mn-lt"/>
              </a:rPr>
              <a:t>El agente pregunta antes de escribir nada, de una en una:</a:t>
            </a:r>
          </a:p>
        </p:txBody>
      </p:sp>
      <p:sp>
        <p:nvSpPr>
          <p:cNvPr id="20" name="Q CASOS LÍMITE"/>
          <p:cNvSpPr/>
          <p:nvPr/>
        </p:nvSpPr>
        <p:spPr>
          <a:xfrm>
            <a:off x="5184648" y="3474720"/>
            <a:ext cx="3012948" cy="1024128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>
            <a:noFill/>
          </a:ln>
        </p:spPr>
        <p:txBody>
          <a:bodyPr wrap="square" lIns="228600" tIns="182880" rIns="228600" bIns="73152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ES" sz="1000" b="1" spc="150" dirty="0">
                <a:solidFill>
                  <a:srgbClr val="0072BC"/>
                </a:solidFill>
                <a:latin typeface="+mn-lt"/>
                <a:cs typeface="+mn-lt"/>
              </a:rPr>
              <a:t>CASOS LÍMITE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solidFill>
                  <a:srgbClr val="070F26"/>
                </a:solidFill>
                <a:latin typeface="+mn-lt"/>
                <a:cs typeface="+mn-lt"/>
              </a:rPr>
              <a:t>¿Y si el dato ya existe?</a:t>
            </a:r>
          </a:p>
        </p:txBody>
      </p:sp>
      <p:sp>
        <p:nvSpPr>
          <p:cNvPr id="21" name="Q ERRORES"/>
          <p:cNvSpPr/>
          <p:nvPr/>
        </p:nvSpPr>
        <p:spPr>
          <a:xfrm>
            <a:off x="8471916" y="3474720"/>
            <a:ext cx="3012948" cy="1024128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>
            <a:noFill/>
          </a:ln>
        </p:spPr>
        <p:txBody>
          <a:bodyPr wrap="square" lIns="228600" tIns="182880" rIns="228600" bIns="73152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ES" sz="1000" b="1" spc="150" dirty="0">
                <a:solidFill>
                  <a:srgbClr val="0072BC"/>
                </a:solidFill>
                <a:latin typeface="+mn-lt"/>
                <a:cs typeface="+mn-lt"/>
              </a:rPr>
              <a:t>ERRORES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solidFill>
                  <a:srgbClr val="070F26"/>
                </a:solidFill>
                <a:latin typeface="+mn-lt"/>
                <a:cs typeface="+mn-lt"/>
              </a:rPr>
              <a:t>¿Qué ve el usuario si falla?</a:t>
            </a:r>
          </a:p>
        </p:txBody>
      </p:sp>
      <p:sp>
        <p:nvSpPr>
          <p:cNvPr id="22" name="Q ALCANCE"/>
          <p:cNvSpPr/>
          <p:nvPr/>
        </p:nvSpPr>
        <p:spPr>
          <a:xfrm>
            <a:off x="5184648" y="4736592"/>
            <a:ext cx="3012948" cy="1024128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>
            <a:noFill/>
          </a:ln>
        </p:spPr>
        <p:txBody>
          <a:bodyPr wrap="square" lIns="228600" tIns="182880" rIns="228600" bIns="73152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ES" sz="1000" b="1" spc="150" dirty="0">
                <a:solidFill>
                  <a:srgbClr val="0072BC"/>
                </a:solidFill>
                <a:latin typeface="+mn-lt"/>
                <a:cs typeface="+mn-lt"/>
              </a:rPr>
              <a:t>ALCANCE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solidFill>
                  <a:srgbClr val="070F26"/>
                </a:solidFill>
                <a:latin typeface="+mn-lt"/>
                <a:cs typeface="+mn-lt"/>
              </a:rPr>
              <a:t>¿Qué queda fuera?</a:t>
            </a:r>
          </a:p>
        </p:txBody>
      </p:sp>
      <p:sp>
        <p:nvSpPr>
          <p:cNvPr id="23" name="Q TERMINADO"/>
          <p:cNvSpPr/>
          <p:nvPr/>
        </p:nvSpPr>
        <p:spPr>
          <a:xfrm>
            <a:off x="8471916" y="4736592"/>
            <a:ext cx="3012948" cy="1024128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>
            <a:noFill/>
          </a:ln>
        </p:spPr>
        <p:txBody>
          <a:bodyPr wrap="square" lIns="228600" tIns="182880" rIns="228600" bIns="73152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ES" sz="1000" b="1" spc="150" dirty="0">
                <a:solidFill>
                  <a:srgbClr val="0072BC"/>
                </a:solidFill>
                <a:latin typeface="+mn-lt"/>
                <a:cs typeface="+mn-lt"/>
              </a:rPr>
              <a:t>TERMINADO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solidFill>
                  <a:srgbClr val="070F26"/>
                </a:solidFill>
                <a:latin typeface="+mn-lt"/>
                <a:cs typeface="+mn-lt"/>
              </a:rPr>
              <a:t>¿Cómo sabremos que está hecho?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384048" y="3840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03 · EL FLUJO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384048" y="621792"/>
            <a:ext cx="11420856" cy="566928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3200" dirty="0"/>
              <a:t>Qué lleva una spec</a:t>
            </a:r>
          </a:p>
        </p:txBody>
      </p:sp>
      <p:sp>
        <p:nvSpPr>
          <p:cNvPr id="4" name="Subtitle 4"/>
          <p:cNvSpPr>
            <a:spLocks noGrp="1"/>
          </p:cNvSpPr>
          <p:nvPr>
            <p:ph type="body" sz="quarter" idx="13"/>
          </p:nvPr>
        </p:nvSpPr>
        <p:spPr>
          <a:xfrm>
            <a:off x="384048" y="1225296"/>
            <a:ext cx="11420856" cy="365760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ES" sz="1600" dirty="0"/>
              <a:t>Solo el qué y el porqué: la tecnología va en el plan</a:t>
            </a:r>
          </a:p>
        </p:txBody>
      </p:sp>
      <p:sp>
        <p:nvSpPr>
          <p:cNvPr id="5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48765CF7-49B2-4C06-88E3-99EF9B994F72}" type="slidenum">
              <a:rPr lang="es-ES" dirty="0"/>
              <a:pPr algn="ctr"/>
              <a:t>11</a:t>
            </a:fld>
            <a:endParaRPr lang="es-ES" dirty="0"/>
          </a:p>
        </p:txBody>
      </p:sp>
      <p:sp>
        <p:nvSpPr>
          <p:cNvPr id="6" name="Item 01"/>
          <p:cNvSpPr/>
          <p:nvPr/>
        </p:nvSpPr>
        <p:spPr>
          <a:xfrm>
            <a:off x="384048" y="1783080"/>
            <a:ext cx="3566160" cy="1234440"/>
          </a:xfrm>
          <a:prstGeom prst="roundRect">
            <a:avLst>
              <a:gd name="adj" fmla="val 10370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Num 01"/>
          <p:cNvSpPr txBox="1"/>
          <p:nvPr/>
        </p:nvSpPr>
        <p:spPr>
          <a:xfrm>
            <a:off x="676656" y="198424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01</a:t>
            </a:r>
          </a:p>
        </p:txBody>
      </p:sp>
      <p:sp>
        <p:nvSpPr>
          <p:cNvPr id="8" name="Title 01"/>
          <p:cNvSpPr txBox="1"/>
          <p:nvPr/>
        </p:nvSpPr>
        <p:spPr>
          <a:xfrm>
            <a:off x="676656" y="2240280"/>
            <a:ext cx="298094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50" b="1" dirty="0">
                <a:solidFill>
                  <a:srgbClr val="070F26"/>
                </a:solidFill>
                <a:latin typeface="+mn-lt"/>
                <a:cs typeface="+mn-lt"/>
              </a:rPr>
              <a:t>Contexto y objetivo</a:t>
            </a:r>
          </a:p>
        </p:txBody>
      </p:sp>
      <p:sp>
        <p:nvSpPr>
          <p:cNvPr id="9" name="Desc 01"/>
          <p:cNvSpPr txBox="1"/>
          <p:nvPr/>
        </p:nvSpPr>
        <p:spPr>
          <a:xfrm>
            <a:off x="676656" y="2606040"/>
            <a:ext cx="29809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dirty="0">
                <a:solidFill>
                  <a:srgbClr val="2E404D"/>
                </a:solidFill>
                <a:latin typeface="+mn-lt"/>
                <a:cs typeface="+mn-lt"/>
              </a:rPr>
              <a:t>Qué resuelve y por qué importa</a:t>
            </a:r>
          </a:p>
        </p:txBody>
      </p:sp>
      <p:sp>
        <p:nvSpPr>
          <p:cNvPr id="10" name="Item 02"/>
          <p:cNvSpPr/>
          <p:nvPr/>
        </p:nvSpPr>
        <p:spPr>
          <a:xfrm>
            <a:off x="4311396" y="1783080"/>
            <a:ext cx="3566160" cy="1234440"/>
          </a:xfrm>
          <a:prstGeom prst="roundRect">
            <a:avLst>
              <a:gd name="adj" fmla="val 10370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Num 02"/>
          <p:cNvSpPr txBox="1"/>
          <p:nvPr/>
        </p:nvSpPr>
        <p:spPr>
          <a:xfrm>
            <a:off x="4604004" y="198424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02</a:t>
            </a:r>
          </a:p>
        </p:txBody>
      </p:sp>
      <p:sp>
        <p:nvSpPr>
          <p:cNvPr id="12" name="Title 02"/>
          <p:cNvSpPr txBox="1"/>
          <p:nvPr/>
        </p:nvSpPr>
        <p:spPr>
          <a:xfrm>
            <a:off x="4604004" y="2240280"/>
            <a:ext cx="298094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50" b="1" dirty="0">
                <a:solidFill>
                  <a:srgbClr val="070F26"/>
                </a:solidFill>
                <a:latin typeface="+mn-lt"/>
                <a:cs typeface="+mn-lt"/>
              </a:rPr>
              <a:t>Usuarios</a:t>
            </a:r>
          </a:p>
        </p:txBody>
      </p:sp>
      <p:sp>
        <p:nvSpPr>
          <p:cNvPr id="13" name="Desc 02"/>
          <p:cNvSpPr txBox="1"/>
          <p:nvPr/>
        </p:nvSpPr>
        <p:spPr>
          <a:xfrm>
            <a:off x="4604004" y="2606040"/>
            <a:ext cx="29809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dirty="0">
                <a:solidFill>
                  <a:srgbClr val="2E404D"/>
                </a:solidFill>
                <a:latin typeface="+mn-lt"/>
                <a:cs typeface="+mn-lt"/>
              </a:rPr>
              <a:t>Quién lo va a usar</a:t>
            </a:r>
          </a:p>
        </p:txBody>
      </p:sp>
      <p:sp>
        <p:nvSpPr>
          <p:cNvPr id="14" name="Item 03"/>
          <p:cNvSpPr/>
          <p:nvPr/>
        </p:nvSpPr>
        <p:spPr>
          <a:xfrm>
            <a:off x="8238744" y="1783080"/>
            <a:ext cx="3566160" cy="1234440"/>
          </a:xfrm>
          <a:prstGeom prst="roundRect">
            <a:avLst>
              <a:gd name="adj" fmla="val 10370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Num 03"/>
          <p:cNvSpPr txBox="1"/>
          <p:nvPr/>
        </p:nvSpPr>
        <p:spPr>
          <a:xfrm>
            <a:off x="8531352" y="198424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03</a:t>
            </a:r>
          </a:p>
        </p:txBody>
      </p:sp>
      <p:sp>
        <p:nvSpPr>
          <p:cNvPr id="16" name="Title 03"/>
          <p:cNvSpPr txBox="1"/>
          <p:nvPr/>
        </p:nvSpPr>
        <p:spPr>
          <a:xfrm>
            <a:off x="8531352" y="2240280"/>
            <a:ext cx="298094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50" b="1" dirty="0">
                <a:solidFill>
                  <a:srgbClr val="070F26"/>
                </a:solidFill>
                <a:latin typeface="+mn-lt"/>
                <a:cs typeface="+mn-lt"/>
              </a:rPr>
              <a:t>Historias de usuario</a:t>
            </a:r>
          </a:p>
        </p:txBody>
      </p:sp>
      <p:sp>
        <p:nvSpPr>
          <p:cNvPr id="17" name="Desc 03"/>
          <p:cNvSpPr txBox="1"/>
          <p:nvPr/>
        </p:nvSpPr>
        <p:spPr>
          <a:xfrm>
            <a:off x="8531352" y="2606040"/>
            <a:ext cx="29809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dirty="0">
                <a:solidFill>
                  <a:srgbClr val="2E404D"/>
                </a:solidFill>
                <a:latin typeface="+mn-lt"/>
                <a:cs typeface="+mn-lt"/>
              </a:rPr>
              <a:t>Como… quiero… para…</a:t>
            </a:r>
          </a:p>
        </p:txBody>
      </p:sp>
      <p:sp>
        <p:nvSpPr>
          <p:cNvPr id="18" name="Item 04"/>
          <p:cNvSpPr/>
          <p:nvPr/>
        </p:nvSpPr>
        <p:spPr>
          <a:xfrm>
            <a:off x="384048" y="3291840"/>
            <a:ext cx="3566160" cy="1234440"/>
          </a:xfrm>
          <a:prstGeom prst="roundRect">
            <a:avLst>
              <a:gd name="adj" fmla="val 10370"/>
            </a:avLst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Num 04"/>
          <p:cNvSpPr txBox="1"/>
          <p:nvPr/>
        </p:nvSpPr>
        <p:spPr>
          <a:xfrm>
            <a:off x="676656" y="349300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CDE7F7"/>
                </a:solidFill>
                <a:latin typeface="+mn-lt"/>
                <a:cs typeface="+mn-lt"/>
              </a:rPr>
              <a:t>04</a:t>
            </a:r>
          </a:p>
        </p:txBody>
      </p:sp>
      <p:sp>
        <p:nvSpPr>
          <p:cNvPr id="20" name="Title 04"/>
          <p:cNvSpPr txBox="1"/>
          <p:nvPr/>
        </p:nvSpPr>
        <p:spPr>
          <a:xfrm>
            <a:off x="676656" y="3749040"/>
            <a:ext cx="298094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50" b="1" dirty="0">
                <a:solidFill>
                  <a:srgbClr val="FFFFFF"/>
                </a:solidFill>
                <a:latin typeface="+mn-lt"/>
                <a:cs typeface="+mn-lt"/>
              </a:rPr>
              <a:t>Requisitos funcionales</a:t>
            </a:r>
          </a:p>
        </p:txBody>
      </p:sp>
      <p:sp>
        <p:nvSpPr>
          <p:cNvPr id="21" name="Desc 04"/>
          <p:cNvSpPr txBox="1"/>
          <p:nvPr/>
        </p:nvSpPr>
        <p:spPr>
          <a:xfrm>
            <a:off x="676656" y="4114800"/>
            <a:ext cx="29809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dirty="0">
                <a:solidFill>
                  <a:srgbClr val="FFFFFF"/>
                </a:solidFill>
                <a:latin typeface="+mn-lt"/>
                <a:cs typeface="+mn-lt"/>
              </a:rPr>
              <a:t>RF-1, RF-2… escritos en EARS</a:t>
            </a:r>
          </a:p>
        </p:txBody>
      </p:sp>
      <p:sp>
        <p:nvSpPr>
          <p:cNvPr id="22" name="Item 05"/>
          <p:cNvSpPr/>
          <p:nvPr/>
        </p:nvSpPr>
        <p:spPr>
          <a:xfrm>
            <a:off x="4311396" y="3291840"/>
            <a:ext cx="3566160" cy="1234440"/>
          </a:xfrm>
          <a:prstGeom prst="roundRect">
            <a:avLst>
              <a:gd name="adj" fmla="val 10370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3" name="Num 05"/>
          <p:cNvSpPr txBox="1"/>
          <p:nvPr/>
        </p:nvSpPr>
        <p:spPr>
          <a:xfrm>
            <a:off x="4604004" y="349300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05</a:t>
            </a:r>
          </a:p>
        </p:txBody>
      </p:sp>
      <p:sp>
        <p:nvSpPr>
          <p:cNvPr id="24" name="Title 05"/>
          <p:cNvSpPr txBox="1"/>
          <p:nvPr/>
        </p:nvSpPr>
        <p:spPr>
          <a:xfrm>
            <a:off x="4604004" y="3749040"/>
            <a:ext cx="298094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50" b="1" dirty="0">
                <a:solidFill>
                  <a:srgbClr val="070F26"/>
                </a:solidFill>
                <a:latin typeface="+mn-lt"/>
                <a:cs typeface="+mn-lt"/>
              </a:rPr>
              <a:t>Requisitos no funcionales</a:t>
            </a:r>
          </a:p>
        </p:txBody>
      </p:sp>
      <p:sp>
        <p:nvSpPr>
          <p:cNvPr id="25" name="Desc 05"/>
          <p:cNvSpPr txBox="1"/>
          <p:nvPr/>
        </p:nvSpPr>
        <p:spPr>
          <a:xfrm>
            <a:off x="4604004" y="4114800"/>
            <a:ext cx="29809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dirty="0">
                <a:solidFill>
                  <a:srgbClr val="2E404D"/>
                </a:solidFill>
                <a:latin typeface="+mn-lt"/>
                <a:cs typeface="+mn-lt"/>
              </a:rPr>
              <a:t>Solo los que aplican, con un umbral</a:t>
            </a:r>
          </a:p>
        </p:txBody>
      </p:sp>
      <p:sp>
        <p:nvSpPr>
          <p:cNvPr id="26" name="Item 06"/>
          <p:cNvSpPr/>
          <p:nvPr/>
        </p:nvSpPr>
        <p:spPr>
          <a:xfrm>
            <a:off x="8238744" y="3291840"/>
            <a:ext cx="3566160" cy="1234440"/>
          </a:xfrm>
          <a:prstGeom prst="roundRect">
            <a:avLst>
              <a:gd name="adj" fmla="val 10370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7" name="Num 06"/>
          <p:cNvSpPr txBox="1"/>
          <p:nvPr/>
        </p:nvSpPr>
        <p:spPr>
          <a:xfrm>
            <a:off x="8531352" y="349300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06</a:t>
            </a:r>
          </a:p>
        </p:txBody>
      </p:sp>
      <p:sp>
        <p:nvSpPr>
          <p:cNvPr id="28" name="Title 06"/>
          <p:cNvSpPr txBox="1"/>
          <p:nvPr/>
        </p:nvSpPr>
        <p:spPr>
          <a:xfrm>
            <a:off x="8531352" y="3749040"/>
            <a:ext cx="298094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50" b="1" dirty="0">
                <a:solidFill>
                  <a:srgbClr val="070F26"/>
                </a:solidFill>
                <a:latin typeface="+mn-lt"/>
                <a:cs typeface="+mn-lt"/>
              </a:rPr>
              <a:t>Casos límite</a:t>
            </a:r>
          </a:p>
        </p:txBody>
      </p:sp>
      <p:sp>
        <p:nvSpPr>
          <p:cNvPr id="29" name="Desc 06"/>
          <p:cNvSpPr txBox="1"/>
          <p:nvPr/>
        </p:nvSpPr>
        <p:spPr>
          <a:xfrm>
            <a:off x="8531352" y="4114800"/>
            <a:ext cx="29809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dirty="0">
                <a:solidFill>
                  <a:srgbClr val="2E404D"/>
                </a:solidFill>
                <a:latin typeface="+mn-lt"/>
                <a:cs typeface="+mn-lt"/>
              </a:rPr>
              <a:t>Vacíos, duplicados, datos corruptos</a:t>
            </a:r>
          </a:p>
        </p:txBody>
      </p:sp>
      <p:sp>
        <p:nvSpPr>
          <p:cNvPr id="30" name="Item 07"/>
          <p:cNvSpPr/>
          <p:nvPr/>
        </p:nvSpPr>
        <p:spPr>
          <a:xfrm>
            <a:off x="384048" y="4800600"/>
            <a:ext cx="3566160" cy="1234440"/>
          </a:xfrm>
          <a:prstGeom prst="roundRect">
            <a:avLst>
              <a:gd name="adj" fmla="val 10370"/>
            </a:avLst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" name="Num 07"/>
          <p:cNvSpPr txBox="1"/>
          <p:nvPr/>
        </p:nvSpPr>
        <p:spPr>
          <a:xfrm>
            <a:off x="676656" y="500176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CDE7F7"/>
                </a:solidFill>
                <a:latin typeface="+mn-lt"/>
                <a:cs typeface="+mn-lt"/>
              </a:rPr>
              <a:t>07</a:t>
            </a:r>
          </a:p>
        </p:txBody>
      </p:sp>
      <p:sp>
        <p:nvSpPr>
          <p:cNvPr id="32" name="Title 07"/>
          <p:cNvSpPr txBox="1"/>
          <p:nvPr/>
        </p:nvSpPr>
        <p:spPr>
          <a:xfrm>
            <a:off x="676656" y="5257800"/>
            <a:ext cx="298094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50" b="1" dirty="0">
                <a:solidFill>
                  <a:srgbClr val="FFFFFF"/>
                </a:solidFill>
                <a:latin typeface="+mn-lt"/>
                <a:cs typeface="+mn-lt"/>
              </a:rPr>
              <a:t>Fuera de alcance</a:t>
            </a:r>
          </a:p>
        </p:txBody>
      </p:sp>
      <p:sp>
        <p:nvSpPr>
          <p:cNvPr id="33" name="Desc 07"/>
          <p:cNvSpPr txBox="1"/>
          <p:nvPr/>
        </p:nvSpPr>
        <p:spPr>
          <a:xfrm>
            <a:off x="676656" y="5623560"/>
            <a:ext cx="29809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dirty="0">
                <a:solidFill>
                  <a:srgbClr val="FFFFFF"/>
                </a:solidFill>
                <a:latin typeface="+mn-lt"/>
                <a:cs typeface="+mn-lt"/>
              </a:rPr>
              <a:t>Lo que no se hace: frena al agente</a:t>
            </a:r>
          </a:p>
        </p:txBody>
      </p:sp>
      <p:sp>
        <p:nvSpPr>
          <p:cNvPr id="34" name="Item 08"/>
          <p:cNvSpPr/>
          <p:nvPr/>
        </p:nvSpPr>
        <p:spPr>
          <a:xfrm>
            <a:off x="4311396" y="4800600"/>
            <a:ext cx="3566160" cy="1234440"/>
          </a:xfrm>
          <a:prstGeom prst="roundRect">
            <a:avLst>
              <a:gd name="adj" fmla="val 10370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5" name="Num 08"/>
          <p:cNvSpPr txBox="1"/>
          <p:nvPr/>
        </p:nvSpPr>
        <p:spPr>
          <a:xfrm>
            <a:off x="4604004" y="500176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08</a:t>
            </a:r>
          </a:p>
        </p:txBody>
      </p:sp>
      <p:sp>
        <p:nvSpPr>
          <p:cNvPr id="36" name="Title 08"/>
          <p:cNvSpPr txBox="1"/>
          <p:nvPr/>
        </p:nvSpPr>
        <p:spPr>
          <a:xfrm>
            <a:off x="4604004" y="5257800"/>
            <a:ext cx="298094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50" b="1" dirty="0">
                <a:solidFill>
                  <a:srgbClr val="070F26"/>
                </a:solidFill>
                <a:latin typeface="+mn-lt"/>
                <a:cs typeface="+mn-lt"/>
              </a:rPr>
              <a:t>Criterios de finalización</a:t>
            </a:r>
          </a:p>
        </p:txBody>
      </p:sp>
      <p:sp>
        <p:nvSpPr>
          <p:cNvPr id="37" name="Desc 08"/>
          <p:cNvSpPr txBox="1"/>
          <p:nvPr/>
        </p:nvSpPr>
        <p:spPr>
          <a:xfrm>
            <a:off x="4604004" y="5623560"/>
            <a:ext cx="29809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dirty="0">
                <a:solidFill>
                  <a:srgbClr val="2E404D"/>
                </a:solidFill>
                <a:latin typeface="+mn-lt"/>
                <a:cs typeface="+mn-lt"/>
              </a:rPr>
              <a:t>Cuándo se da por terminada</a:t>
            </a:r>
          </a:p>
        </p:txBody>
      </p:sp>
      <p:sp>
        <p:nvSpPr>
          <p:cNvPr id="38" name="Item 09"/>
          <p:cNvSpPr/>
          <p:nvPr/>
        </p:nvSpPr>
        <p:spPr>
          <a:xfrm>
            <a:off x="8238744" y="4800600"/>
            <a:ext cx="3566160" cy="1234440"/>
          </a:xfrm>
          <a:prstGeom prst="roundRect">
            <a:avLst>
              <a:gd name="adj" fmla="val 10370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9" name="Num 09"/>
          <p:cNvSpPr txBox="1"/>
          <p:nvPr/>
        </p:nvSpPr>
        <p:spPr>
          <a:xfrm>
            <a:off x="8531352" y="500176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09</a:t>
            </a:r>
          </a:p>
        </p:txBody>
      </p:sp>
      <p:sp>
        <p:nvSpPr>
          <p:cNvPr id="40" name="Title 09"/>
          <p:cNvSpPr txBox="1"/>
          <p:nvPr/>
        </p:nvSpPr>
        <p:spPr>
          <a:xfrm>
            <a:off x="8531352" y="5257800"/>
            <a:ext cx="298094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50" b="1" dirty="0">
                <a:solidFill>
                  <a:srgbClr val="070F26"/>
                </a:solidFill>
                <a:latin typeface="+mn-lt"/>
                <a:cs typeface="+mn-lt"/>
              </a:rPr>
              <a:t>Dudas abiertas</a:t>
            </a:r>
          </a:p>
        </p:txBody>
      </p:sp>
      <p:sp>
        <p:nvSpPr>
          <p:cNvPr id="41" name="Desc 09"/>
          <p:cNvSpPr txBox="1"/>
          <p:nvPr/>
        </p:nvSpPr>
        <p:spPr>
          <a:xfrm>
            <a:off x="8531352" y="5623560"/>
            <a:ext cx="29809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dirty="0">
                <a:solidFill>
                  <a:srgbClr val="2E404D"/>
                </a:solidFill>
                <a:latin typeface="+mn-lt"/>
                <a:cs typeface="+mn-lt"/>
              </a:rPr>
              <a:t>Se marcan [NECESITA ACLARACIÓN]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384048" y="3840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04 · BUENOS REQUISITOS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384048" y="621792"/>
            <a:ext cx="11420856" cy="566928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3200" dirty="0"/>
              <a:t>Requisitos que se pueden comprobar: EARS</a:t>
            </a:r>
          </a:p>
        </p:txBody>
      </p:sp>
      <p:sp>
        <p:nvSpPr>
          <p:cNvPr id="4" name="Subtitle 4"/>
          <p:cNvSpPr>
            <a:spLocks noGrp="1"/>
          </p:cNvSpPr>
          <p:nvPr>
            <p:ph type="body" sz="quarter" idx="13"/>
          </p:nvPr>
        </p:nvSpPr>
        <p:spPr>
          <a:xfrm>
            <a:off x="384048" y="1225296"/>
            <a:ext cx="11420856" cy="365760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ES" sz="1600" dirty="0"/>
              <a:t>Cinco plantillas de frase: cada requisito dice cuándo se aplica y qué hace el sistema</a:t>
            </a:r>
          </a:p>
        </p:txBody>
      </p:sp>
      <p:sp>
        <p:nvSpPr>
          <p:cNvPr id="5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5C88E6C-9C50-4A4A-A1E5-B934BB29D66C}" type="slidenum">
              <a:rPr lang="es-ES" dirty="0"/>
              <a:pPr algn="ctr"/>
              <a:t>12</a:t>
            </a:fld>
            <a:endParaRPr lang="es-ES" dirty="0"/>
          </a:p>
        </p:txBody>
      </p:sp>
      <p:sp>
        <p:nvSpPr>
          <p:cNvPr id="6" name="H1"/>
          <p:cNvSpPr txBox="1"/>
          <p:nvPr/>
        </p:nvSpPr>
        <p:spPr>
          <a:xfrm>
            <a:off x="658368" y="178308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1" spc="200" dirty="0">
                <a:solidFill>
                  <a:srgbClr val="2E404D"/>
                </a:solidFill>
                <a:latin typeface="+mn-lt"/>
                <a:cs typeface="+mn-lt"/>
              </a:rPr>
              <a:t>PATRÓN</a:t>
            </a:r>
          </a:p>
        </p:txBody>
      </p:sp>
      <p:sp>
        <p:nvSpPr>
          <p:cNvPr id="7" name="H2"/>
          <p:cNvSpPr txBox="1"/>
          <p:nvPr/>
        </p:nvSpPr>
        <p:spPr>
          <a:xfrm>
            <a:off x="2441448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1" spc="200" dirty="0">
                <a:solidFill>
                  <a:srgbClr val="2E404D"/>
                </a:solidFill>
                <a:latin typeface="+mn-lt"/>
                <a:cs typeface="+mn-lt"/>
              </a:rPr>
              <a:t>PLANTILLA</a:t>
            </a:r>
          </a:p>
        </p:txBody>
      </p:sp>
      <p:sp>
        <p:nvSpPr>
          <p:cNvPr id="8" name="H3"/>
          <p:cNvSpPr txBox="1"/>
          <p:nvPr/>
        </p:nvSpPr>
        <p:spPr>
          <a:xfrm>
            <a:off x="8476488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b="1" spc="200" dirty="0">
                <a:solidFill>
                  <a:srgbClr val="2E404D"/>
                </a:solidFill>
                <a:latin typeface="+mn-lt"/>
                <a:cs typeface="+mn-lt"/>
              </a:rPr>
              <a:t>CUÁNDO USARLO</a:t>
            </a:r>
          </a:p>
        </p:txBody>
      </p:sp>
      <p:sp>
        <p:nvSpPr>
          <p:cNvPr id="9" name="Row Ubicuo"/>
          <p:cNvSpPr/>
          <p:nvPr/>
        </p:nvSpPr>
        <p:spPr>
          <a:xfrm>
            <a:off x="384048" y="2112264"/>
            <a:ext cx="11420856" cy="512064"/>
          </a:xfrm>
          <a:prstGeom prst="roundRect">
            <a:avLst>
              <a:gd name="adj" fmla="val 17857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Pill Ubicuo"/>
          <p:cNvSpPr/>
          <p:nvPr/>
        </p:nvSpPr>
        <p:spPr>
          <a:xfrm>
            <a:off x="612648" y="22128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2E404D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Pill text Ubicuo"/>
          <p:cNvSpPr txBox="1"/>
          <p:nvPr/>
        </p:nvSpPr>
        <p:spPr>
          <a:xfrm>
            <a:off x="813816" y="2212848"/>
            <a:ext cx="124358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50" b="1" dirty="0">
                <a:solidFill>
                  <a:srgbClr val="FFFFFF"/>
                </a:solidFill>
                <a:latin typeface="+mn-lt"/>
                <a:cs typeface="+mn-lt"/>
              </a:rPr>
              <a:t>Ubicuo</a:t>
            </a:r>
          </a:p>
        </p:txBody>
      </p:sp>
      <p:sp>
        <p:nvSpPr>
          <p:cNvPr id="12" name="Template Ubicuo"/>
          <p:cNvSpPr txBox="1"/>
          <p:nvPr/>
        </p:nvSpPr>
        <p:spPr>
          <a:xfrm>
            <a:off x="2441448" y="2112264"/>
            <a:ext cx="585216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EL SISTEMA</a:t>
            </a:r>
            <a:r>
              <a:rPr lang="es-ES" sz="1600" dirty="0">
                <a:solidFill>
                  <a:srgbClr val="070F26"/>
                </a:solidFill>
                <a:latin typeface="+mn-lt"/>
                <a:cs typeface="+mn-lt"/>
              </a:rPr>
              <a:t> [hará]</a:t>
            </a:r>
          </a:p>
        </p:txBody>
      </p:sp>
      <p:sp>
        <p:nvSpPr>
          <p:cNvPr id="13" name="When Ubicuo"/>
          <p:cNvSpPr txBox="1"/>
          <p:nvPr/>
        </p:nvSpPr>
        <p:spPr>
          <a:xfrm>
            <a:off x="8476488" y="2112264"/>
            <a:ext cx="3054096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E404D"/>
                </a:solidFill>
                <a:latin typeface="+mn-lt"/>
                <a:cs typeface="+mn-lt"/>
              </a:rPr>
              <a:t>Siempre es cierto</a:t>
            </a:r>
          </a:p>
        </p:txBody>
      </p:sp>
      <p:sp>
        <p:nvSpPr>
          <p:cNvPr id="14" name="Row Por evento"/>
          <p:cNvSpPr/>
          <p:nvPr/>
        </p:nvSpPr>
        <p:spPr>
          <a:xfrm>
            <a:off x="384048" y="2706624"/>
            <a:ext cx="11420856" cy="512064"/>
          </a:xfrm>
          <a:prstGeom prst="roundRect">
            <a:avLst>
              <a:gd name="adj" fmla="val 17857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Pill Por evento"/>
          <p:cNvSpPr/>
          <p:nvPr/>
        </p:nvSpPr>
        <p:spPr>
          <a:xfrm>
            <a:off x="612648" y="280720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Pill text Por evento"/>
          <p:cNvSpPr txBox="1"/>
          <p:nvPr/>
        </p:nvSpPr>
        <p:spPr>
          <a:xfrm>
            <a:off x="813816" y="2807208"/>
            <a:ext cx="124358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50" b="1" dirty="0">
                <a:solidFill>
                  <a:srgbClr val="FFFFFF"/>
                </a:solidFill>
                <a:latin typeface="+mn-lt"/>
                <a:cs typeface="+mn-lt"/>
              </a:rPr>
              <a:t>Por evento</a:t>
            </a:r>
          </a:p>
        </p:txBody>
      </p:sp>
      <p:sp>
        <p:nvSpPr>
          <p:cNvPr id="17" name="Template Por evento"/>
          <p:cNvSpPr txBox="1"/>
          <p:nvPr/>
        </p:nvSpPr>
        <p:spPr>
          <a:xfrm>
            <a:off x="2441448" y="2706624"/>
            <a:ext cx="585216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CUANDO</a:t>
            </a:r>
            <a:r>
              <a:rPr lang="es-ES" sz="1600" dirty="0">
                <a:solidFill>
                  <a:srgbClr val="070F26"/>
                </a:solidFill>
                <a:latin typeface="+mn-lt"/>
                <a:cs typeface="+mn-lt"/>
              </a:rPr>
              <a:t> [evento], </a:t>
            </a: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EL SISTEMA</a:t>
            </a:r>
            <a:r>
              <a:rPr lang="es-ES" sz="1600" dirty="0">
                <a:solidFill>
                  <a:srgbClr val="070F26"/>
                </a:solidFill>
                <a:latin typeface="+mn-lt"/>
                <a:cs typeface="+mn-lt"/>
              </a:rPr>
              <a:t> [hará]</a:t>
            </a:r>
          </a:p>
        </p:txBody>
      </p:sp>
      <p:sp>
        <p:nvSpPr>
          <p:cNvPr id="18" name="When Por evento"/>
          <p:cNvSpPr txBox="1"/>
          <p:nvPr/>
        </p:nvSpPr>
        <p:spPr>
          <a:xfrm>
            <a:off x="8476488" y="2706624"/>
            <a:ext cx="3054096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E404D"/>
                </a:solidFill>
                <a:latin typeface="+mn-lt"/>
                <a:cs typeface="+mn-lt"/>
              </a:rPr>
              <a:t>Responde a una acción</a:t>
            </a:r>
          </a:p>
        </p:txBody>
      </p:sp>
      <p:sp>
        <p:nvSpPr>
          <p:cNvPr id="19" name="Row Por estado"/>
          <p:cNvSpPr/>
          <p:nvPr/>
        </p:nvSpPr>
        <p:spPr>
          <a:xfrm>
            <a:off x="384048" y="3300984"/>
            <a:ext cx="11420856" cy="512064"/>
          </a:xfrm>
          <a:prstGeom prst="roundRect">
            <a:avLst>
              <a:gd name="adj" fmla="val 17857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Pill Por estado"/>
          <p:cNvSpPr/>
          <p:nvPr/>
        </p:nvSpPr>
        <p:spPr>
          <a:xfrm>
            <a:off x="612648" y="340156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DFED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Pill text Por estado"/>
          <p:cNvSpPr txBox="1"/>
          <p:nvPr/>
        </p:nvSpPr>
        <p:spPr>
          <a:xfrm>
            <a:off x="813816" y="3401568"/>
            <a:ext cx="124358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50" b="1" dirty="0">
                <a:solidFill>
                  <a:srgbClr val="070F26"/>
                </a:solidFill>
                <a:latin typeface="+mn-lt"/>
                <a:cs typeface="+mn-lt"/>
              </a:rPr>
              <a:t>Por estado</a:t>
            </a:r>
          </a:p>
        </p:txBody>
      </p:sp>
      <p:sp>
        <p:nvSpPr>
          <p:cNvPr id="22" name="Template Por estado"/>
          <p:cNvSpPr txBox="1"/>
          <p:nvPr/>
        </p:nvSpPr>
        <p:spPr>
          <a:xfrm>
            <a:off x="2441448" y="3300984"/>
            <a:ext cx="585216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MIENTRAS</a:t>
            </a:r>
            <a:r>
              <a:rPr lang="es-ES" sz="1600" dirty="0">
                <a:solidFill>
                  <a:srgbClr val="070F26"/>
                </a:solidFill>
                <a:latin typeface="+mn-lt"/>
                <a:cs typeface="+mn-lt"/>
              </a:rPr>
              <a:t> [estado], </a:t>
            </a: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EL SISTEMA</a:t>
            </a:r>
            <a:r>
              <a:rPr lang="es-ES" sz="1600" dirty="0">
                <a:solidFill>
                  <a:srgbClr val="070F26"/>
                </a:solidFill>
                <a:latin typeface="+mn-lt"/>
                <a:cs typeface="+mn-lt"/>
              </a:rPr>
              <a:t> [hará]</a:t>
            </a:r>
          </a:p>
        </p:txBody>
      </p:sp>
      <p:sp>
        <p:nvSpPr>
          <p:cNvPr id="23" name="When Por estado"/>
          <p:cNvSpPr txBox="1"/>
          <p:nvPr/>
        </p:nvSpPr>
        <p:spPr>
          <a:xfrm>
            <a:off x="8476488" y="3300984"/>
            <a:ext cx="3054096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E404D"/>
                </a:solidFill>
                <a:latin typeface="+mn-lt"/>
                <a:cs typeface="+mn-lt"/>
              </a:rPr>
              <a:t>Mientras dura una situación</a:t>
            </a:r>
          </a:p>
        </p:txBody>
      </p:sp>
      <p:sp>
        <p:nvSpPr>
          <p:cNvPr id="24" name="Row No deseado"/>
          <p:cNvSpPr/>
          <p:nvPr/>
        </p:nvSpPr>
        <p:spPr>
          <a:xfrm>
            <a:off x="384048" y="3895344"/>
            <a:ext cx="11420856" cy="512064"/>
          </a:xfrm>
          <a:prstGeom prst="roundRect">
            <a:avLst>
              <a:gd name="adj" fmla="val 17857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Pill No deseado"/>
          <p:cNvSpPr/>
          <p:nvPr/>
        </p:nvSpPr>
        <p:spPr>
          <a:xfrm>
            <a:off x="612648" y="399592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Pill text No deseado"/>
          <p:cNvSpPr txBox="1"/>
          <p:nvPr/>
        </p:nvSpPr>
        <p:spPr>
          <a:xfrm>
            <a:off x="813816" y="3995928"/>
            <a:ext cx="124358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50" b="1" dirty="0">
                <a:solidFill>
                  <a:srgbClr val="070F26"/>
                </a:solidFill>
                <a:latin typeface="+mn-lt"/>
                <a:cs typeface="+mn-lt"/>
              </a:rPr>
              <a:t>No deseado</a:t>
            </a:r>
          </a:p>
        </p:txBody>
      </p:sp>
      <p:sp>
        <p:nvSpPr>
          <p:cNvPr id="27" name="Template No deseado"/>
          <p:cNvSpPr txBox="1"/>
          <p:nvPr/>
        </p:nvSpPr>
        <p:spPr>
          <a:xfrm>
            <a:off x="2441448" y="3895344"/>
            <a:ext cx="585216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SI</a:t>
            </a:r>
            <a:r>
              <a:rPr lang="es-ES" sz="1600" dirty="0">
                <a:solidFill>
                  <a:srgbClr val="070F26"/>
                </a:solidFill>
                <a:latin typeface="+mn-lt"/>
                <a:cs typeface="+mn-lt"/>
              </a:rPr>
              <a:t> [condición], </a:t>
            </a: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ENTONCES</a:t>
            </a:r>
            <a:r>
              <a:rPr lang="es-ES" sz="1600" dirty="0">
                <a:solidFill>
                  <a:srgbClr val="070F26"/>
                </a:solidFill>
                <a:latin typeface="+mn-lt"/>
                <a:cs typeface="+mn-lt"/>
              </a:rPr>
              <a:t> </a:t>
            </a: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EL SISTEMA</a:t>
            </a:r>
            <a:r>
              <a:rPr lang="es-ES" sz="1600" dirty="0">
                <a:solidFill>
                  <a:srgbClr val="070F26"/>
                </a:solidFill>
                <a:latin typeface="+mn-lt"/>
                <a:cs typeface="+mn-lt"/>
              </a:rPr>
              <a:t> [hará]</a:t>
            </a:r>
          </a:p>
        </p:txBody>
      </p:sp>
      <p:sp>
        <p:nvSpPr>
          <p:cNvPr id="28" name="When No deseado"/>
          <p:cNvSpPr txBox="1"/>
          <p:nvPr/>
        </p:nvSpPr>
        <p:spPr>
          <a:xfrm>
            <a:off x="8476488" y="3895344"/>
            <a:ext cx="3054096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E404D"/>
                </a:solidFill>
                <a:latin typeface="+mn-lt"/>
                <a:cs typeface="+mn-lt"/>
              </a:rPr>
              <a:t>Errores y casos límite</a:t>
            </a:r>
          </a:p>
        </p:txBody>
      </p:sp>
      <p:sp>
        <p:nvSpPr>
          <p:cNvPr id="29" name="Row Opcional"/>
          <p:cNvSpPr/>
          <p:nvPr/>
        </p:nvSpPr>
        <p:spPr>
          <a:xfrm>
            <a:off x="384048" y="4489704"/>
            <a:ext cx="11420856" cy="512064"/>
          </a:xfrm>
          <a:prstGeom prst="roundRect">
            <a:avLst>
              <a:gd name="adj" fmla="val 17857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Pill Opcional"/>
          <p:cNvSpPr/>
          <p:nvPr/>
        </p:nvSpPr>
        <p:spPr>
          <a:xfrm>
            <a:off x="612648" y="459028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CB5D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" name="Pill text Opcional"/>
          <p:cNvSpPr txBox="1"/>
          <p:nvPr/>
        </p:nvSpPr>
        <p:spPr>
          <a:xfrm>
            <a:off x="813816" y="4590288"/>
            <a:ext cx="124358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50" b="1" dirty="0">
                <a:solidFill>
                  <a:srgbClr val="070F26"/>
                </a:solidFill>
                <a:latin typeface="+mn-lt"/>
                <a:cs typeface="+mn-lt"/>
              </a:rPr>
              <a:t>Opcional</a:t>
            </a:r>
          </a:p>
        </p:txBody>
      </p:sp>
      <p:sp>
        <p:nvSpPr>
          <p:cNvPr id="32" name="Template Opcional"/>
          <p:cNvSpPr txBox="1"/>
          <p:nvPr/>
        </p:nvSpPr>
        <p:spPr>
          <a:xfrm>
            <a:off x="2441448" y="4489704"/>
            <a:ext cx="585216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DONDE</a:t>
            </a:r>
            <a:r>
              <a:rPr lang="es-ES" sz="1600" dirty="0">
                <a:solidFill>
                  <a:srgbClr val="070F26"/>
                </a:solidFill>
                <a:latin typeface="+mn-lt"/>
                <a:cs typeface="+mn-lt"/>
              </a:rPr>
              <a:t> [opción], </a:t>
            </a: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EL SISTEMA</a:t>
            </a:r>
            <a:r>
              <a:rPr lang="es-ES" sz="1600" dirty="0">
                <a:solidFill>
                  <a:srgbClr val="070F26"/>
                </a:solidFill>
                <a:latin typeface="+mn-lt"/>
                <a:cs typeface="+mn-lt"/>
              </a:rPr>
              <a:t> [hará]</a:t>
            </a:r>
          </a:p>
        </p:txBody>
      </p:sp>
      <p:sp>
        <p:nvSpPr>
          <p:cNvPr id="33" name="When Opcional"/>
          <p:cNvSpPr txBox="1"/>
          <p:nvPr/>
        </p:nvSpPr>
        <p:spPr>
          <a:xfrm>
            <a:off x="8476488" y="4489704"/>
            <a:ext cx="3054096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E404D"/>
                </a:solidFill>
                <a:latin typeface="+mn-lt"/>
                <a:cs typeface="+mn-lt"/>
              </a:rPr>
              <a:t>Solo con una opción activa</a:t>
            </a:r>
          </a:p>
        </p:txBody>
      </p:sp>
      <p:sp>
        <p:nvSpPr>
          <p:cNvPr id="34" name="Rule 0"/>
          <p:cNvSpPr/>
          <p:nvPr/>
        </p:nvSpPr>
        <p:spPr>
          <a:xfrm>
            <a:off x="384048" y="5285232"/>
            <a:ext cx="2683764" cy="768096"/>
          </a:xfrm>
          <a:prstGeom prst="roundRect">
            <a:avLst>
              <a:gd name="adj" fmla="val 14285"/>
            </a:avLst>
          </a:prstGeom>
          <a:solidFill>
            <a:srgbClr val="E6F2FB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35" name="Che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541264"/>
            <a:ext cx="256032" cy="256032"/>
          </a:xfrm>
          <a:prstGeom prst="rect">
            <a:avLst/>
          </a:prstGeom>
        </p:spPr>
      </p:pic>
      <p:sp>
        <p:nvSpPr>
          <p:cNvPr id="36" name="Rule text 0"/>
          <p:cNvSpPr txBox="1"/>
          <p:nvPr/>
        </p:nvSpPr>
        <p:spPr>
          <a:xfrm>
            <a:off x="877824" y="5285232"/>
            <a:ext cx="2080260" cy="7680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50" b="1" dirty="0">
                <a:solidFill>
                  <a:srgbClr val="070F26"/>
                </a:solidFill>
                <a:latin typeface="+mn-lt"/>
                <a:cs typeface="+mn-lt"/>
              </a:rPr>
              <a:t>1 requisito = 1 frase</a:t>
            </a:r>
          </a:p>
        </p:txBody>
      </p:sp>
      <p:sp>
        <p:nvSpPr>
          <p:cNvPr id="37" name="Rule 1"/>
          <p:cNvSpPr/>
          <p:nvPr/>
        </p:nvSpPr>
        <p:spPr>
          <a:xfrm>
            <a:off x="3296412" y="5285232"/>
            <a:ext cx="2683764" cy="768096"/>
          </a:xfrm>
          <a:prstGeom prst="roundRect">
            <a:avLst>
              <a:gd name="adj" fmla="val 14285"/>
            </a:avLst>
          </a:prstGeom>
          <a:solidFill>
            <a:srgbClr val="E6F2FB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38" name="Che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004" y="5541264"/>
            <a:ext cx="256032" cy="256032"/>
          </a:xfrm>
          <a:prstGeom prst="rect">
            <a:avLst/>
          </a:prstGeom>
        </p:spPr>
      </p:pic>
      <p:sp>
        <p:nvSpPr>
          <p:cNvPr id="39" name="Rule text 1"/>
          <p:cNvSpPr txBox="1"/>
          <p:nvPr/>
        </p:nvSpPr>
        <p:spPr>
          <a:xfrm>
            <a:off x="3790188" y="5285232"/>
            <a:ext cx="2080260" cy="7680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50" b="1" dirty="0">
                <a:solidFill>
                  <a:srgbClr val="070F26"/>
                </a:solidFill>
                <a:latin typeface="+mn-lt"/>
                <a:cs typeface="+mn-lt"/>
              </a:rPr>
              <a:t>Si no sabes probarlo, está mal escrito</a:t>
            </a:r>
          </a:p>
        </p:txBody>
      </p:sp>
      <p:sp>
        <p:nvSpPr>
          <p:cNvPr id="40" name="Rule 2"/>
          <p:cNvSpPr/>
          <p:nvPr/>
        </p:nvSpPr>
        <p:spPr>
          <a:xfrm>
            <a:off x="6208776" y="5285232"/>
            <a:ext cx="2683764" cy="768096"/>
          </a:xfrm>
          <a:prstGeom prst="roundRect">
            <a:avLst>
              <a:gd name="adj" fmla="val 14285"/>
            </a:avLst>
          </a:prstGeom>
          <a:solidFill>
            <a:srgbClr val="E6F2FB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41" name="Che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5541264"/>
            <a:ext cx="256032" cy="256032"/>
          </a:xfrm>
          <a:prstGeom prst="rect">
            <a:avLst/>
          </a:prstGeom>
        </p:spPr>
      </p:pic>
      <p:sp>
        <p:nvSpPr>
          <p:cNvPr id="42" name="Rule text 2"/>
          <p:cNvSpPr txBox="1"/>
          <p:nvPr/>
        </p:nvSpPr>
        <p:spPr>
          <a:xfrm>
            <a:off x="6702552" y="5285232"/>
            <a:ext cx="2080260" cy="7680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50" b="1" dirty="0">
                <a:solidFill>
                  <a:srgbClr val="070F26"/>
                </a:solidFill>
                <a:latin typeface="+mn-lt"/>
                <a:cs typeface="+mn-lt"/>
              </a:rPr>
              <a:t>Nada de «rápido» ni «robusto»</a:t>
            </a:r>
          </a:p>
        </p:txBody>
      </p:sp>
      <p:sp>
        <p:nvSpPr>
          <p:cNvPr id="43" name="Rule 3"/>
          <p:cNvSpPr/>
          <p:nvPr/>
        </p:nvSpPr>
        <p:spPr>
          <a:xfrm>
            <a:off x="9121140" y="5285232"/>
            <a:ext cx="2683764" cy="768096"/>
          </a:xfrm>
          <a:prstGeom prst="roundRect">
            <a:avLst>
              <a:gd name="adj" fmla="val 14285"/>
            </a:avLst>
          </a:prstGeom>
          <a:solidFill>
            <a:srgbClr val="E6F2FB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44" name="Che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5732" y="5541264"/>
            <a:ext cx="256032" cy="256032"/>
          </a:xfrm>
          <a:prstGeom prst="rect">
            <a:avLst/>
          </a:prstGeom>
        </p:spPr>
      </p:pic>
      <p:sp>
        <p:nvSpPr>
          <p:cNvPr id="45" name="Rule text 3"/>
          <p:cNvSpPr txBox="1"/>
          <p:nvPr/>
        </p:nvSpPr>
        <p:spPr>
          <a:xfrm>
            <a:off x="9614916" y="5285232"/>
            <a:ext cx="2080260" cy="7680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50" b="1" dirty="0">
                <a:solidFill>
                  <a:srgbClr val="070F26"/>
                </a:solidFill>
                <a:latin typeface="+mn-lt"/>
                <a:cs typeface="+mn-lt"/>
              </a:rPr>
              <a:t>Lo que no sepas: [NECESITA ACLARACIÓN]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384048" y="3840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19A3FC"/>
                </a:solidFill>
                <a:latin typeface="+mn-lt"/>
                <a:cs typeface="+mn-lt"/>
              </a:rPr>
              <a:t>04 · BUENOS REQUISITOS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384048" y="621792"/>
            <a:ext cx="11420856" cy="566928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3200" dirty="0"/>
              <a:t>Probadlo: ¿qué le falla a este requisito?</a:t>
            </a:r>
          </a:p>
        </p:txBody>
      </p:sp>
      <p:sp>
        <p:nvSpPr>
          <p:cNvPr id="4" name="Subtitle 4"/>
          <p:cNvSpPr>
            <a:spLocks noGrp="1"/>
          </p:cNvSpPr>
          <p:nvPr>
            <p:ph type="body" sz="quarter" idx="13"/>
          </p:nvPr>
        </p:nvSpPr>
        <p:spPr>
          <a:xfrm>
            <a:off x="384048" y="1225296"/>
            <a:ext cx="11420856" cy="365760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ES" sz="1600" dirty="0"/>
              <a:t>Pensadlo 30 segundos: ¿cómo lo comprobaríais?</a:t>
            </a:r>
          </a:p>
        </p:txBody>
      </p:sp>
      <p:sp>
        <p:nvSpPr>
          <p:cNvPr id="5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B118BF86-90C2-48EC-B450-7877B8999D27}" type="slidenum">
              <a:rPr lang="es-ES" dirty="0"/>
              <a:pPr algn="ctr"/>
              <a:t>13</a:t>
            </a:fld>
            <a:endParaRPr lang="es-ES" dirty="0"/>
          </a:p>
        </p:txBody>
      </p:sp>
      <p:pic>
        <p:nvPicPr>
          <p:cNvPr id="6" name="Dot pattern" descr="Trama de pun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91440"/>
            <a:ext cx="4023360" cy="4023360"/>
          </a:xfrm>
          <a:prstGeom prst="rect">
            <a:avLst/>
          </a:prstGeom>
        </p:spPr>
      </p:pic>
      <p:sp>
        <p:nvSpPr>
          <p:cNvPr id="7" name="Requirement card"/>
          <p:cNvSpPr/>
          <p:nvPr/>
        </p:nvSpPr>
        <p:spPr>
          <a:xfrm>
            <a:off x="384048" y="2240280"/>
            <a:ext cx="11420856" cy="1554480"/>
          </a:xfrm>
          <a:prstGeom prst="roundRect">
            <a:avLst>
              <a:gd name="adj" fmla="val 9411"/>
            </a:avLst>
          </a:prstGeom>
          <a:solidFill>
            <a:srgbClr val="111D45"/>
          </a:solidFill>
          <a:ln w="12700" cap="rnd">
            <a:solidFill>
              <a:srgbClr val="243270"/>
            </a:solidFill>
            <a:round/>
          </a:ln>
        </p:spPr>
        <p:txBody>
          <a:bodyPr wrap="square" lIns="365760" tIns="91440" rIns="365760" bIns="9144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i="1" dirty="0">
                <a:solidFill>
                  <a:srgbClr val="FFFFFF"/>
                </a:solidFill>
                <a:latin typeface="+mj-lt"/>
                <a:cs typeface="+mj-lt"/>
              </a:rPr>
              <a:t>«El login debe funcionar bien y ser rápido.»</a:t>
            </a:r>
          </a:p>
        </p:txBody>
      </p:sp>
      <p:sp>
        <p:nvSpPr>
          <p:cNvPr id="8" name="question circle"/>
          <p:cNvSpPr/>
          <p:nvPr/>
        </p:nvSpPr>
        <p:spPr>
          <a:xfrm>
            <a:off x="5501488" y="4114800"/>
            <a:ext cx="1188720" cy="1188720"/>
          </a:xfrm>
          <a:prstGeom prst="ellipse">
            <a:avLst/>
          </a:prstGeom>
          <a:solidFill>
            <a:srgbClr val="19A3F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9" name="question icon" descr="ques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3006" y="4376318"/>
            <a:ext cx="665683" cy="665683"/>
          </a:xfrm>
          <a:prstGeom prst="rect">
            <a:avLst/>
          </a:prstGeom>
        </p:spPr>
      </p:pic>
      <p:sp>
        <p:nvSpPr>
          <p:cNvPr id="10" name="Pill 30 segundos"/>
          <p:cNvSpPr/>
          <p:nvPr/>
        </p:nvSpPr>
        <p:spPr>
          <a:xfrm>
            <a:off x="5135728" y="5623560"/>
            <a:ext cx="1920240" cy="402336"/>
          </a:xfrm>
          <a:prstGeom prst="roundRect">
            <a:avLst>
              <a:gd name="adj" fmla="val 50000"/>
            </a:avLst>
          </a:prstGeom>
          <a:noFill/>
          <a:ln w="12700" cap="rnd">
            <a:solidFill>
              <a:srgbClr val="19A3FC"/>
            </a:solidFill>
            <a:round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1" name="time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6896" y="5714086"/>
            <a:ext cx="221285" cy="221285"/>
          </a:xfrm>
          <a:prstGeom prst="rect">
            <a:avLst/>
          </a:prstGeom>
        </p:spPr>
      </p:pic>
      <p:sp>
        <p:nvSpPr>
          <p:cNvPr id="12" name="Pill text 30 segundos"/>
          <p:cNvSpPr txBox="1"/>
          <p:nvPr/>
        </p:nvSpPr>
        <p:spPr>
          <a:xfrm>
            <a:off x="5649620" y="5623560"/>
            <a:ext cx="1250899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19A3FC"/>
                </a:solidFill>
                <a:latin typeface="+mn-lt"/>
                <a:cs typeface="+mn-lt"/>
              </a:rPr>
              <a:t>30 segundos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384048" y="3840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04 · BUENOS REQUISITOS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384048" y="621792"/>
            <a:ext cx="11420856" cy="566928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3200" dirty="0"/>
              <a:t>Probadlo: ¿qué le falla a este requisito?</a:t>
            </a:r>
          </a:p>
        </p:txBody>
      </p:sp>
      <p:sp>
        <p:nvSpPr>
          <p:cNvPr id="4" name="Subtitle 4"/>
          <p:cNvSpPr>
            <a:spLocks noGrp="1"/>
          </p:cNvSpPr>
          <p:nvPr>
            <p:ph type="body" sz="quarter" idx="13"/>
          </p:nvPr>
        </p:nvSpPr>
        <p:spPr>
          <a:xfrm>
            <a:off x="384048" y="1225296"/>
            <a:ext cx="11420856" cy="365760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ES" sz="1600" dirty="0"/>
              <a:t>Mejor así: dos requisitos que se pueden comprobar</a:t>
            </a:r>
          </a:p>
        </p:txBody>
      </p:sp>
      <p:sp>
        <p:nvSpPr>
          <p:cNvPr id="5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7FA9D2F-79A6-4AFE-A9D2-FBB64D23BC15}" type="slidenum">
              <a:rPr lang="es-ES" dirty="0"/>
              <a:pPr algn="ctr"/>
              <a:t>14</a:t>
            </a:fld>
            <a:endParaRPr lang="es-ES" dirty="0"/>
          </a:p>
        </p:txBody>
      </p:sp>
      <p:sp>
        <p:nvSpPr>
          <p:cNvPr id="6" name="Bad requirement"/>
          <p:cNvSpPr/>
          <p:nvPr/>
        </p:nvSpPr>
        <p:spPr>
          <a:xfrm>
            <a:off x="384048" y="1783080"/>
            <a:ext cx="11420856" cy="777240"/>
          </a:xfrm>
          <a:prstGeom prst="roundRect">
            <a:avLst>
              <a:gd name="adj" fmla="val 14117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7" name="X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007108"/>
            <a:ext cx="329184" cy="329184"/>
          </a:xfrm>
          <a:prstGeom prst="rect">
            <a:avLst/>
          </a:prstGeom>
        </p:spPr>
      </p:pic>
      <p:sp>
        <p:nvSpPr>
          <p:cNvPr id="8" name="Bad text"/>
          <p:cNvSpPr txBox="1"/>
          <p:nvPr/>
        </p:nvSpPr>
        <p:spPr>
          <a:xfrm>
            <a:off x="1252728" y="1783080"/>
            <a:ext cx="10232136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i="1" dirty="0">
                <a:solidFill>
                  <a:srgbClr val="2E404D"/>
                </a:solidFill>
                <a:latin typeface="+mj-lt"/>
                <a:cs typeface="+mj-lt"/>
              </a:rPr>
              <a:t>«El login debe funcionar bien y ser rápido.»</a:t>
            </a:r>
          </a:p>
        </p:txBody>
      </p:sp>
      <p:sp>
        <p:nvSpPr>
          <p:cNvPr id="9" name="Fault 0"/>
          <p:cNvSpPr/>
          <p:nvPr/>
        </p:nvSpPr>
        <p:spPr>
          <a:xfrm>
            <a:off x="384048" y="2834640"/>
            <a:ext cx="3624072" cy="457200"/>
          </a:xfrm>
          <a:prstGeom prst="roundRect">
            <a:avLst>
              <a:gd name="adj" fmla="val 20000"/>
            </a:avLst>
          </a:prstGeom>
          <a:solidFill>
            <a:srgbClr val="FFF1E5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0" name="Aler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944368"/>
            <a:ext cx="237744" cy="237744"/>
          </a:xfrm>
          <a:prstGeom prst="rect">
            <a:avLst/>
          </a:prstGeom>
        </p:spPr>
      </p:pic>
      <p:sp>
        <p:nvSpPr>
          <p:cNvPr id="11" name="Fault text 0"/>
          <p:cNvSpPr txBox="1"/>
          <p:nvPr/>
        </p:nvSpPr>
        <p:spPr>
          <a:xfrm>
            <a:off x="978408" y="2834640"/>
            <a:ext cx="289255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dirty="0">
                <a:solidFill>
                  <a:srgbClr val="070F26"/>
                </a:solidFill>
                <a:latin typeface="+mn-lt"/>
                <a:cs typeface="+mn-lt"/>
              </a:rPr>
              <a:t>Dos ideas en una frase</a:t>
            </a:r>
          </a:p>
        </p:txBody>
      </p:sp>
      <p:sp>
        <p:nvSpPr>
          <p:cNvPr id="12" name="Fault 1"/>
          <p:cNvSpPr/>
          <p:nvPr/>
        </p:nvSpPr>
        <p:spPr>
          <a:xfrm>
            <a:off x="4282440" y="2834640"/>
            <a:ext cx="3624072" cy="457200"/>
          </a:xfrm>
          <a:prstGeom prst="roundRect">
            <a:avLst>
              <a:gd name="adj" fmla="val 20000"/>
            </a:avLst>
          </a:prstGeom>
          <a:solidFill>
            <a:srgbClr val="FFF1E5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3" name="Aler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040" y="2944368"/>
            <a:ext cx="237744" cy="237744"/>
          </a:xfrm>
          <a:prstGeom prst="rect">
            <a:avLst/>
          </a:prstGeom>
        </p:spPr>
      </p:pic>
      <p:sp>
        <p:nvSpPr>
          <p:cNvPr id="14" name="Fault text 1"/>
          <p:cNvSpPr txBox="1"/>
          <p:nvPr/>
        </p:nvSpPr>
        <p:spPr>
          <a:xfrm>
            <a:off x="4876800" y="2834640"/>
            <a:ext cx="289255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dirty="0">
                <a:solidFill>
                  <a:srgbClr val="070F26"/>
                </a:solidFill>
                <a:latin typeface="+mn-lt"/>
                <a:cs typeface="+mn-lt"/>
              </a:rPr>
              <a:t>«Bien» y «rápido» no se miden</a:t>
            </a:r>
          </a:p>
        </p:txBody>
      </p:sp>
      <p:sp>
        <p:nvSpPr>
          <p:cNvPr id="15" name="Fault 2"/>
          <p:cNvSpPr/>
          <p:nvPr/>
        </p:nvSpPr>
        <p:spPr>
          <a:xfrm>
            <a:off x="8180832" y="2834640"/>
            <a:ext cx="3624072" cy="457200"/>
          </a:xfrm>
          <a:prstGeom prst="roundRect">
            <a:avLst>
              <a:gd name="adj" fmla="val 20000"/>
            </a:avLst>
          </a:prstGeom>
          <a:solidFill>
            <a:srgbClr val="FFF1E5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6" name="Aler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9432" y="2944368"/>
            <a:ext cx="237744" cy="237744"/>
          </a:xfrm>
          <a:prstGeom prst="rect">
            <a:avLst/>
          </a:prstGeom>
        </p:spPr>
      </p:pic>
      <p:sp>
        <p:nvSpPr>
          <p:cNvPr id="17" name="Fault text 2"/>
          <p:cNvSpPr txBox="1"/>
          <p:nvPr/>
        </p:nvSpPr>
        <p:spPr>
          <a:xfrm>
            <a:off x="8775192" y="2834640"/>
            <a:ext cx="289255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1" dirty="0">
                <a:solidFill>
                  <a:srgbClr val="070F26"/>
                </a:solidFill>
                <a:latin typeface="+mn-lt"/>
                <a:cs typeface="+mn-lt"/>
              </a:rPr>
              <a:t>No dice cuándo se aplica</a:t>
            </a:r>
          </a:p>
        </p:txBody>
      </p:sp>
      <p:sp>
        <p:nvSpPr>
          <p:cNvPr id="18" name="Good requirements"/>
          <p:cNvSpPr/>
          <p:nvPr/>
        </p:nvSpPr>
        <p:spPr>
          <a:xfrm>
            <a:off x="384048" y="3566160"/>
            <a:ext cx="11420856" cy="246888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25400" cap="rnd">
            <a:solidFill>
              <a:srgbClr val="00CB5D"/>
            </a:solidFill>
            <a:round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Pill Por evento"/>
          <p:cNvSpPr/>
          <p:nvPr/>
        </p:nvSpPr>
        <p:spPr>
          <a:xfrm>
            <a:off x="749808" y="4119372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Pill text Por evento"/>
          <p:cNvSpPr txBox="1"/>
          <p:nvPr/>
        </p:nvSpPr>
        <p:spPr>
          <a:xfrm>
            <a:off x="950976" y="4119372"/>
            <a:ext cx="110642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50" b="1" dirty="0">
                <a:solidFill>
                  <a:srgbClr val="FFFFFF"/>
                </a:solidFill>
                <a:latin typeface="+mn-lt"/>
                <a:cs typeface="+mn-lt"/>
              </a:rPr>
              <a:t>Por evento</a:t>
            </a:r>
          </a:p>
        </p:txBody>
      </p:sp>
      <p:sp>
        <p:nvSpPr>
          <p:cNvPr id="21" name="Req Por evento"/>
          <p:cNvSpPr txBox="1"/>
          <p:nvPr/>
        </p:nvSpPr>
        <p:spPr>
          <a:xfrm>
            <a:off x="2487168" y="3749040"/>
            <a:ext cx="8449056" cy="10515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CUANDO</a:t>
            </a:r>
            <a:r>
              <a:rPr lang="es-ES" sz="1600" dirty="0">
                <a:solidFill>
                  <a:srgbClr val="070F26"/>
                </a:solidFill>
                <a:latin typeface="+mn-lt"/>
                <a:cs typeface="+mn-lt"/>
              </a:rPr>
              <a:t> el usuario envíe credenciales válidas, </a:t>
            </a: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EL SISTEMA</a:t>
            </a:r>
            <a:r>
              <a:rPr lang="es-ES" sz="1600" dirty="0">
                <a:solidFill>
                  <a:srgbClr val="070F26"/>
                </a:solidFill>
                <a:latin typeface="+mn-lt"/>
                <a:cs typeface="+mn-lt"/>
              </a:rPr>
              <a:t> abrirá su sesión en menos de 1 segundo.</a:t>
            </a:r>
          </a:p>
        </p:txBody>
      </p:sp>
      <p:pic>
        <p:nvPicPr>
          <p:cNvPr id="22" name="Check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7664" y="4082796"/>
            <a:ext cx="384048" cy="384048"/>
          </a:xfrm>
          <a:prstGeom prst="rect">
            <a:avLst/>
          </a:prstGeom>
        </p:spPr>
      </p:pic>
      <p:cxnSp>
        <p:nvCxnSpPr>
          <p:cNvPr id="23" name="Separator"/>
          <p:cNvCxnSpPr/>
          <p:nvPr/>
        </p:nvCxnSpPr>
        <p:spPr>
          <a:xfrm>
            <a:off x="749808" y="4800600"/>
            <a:ext cx="10689336" cy="0"/>
          </a:xfrm>
          <a:prstGeom prst="line">
            <a:avLst/>
          </a:prstGeom>
          <a:ln w="9525" cap="rnd">
            <a:solidFill>
              <a:srgbClr val="E3E9F0"/>
            </a:solidFill>
          </a:ln>
        </p:spPr>
      </p:cxnSp>
      <p:sp>
        <p:nvSpPr>
          <p:cNvPr id="24" name="Pill No deseado"/>
          <p:cNvSpPr/>
          <p:nvPr/>
        </p:nvSpPr>
        <p:spPr>
          <a:xfrm>
            <a:off x="749808" y="5170932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Pill text No deseado"/>
          <p:cNvSpPr txBox="1"/>
          <p:nvPr/>
        </p:nvSpPr>
        <p:spPr>
          <a:xfrm>
            <a:off x="950976" y="5170932"/>
            <a:ext cx="110642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50" b="1" dirty="0">
                <a:solidFill>
                  <a:srgbClr val="070F26"/>
                </a:solidFill>
                <a:latin typeface="+mn-lt"/>
                <a:cs typeface="+mn-lt"/>
              </a:rPr>
              <a:t>No deseado</a:t>
            </a:r>
          </a:p>
        </p:txBody>
      </p:sp>
      <p:sp>
        <p:nvSpPr>
          <p:cNvPr id="26" name="Req No deseado"/>
          <p:cNvSpPr txBox="1"/>
          <p:nvPr/>
        </p:nvSpPr>
        <p:spPr>
          <a:xfrm>
            <a:off x="2487168" y="4800600"/>
            <a:ext cx="8449056" cy="10515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SI</a:t>
            </a:r>
            <a:r>
              <a:rPr lang="es-ES" sz="1600" dirty="0">
                <a:solidFill>
                  <a:srgbClr val="070F26"/>
                </a:solidFill>
                <a:latin typeface="+mn-lt"/>
                <a:cs typeface="+mn-lt"/>
              </a:rPr>
              <a:t> la contraseña es incorrecta, </a:t>
            </a: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ENTONCES</a:t>
            </a:r>
            <a:r>
              <a:rPr lang="es-ES" sz="1600" dirty="0">
                <a:solidFill>
                  <a:srgbClr val="070F26"/>
                </a:solidFill>
                <a:latin typeface="+mn-lt"/>
                <a:cs typeface="+mn-lt"/>
              </a:rPr>
              <a:t> </a:t>
            </a:r>
            <a:r>
              <a:rPr lang="es-ES" sz="1600" b="1" dirty="0">
                <a:solidFill>
                  <a:srgbClr val="0072BC"/>
                </a:solidFill>
                <a:latin typeface="+mn-lt"/>
                <a:cs typeface="+mn-lt"/>
              </a:rPr>
              <a:t>EL SISTEMA</a:t>
            </a:r>
            <a:r>
              <a:rPr lang="es-ES" sz="1600" dirty="0">
                <a:solidFill>
                  <a:srgbClr val="070F26"/>
                </a:solidFill>
                <a:latin typeface="+mn-lt"/>
                <a:cs typeface="+mn-lt"/>
              </a:rPr>
              <a:t> mostrará un error sin indicar qué dato falla.</a:t>
            </a:r>
          </a:p>
        </p:txBody>
      </p:sp>
      <p:pic>
        <p:nvPicPr>
          <p:cNvPr id="27" name="Check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7664" y="5134356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384048" y="3840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03 · EL FLUJO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384048" y="621792"/>
            <a:ext cx="11420856" cy="566928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3200" dirty="0"/>
              <a:t>Pasos 2 a 4: clarificar, planificar, dividir</a:t>
            </a:r>
          </a:p>
        </p:txBody>
      </p:sp>
      <p:sp>
        <p:nvSpPr>
          <p:cNvPr id="4" name="Subtitle 4"/>
          <p:cNvSpPr>
            <a:spLocks noGrp="1"/>
          </p:cNvSpPr>
          <p:nvPr>
            <p:ph type="body" sz="quarter" idx="13"/>
          </p:nvPr>
        </p:nvSpPr>
        <p:spPr>
          <a:xfrm>
            <a:off x="384048" y="1225296"/>
            <a:ext cx="11420856" cy="365760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ES" sz="1600" dirty="0"/>
              <a:t>Corregir un hueco en la spec cuesta segundos; en producción es un bug</a:t>
            </a:r>
          </a:p>
        </p:txBody>
      </p:sp>
      <p:sp>
        <p:nvSpPr>
          <p:cNvPr id="5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2D09401-3523-466A-B9CE-D8437A4ACF9E}" type="slidenum">
              <a:rPr lang="es-ES" dirty="0"/>
              <a:pPr algn="ctr"/>
              <a:t>15</a:t>
            </a:fld>
            <a:endParaRPr lang="es-ES" dirty="0"/>
          </a:p>
        </p:txBody>
      </p:sp>
      <p:sp>
        <p:nvSpPr>
          <p:cNvPr id="6" name="Card Clarificación"/>
          <p:cNvSpPr/>
          <p:nvPr/>
        </p:nvSpPr>
        <p:spPr>
          <a:xfrm>
            <a:off x="384048" y="1783080"/>
            <a:ext cx="3566160" cy="4206240"/>
          </a:xfrm>
          <a:prstGeom prst="roundRect">
            <a:avLst>
              <a:gd name="adj" fmla="val 3589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Numeral 02"/>
          <p:cNvSpPr txBox="1"/>
          <p:nvPr/>
        </p:nvSpPr>
        <p:spPr>
          <a:xfrm>
            <a:off x="704088" y="196596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>
                <a:solidFill>
                  <a:srgbClr val="0072BC"/>
                </a:solidFill>
                <a:latin typeface="+mj-lt"/>
                <a:cs typeface="+mj-lt"/>
              </a:rPr>
              <a:t>02</a:t>
            </a:r>
          </a:p>
        </p:txBody>
      </p:sp>
      <p:sp>
        <p:nvSpPr>
          <p:cNvPr id="8" name="search circle"/>
          <p:cNvSpPr/>
          <p:nvPr/>
        </p:nvSpPr>
        <p:spPr>
          <a:xfrm>
            <a:off x="3154680" y="2075688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9" name="search icon" descr="sear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287" y="2180295"/>
            <a:ext cx="266273" cy="266273"/>
          </a:xfrm>
          <a:prstGeom prst="rect">
            <a:avLst/>
          </a:prstGeom>
        </p:spPr>
      </p:pic>
      <p:sp>
        <p:nvSpPr>
          <p:cNvPr id="10" name="Title Clarificación"/>
          <p:cNvSpPr txBox="1"/>
          <p:nvPr/>
        </p:nvSpPr>
        <p:spPr>
          <a:xfrm>
            <a:off x="704088" y="28346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070F26"/>
                </a:solidFill>
                <a:latin typeface="+mn-lt"/>
                <a:cs typeface="+mn-lt"/>
              </a:rPr>
              <a:t>Clarificación</a:t>
            </a:r>
          </a:p>
        </p:txBody>
      </p:sp>
      <p:sp>
        <p:nvSpPr>
          <p:cNvPr id="11" name="Desc Clarificación"/>
          <p:cNvSpPr txBox="1"/>
          <p:nvPr/>
        </p:nvSpPr>
        <p:spPr>
          <a:xfrm>
            <a:off x="704088" y="329184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dirty="0">
                <a:solidFill>
                  <a:srgbClr val="2E404D"/>
                </a:solidFill>
                <a:latin typeface="+mn-lt"/>
                <a:cs typeface="+mn-lt"/>
              </a:rPr>
              <a:t>El agente revisa la spec como un QA exigente: ambigüedades, contradicciones y huecos.</a:t>
            </a:r>
          </a:p>
        </p:txBody>
      </p:sp>
      <p:sp>
        <p:nvSpPr>
          <p:cNvPr id="12" name="Example Clarificación"/>
          <p:cNvSpPr/>
          <p:nvPr/>
        </p:nvSpPr>
        <p:spPr>
          <a:xfrm>
            <a:off x="704088" y="4572000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</p:spPr>
        <p:txBody>
          <a:bodyPr wrap="square" lIns="201168" tIns="91440" rIns="201168" bIns="9144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ES" sz="1000" b="1" spc="150" dirty="0">
                <a:solidFill>
                  <a:srgbClr val="0072BC"/>
                </a:solidFill>
                <a:latin typeface="+mn-lt"/>
                <a:cs typeface="+mn-lt"/>
              </a:rPr>
              <a:t>EJEMPLO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i="1" dirty="0">
                <a:solidFill>
                  <a:srgbClr val="070F26"/>
                </a:solidFill>
                <a:latin typeface="+mn-lt"/>
                <a:cs typeface="+mn-lt"/>
              </a:rPr>
              <a:t>¿Y si el email llega en mayúsculas? Se decide ahora, no en producción.</a:t>
            </a:r>
          </a:p>
        </p:txBody>
      </p:sp>
      <p:sp>
        <p:nvSpPr>
          <p:cNvPr id="13" name="Card Plan"/>
          <p:cNvSpPr/>
          <p:nvPr/>
        </p:nvSpPr>
        <p:spPr>
          <a:xfrm>
            <a:off x="4311396" y="1783080"/>
            <a:ext cx="3566160" cy="4206240"/>
          </a:xfrm>
          <a:prstGeom prst="roundRect">
            <a:avLst>
              <a:gd name="adj" fmla="val 3589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Numeral 03"/>
          <p:cNvSpPr txBox="1"/>
          <p:nvPr/>
        </p:nvSpPr>
        <p:spPr>
          <a:xfrm>
            <a:off x="4631436" y="196596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>
                <a:solidFill>
                  <a:srgbClr val="0072BC"/>
                </a:solidFill>
                <a:latin typeface="+mj-lt"/>
                <a:cs typeface="+mj-lt"/>
              </a:rPr>
              <a:t>03</a:t>
            </a:r>
          </a:p>
        </p:txBody>
      </p:sp>
      <p:sp>
        <p:nvSpPr>
          <p:cNvPr id="15" name="map circle"/>
          <p:cNvSpPr/>
          <p:nvPr/>
        </p:nvSpPr>
        <p:spPr>
          <a:xfrm>
            <a:off x="7082028" y="2075688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6" name="map icon" descr="ma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635" y="2180295"/>
            <a:ext cx="266273" cy="266273"/>
          </a:xfrm>
          <a:prstGeom prst="rect">
            <a:avLst/>
          </a:prstGeom>
        </p:spPr>
      </p:pic>
      <p:sp>
        <p:nvSpPr>
          <p:cNvPr id="17" name="Title Plan"/>
          <p:cNvSpPr txBox="1"/>
          <p:nvPr/>
        </p:nvSpPr>
        <p:spPr>
          <a:xfrm>
            <a:off x="4631436" y="28346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070F26"/>
                </a:solidFill>
                <a:latin typeface="+mn-lt"/>
                <a:cs typeface="+mn-lt"/>
              </a:rPr>
              <a:t>Plan</a:t>
            </a:r>
          </a:p>
        </p:txBody>
      </p:sp>
      <p:sp>
        <p:nvSpPr>
          <p:cNvPr id="18" name="Desc Plan"/>
          <p:cNvSpPr txBox="1"/>
          <p:nvPr/>
        </p:nvSpPr>
        <p:spPr>
          <a:xfrm>
            <a:off x="4631436" y="329184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dirty="0">
                <a:solidFill>
                  <a:srgbClr val="2E404D"/>
                </a:solidFill>
                <a:latin typeface="+mn-lt"/>
                <a:cs typeface="+mn-lt"/>
              </a:rPr>
              <a:t>Ahora sí, tecnología: módulos, datos y tests. Cada decisión, con su alternativa descartada.</a:t>
            </a:r>
          </a:p>
        </p:txBody>
      </p:sp>
      <p:sp>
        <p:nvSpPr>
          <p:cNvPr id="19" name="Example Plan"/>
          <p:cNvSpPr/>
          <p:nvPr/>
        </p:nvSpPr>
        <p:spPr>
          <a:xfrm>
            <a:off x="4631436" y="4572000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</p:spPr>
        <p:txBody>
          <a:bodyPr wrap="square" lIns="201168" tIns="91440" rIns="201168" bIns="9144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ES" sz="1000" b="1" spc="150" dirty="0">
                <a:solidFill>
                  <a:srgbClr val="0072BC"/>
                </a:solidFill>
                <a:latin typeface="+mn-lt"/>
                <a:cs typeface="+mn-lt"/>
              </a:rPr>
              <a:t>EJEMPLO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i="1" dirty="0">
                <a:solidFill>
                  <a:srgbClr val="070F26"/>
                </a:solidFill>
                <a:latin typeface="+mn-lt"/>
                <a:cs typeface="+mn-lt"/>
              </a:rPr>
              <a:t>Biblioteca estándar en vez de una dependencia nueva: lo pide la constitución.</a:t>
            </a:r>
          </a:p>
        </p:txBody>
      </p:sp>
      <p:sp>
        <p:nvSpPr>
          <p:cNvPr id="20" name="Card Tareas"/>
          <p:cNvSpPr/>
          <p:nvPr/>
        </p:nvSpPr>
        <p:spPr>
          <a:xfrm>
            <a:off x="8238744" y="1783080"/>
            <a:ext cx="3566160" cy="4206240"/>
          </a:xfrm>
          <a:prstGeom prst="roundRect">
            <a:avLst>
              <a:gd name="adj" fmla="val 3589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Numeral 04"/>
          <p:cNvSpPr txBox="1"/>
          <p:nvPr/>
        </p:nvSpPr>
        <p:spPr>
          <a:xfrm>
            <a:off x="8558784" y="196596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>
                <a:solidFill>
                  <a:srgbClr val="0072BC"/>
                </a:solidFill>
                <a:latin typeface="+mj-lt"/>
                <a:cs typeface="+mj-lt"/>
              </a:rPr>
              <a:t>04</a:t>
            </a:r>
          </a:p>
        </p:txBody>
      </p:sp>
      <p:sp>
        <p:nvSpPr>
          <p:cNvPr id="22" name="listchecks circle"/>
          <p:cNvSpPr/>
          <p:nvPr/>
        </p:nvSpPr>
        <p:spPr>
          <a:xfrm>
            <a:off x="11009376" y="2075688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23" name="listchecks icon" descr="listcheck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3983" y="2180295"/>
            <a:ext cx="266273" cy="266273"/>
          </a:xfrm>
          <a:prstGeom prst="rect">
            <a:avLst/>
          </a:prstGeom>
        </p:spPr>
      </p:pic>
      <p:sp>
        <p:nvSpPr>
          <p:cNvPr id="24" name="Title Tareas"/>
          <p:cNvSpPr txBox="1"/>
          <p:nvPr/>
        </p:nvSpPr>
        <p:spPr>
          <a:xfrm>
            <a:off x="8558784" y="28346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070F26"/>
                </a:solidFill>
                <a:latin typeface="+mn-lt"/>
                <a:cs typeface="+mn-lt"/>
              </a:rPr>
              <a:t>Tareas</a:t>
            </a:r>
          </a:p>
        </p:txBody>
      </p:sp>
      <p:sp>
        <p:nvSpPr>
          <p:cNvPr id="25" name="Desc Tareas"/>
          <p:cNvSpPr txBox="1"/>
          <p:nvPr/>
        </p:nvSpPr>
        <p:spPr>
          <a:xfrm>
            <a:off x="8558784" y="329184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dirty="0">
                <a:solidFill>
                  <a:srgbClr val="2E404D"/>
                </a:solidFill>
                <a:latin typeface="+mn-lt"/>
                <a:cs typeface="+mn-lt"/>
              </a:rPr>
              <a:t>Tareas de menos de 30 minutos, cada una con sus requisitos y un «Hecho cuando:».</a:t>
            </a:r>
          </a:p>
        </p:txBody>
      </p:sp>
      <p:sp>
        <p:nvSpPr>
          <p:cNvPr id="26" name="Example Tareas"/>
          <p:cNvSpPr/>
          <p:nvPr/>
        </p:nvSpPr>
        <p:spPr>
          <a:xfrm>
            <a:off x="8558784" y="4572000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</p:spPr>
        <p:txBody>
          <a:bodyPr wrap="square" lIns="201168" tIns="91440" rIns="201168" bIns="9144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ES" sz="1000" b="1" spc="150" dirty="0">
                <a:solidFill>
                  <a:srgbClr val="0072BC"/>
                </a:solidFill>
                <a:latin typeface="+mn-lt"/>
                <a:cs typeface="+mn-lt"/>
              </a:rPr>
              <a:t>EJEMPLO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i="1" dirty="0">
                <a:solidFill>
                  <a:srgbClr val="070F26"/>
                </a:solidFill>
                <a:latin typeface="+mn-lt"/>
                <a:cs typeface="+mn-lt"/>
              </a:rPr>
              <a:t>T3 · Bloqueo tras 5 intentos (RF-4). Hecho cuando: el sexto intento devuelve error.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384048" y="3840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03 · EL FLUJO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384048" y="621792"/>
            <a:ext cx="11420856" cy="566928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3200" dirty="0"/>
              <a:t>Dónde vive todo</a:t>
            </a:r>
          </a:p>
        </p:txBody>
      </p:sp>
      <p:sp>
        <p:nvSpPr>
          <p:cNvPr id="4" name="Subtitle 4"/>
          <p:cNvSpPr>
            <a:spLocks noGrp="1"/>
          </p:cNvSpPr>
          <p:nvPr>
            <p:ph type="body" sz="quarter" idx="13"/>
          </p:nvPr>
        </p:nvSpPr>
        <p:spPr>
          <a:xfrm>
            <a:off x="384048" y="1225296"/>
            <a:ext cx="11420856" cy="365760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ES" sz="1600" dirty="0"/>
              <a:t>Todo es Markdown dentro del repo: lo lee el agente y lo revisa el equipo</a:t>
            </a:r>
          </a:p>
        </p:txBody>
      </p:sp>
      <p:sp>
        <p:nvSpPr>
          <p:cNvPr id="5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60E2287-8C66-4BE4-8FF8-99DF4AF215F8}" type="slidenum">
              <a:rPr lang="es-ES" dirty="0"/>
              <a:pPr algn="ctr"/>
              <a:t>16</a:t>
            </a:fld>
            <a:endParaRPr lang="es-ES" dirty="0"/>
          </a:p>
        </p:txBody>
      </p:sp>
      <p:sp>
        <p:nvSpPr>
          <p:cNvPr id="6" name="Editor panel"/>
          <p:cNvSpPr/>
          <p:nvPr/>
        </p:nvSpPr>
        <p:spPr>
          <a:xfrm>
            <a:off x="384048" y="1783080"/>
            <a:ext cx="6949440" cy="4206240"/>
          </a:xfrm>
          <a:prstGeom prst="roundRect">
            <a:avLst>
              <a:gd name="adj" fmla="val 3478"/>
            </a:avLst>
          </a:prstGeom>
          <a:solidFill>
            <a:srgbClr val="070F26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oot"/>
          <p:cNvSpPr txBox="1"/>
          <p:nvPr/>
        </p:nvSpPr>
        <p:spPr>
          <a:xfrm>
            <a:off x="749808" y="20574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solidFill>
                  <a:srgbClr val="FFFFFF"/>
                </a:solidFill>
                <a:latin typeface="Courier New"/>
                <a:cs typeface="Courier New"/>
              </a:rPr>
              <a:t>tu-proyecto/</a:t>
            </a:r>
          </a:p>
        </p:txBody>
      </p:sp>
      <p:sp>
        <p:nvSpPr>
          <p:cNvPr id="8" name="Tree AGENTS.md"/>
          <p:cNvSpPr txBox="1"/>
          <p:nvPr/>
        </p:nvSpPr>
        <p:spPr>
          <a:xfrm>
            <a:off x="749808" y="25603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rgbClr val="B7C3D6"/>
                </a:solidFill>
                <a:latin typeface="Courier New"/>
                <a:cs typeface="Courier New"/>
              </a:rPr>
              <a:t>├── </a:t>
            </a:r>
            <a:r>
              <a:rPr lang="es-ES" sz="1350" dirty="0">
                <a:solidFill>
                  <a:srgbClr val="FFFFFF"/>
                </a:solidFill>
                <a:latin typeface="Courier New"/>
                <a:cs typeface="Courier New"/>
              </a:rPr>
              <a:t>AGENTS.md</a:t>
            </a:r>
          </a:p>
        </p:txBody>
      </p:sp>
      <p:sp>
        <p:nvSpPr>
          <p:cNvPr id="9" name="Desc AGENTS.md"/>
          <p:cNvSpPr txBox="1"/>
          <p:nvPr/>
        </p:nvSpPr>
        <p:spPr>
          <a:xfrm>
            <a:off x="4178808" y="256032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50" i="1" dirty="0">
                <a:solidFill>
                  <a:srgbClr val="B7C3D6"/>
                </a:solidFill>
                <a:latin typeface="+mn-lt"/>
                <a:cs typeface="+mn-lt"/>
              </a:rPr>
              <a:t>contexto del proyecto: comandos, reglas y qué comprobar al terminar</a:t>
            </a:r>
          </a:p>
        </p:txBody>
      </p:sp>
      <p:sp>
        <p:nvSpPr>
          <p:cNvPr id="10" name="Tree CLAUDE.md"/>
          <p:cNvSpPr txBox="1"/>
          <p:nvPr/>
        </p:nvSpPr>
        <p:spPr>
          <a:xfrm>
            <a:off x="749808" y="30175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rgbClr val="B7C3D6"/>
                </a:solidFill>
                <a:latin typeface="Courier New"/>
                <a:cs typeface="Courier New"/>
              </a:rPr>
              <a:t>├── </a:t>
            </a:r>
            <a:r>
              <a:rPr lang="es-ES" sz="1350" dirty="0">
                <a:solidFill>
                  <a:srgbClr val="FFFFFF"/>
                </a:solidFill>
                <a:latin typeface="Courier New"/>
                <a:cs typeface="Courier New"/>
              </a:rPr>
              <a:t>CLAUDE.md</a:t>
            </a:r>
          </a:p>
        </p:txBody>
      </p:sp>
      <p:sp>
        <p:nvSpPr>
          <p:cNvPr id="11" name="Desc CLAUDE.md"/>
          <p:cNvSpPr txBox="1"/>
          <p:nvPr/>
        </p:nvSpPr>
        <p:spPr>
          <a:xfrm>
            <a:off x="4178808" y="301752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50" i="1" dirty="0">
                <a:solidFill>
                  <a:srgbClr val="B7C3D6"/>
                </a:solidFill>
                <a:latin typeface="+mn-lt"/>
                <a:cs typeface="+mn-lt"/>
              </a:rPr>
              <a:t>una sola línea: @AGENTS.md</a:t>
            </a:r>
          </a:p>
        </p:txBody>
      </p:sp>
      <p:sp>
        <p:nvSpPr>
          <p:cNvPr id="12" name="Tree docs/constitution.md"/>
          <p:cNvSpPr txBox="1"/>
          <p:nvPr/>
        </p:nvSpPr>
        <p:spPr>
          <a:xfrm>
            <a:off x="749808" y="34747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rgbClr val="B7C3D6"/>
                </a:solidFill>
                <a:latin typeface="Courier New"/>
                <a:cs typeface="Courier New"/>
              </a:rPr>
              <a:t>├── </a:t>
            </a:r>
            <a:r>
              <a:rPr lang="es-ES" sz="1350" dirty="0">
                <a:solidFill>
                  <a:srgbClr val="FFFFFF"/>
                </a:solidFill>
                <a:latin typeface="Courier New"/>
                <a:cs typeface="Courier New"/>
              </a:rPr>
              <a:t>docs/constitution.md</a:t>
            </a:r>
          </a:p>
        </p:txBody>
      </p:sp>
      <p:sp>
        <p:nvSpPr>
          <p:cNvPr id="13" name="Desc docs/constitution.md"/>
          <p:cNvSpPr txBox="1"/>
          <p:nvPr/>
        </p:nvSpPr>
        <p:spPr>
          <a:xfrm>
            <a:off x="4178808" y="347472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50" i="1" dirty="0">
                <a:solidFill>
                  <a:srgbClr val="B7C3D6"/>
                </a:solidFill>
                <a:latin typeface="+mn-lt"/>
                <a:cs typeface="+mn-lt"/>
              </a:rPr>
              <a:t>principios innegociables</a:t>
            </a:r>
          </a:p>
        </p:txBody>
      </p:sp>
      <p:sp>
        <p:nvSpPr>
          <p:cNvPr id="14" name="Tree specs/001-mi-funcionalidad/"/>
          <p:cNvSpPr txBox="1"/>
          <p:nvPr/>
        </p:nvSpPr>
        <p:spPr>
          <a:xfrm>
            <a:off x="749808" y="39319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rgbClr val="B7C3D6"/>
                </a:solidFill>
                <a:latin typeface="Courier New"/>
                <a:cs typeface="Courier New"/>
              </a:rPr>
              <a:t>└── </a:t>
            </a:r>
            <a:r>
              <a:rPr lang="es-ES" sz="1350" b="1" dirty="0">
                <a:solidFill>
                  <a:srgbClr val="19A3FC"/>
                </a:solidFill>
                <a:latin typeface="Courier New"/>
                <a:cs typeface="Courier New"/>
              </a:rPr>
              <a:t>specs/001-mi-funcionalidad/</a:t>
            </a:r>
          </a:p>
        </p:txBody>
      </p:sp>
      <p:sp>
        <p:nvSpPr>
          <p:cNvPr id="15" name="Tree spec.md"/>
          <p:cNvSpPr txBox="1"/>
          <p:nvPr/>
        </p:nvSpPr>
        <p:spPr>
          <a:xfrm>
            <a:off x="749808" y="43891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rgbClr val="B7C3D6"/>
                </a:solidFill>
                <a:latin typeface="Courier New"/>
                <a:cs typeface="Courier New"/>
              </a:rPr>
              <a:t>    ├── </a:t>
            </a:r>
            <a:r>
              <a:rPr lang="es-ES" sz="1350" dirty="0">
                <a:solidFill>
                  <a:srgbClr val="FFFFFF"/>
                </a:solidFill>
                <a:latin typeface="Courier New"/>
                <a:cs typeface="Courier New"/>
              </a:rPr>
              <a:t>spec.md</a:t>
            </a:r>
          </a:p>
        </p:txBody>
      </p:sp>
      <p:sp>
        <p:nvSpPr>
          <p:cNvPr id="16" name="Desc spec.md"/>
          <p:cNvSpPr txBox="1"/>
          <p:nvPr/>
        </p:nvSpPr>
        <p:spPr>
          <a:xfrm>
            <a:off x="4178808" y="438912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50" i="1" dirty="0">
                <a:solidFill>
                  <a:srgbClr val="B7C3D6"/>
                </a:solidFill>
                <a:latin typeface="+mn-lt"/>
                <a:cs typeface="+mn-lt"/>
              </a:rPr>
              <a:t>qué y por qué</a:t>
            </a:r>
          </a:p>
        </p:txBody>
      </p:sp>
      <p:sp>
        <p:nvSpPr>
          <p:cNvPr id="17" name="Tree plan.md"/>
          <p:cNvSpPr txBox="1"/>
          <p:nvPr/>
        </p:nvSpPr>
        <p:spPr>
          <a:xfrm>
            <a:off x="749808" y="48463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rgbClr val="B7C3D6"/>
                </a:solidFill>
                <a:latin typeface="Courier New"/>
                <a:cs typeface="Courier New"/>
              </a:rPr>
              <a:t>    ├── </a:t>
            </a:r>
            <a:r>
              <a:rPr lang="es-ES" sz="1350" dirty="0">
                <a:solidFill>
                  <a:srgbClr val="FFFFFF"/>
                </a:solidFill>
                <a:latin typeface="Courier New"/>
                <a:cs typeface="Courier New"/>
              </a:rPr>
              <a:t>plan.md</a:t>
            </a:r>
          </a:p>
        </p:txBody>
      </p:sp>
      <p:sp>
        <p:nvSpPr>
          <p:cNvPr id="18" name="Desc plan.md"/>
          <p:cNvSpPr txBox="1"/>
          <p:nvPr/>
        </p:nvSpPr>
        <p:spPr>
          <a:xfrm>
            <a:off x="4178808" y="484632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50" i="1" dirty="0">
                <a:solidFill>
                  <a:srgbClr val="B7C3D6"/>
                </a:solidFill>
                <a:latin typeface="+mn-lt"/>
                <a:cs typeface="+mn-lt"/>
              </a:rPr>
              <a:t>cómo</a:t>
            </a:r>
          </a:p>
        </p:txBody>
      </p:sp>
      <p:sp>
        <p:nvSpPr>
          <p:cNvPr id="19" name="Tree tasks.md"/>
          <p:cNvSpPr txBox="1"/>
          <p:nvPr/>
        </p:nvSpPr>
        <p:spPr>
          <a:xfrm>
            <a:off x="749808" y="53035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rgbClr val="B7C3D6"/>
                </a:solidFill>
                <a:latin typeface="Courier New"/>
                <a:cs typeface="Courier New"/>
              </a:rPr>
              <a:t>    └── </a:t>
            </a:r>
            <a:r>
              <a:rPr lang="es-ES" sz="1350" dirty="0">
                <a:solidFill>
                  <a:srgbClr val="FFFFFF"/>
                </a:solidFill>
                <a:latin typeface="Courier New"/>
                <a:cs typeface="Courier New"/>
              </a:rPr>
              <a:t>tasks.md</a:t>
            </a:r>
          </a:p>
        </p:txBody>
      </p:sp>
      <p:sp>
        <p:nvSpPr>
          <p:cNvPr id="20" name="Desc tasks.md"/>
          <p:cNvSpPr txBox="1"/>
          <p:nvPr/>
        </p:nvSpPr>
        <p:spPr>
          <a:xfrm>
            <a:off x="4178808" y="530352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50" i="1" dirty="0">
                <a:solidFill>
                  <a:srgbClr val="B7C3D6"/>
                </a:solidFill>
                <a:latin typeface="+mn-lt"/>
                <a:cs typeface="+mn-lt"/>
              </a:rPr>
              <a:t>T1…Tn con casillas</a:t>
            </a:r>
          </a:p>
        </p:txBody>
      </p:sp>
      <p:sp>
        <p:nvSpPr>
          <p:cNvPr id="21" name="Note filecode"/>
          <p:cNvSpPr/>
          <p:nvPr/>
        </p:nvSpPr>
        <p:spPr>
          <a:xfrm>
            <a:off x="7699248" y="1783080"/>
            <a:ext cx="4105656" cy="1965960"/>
          </a:xfrm>
          <a:prstGeom prst="roundRect">
            <a:avLst>
              <a:gd name="adj" fmla="val 6511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filecode circle"/>
          <p:cNvSpPr/>
          <p:nvPr/>
        </p:nvSpPr>
        <p:spPr>
          <a:xfrm>
            <a:off x="8019288" y="2103120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23" name="filecode icon" descr="file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895" y="2207727"/>
            <a:ext cx="266273" cy="266273"/>
          </a:xfrm>
          <a:prstGeom prst="rect">
            <a:avLst/>
          </a:prstGeom>
        </p:spPr>
      </p:pic>
      <p:sp>
        <p:nvSpPr>
          <p:cNvPr id="24" name="Note text filecode"/>
          <p:cNvSpPr txBox="1"/>
          <p:nvPr/>
        </p:nvSpPr>
        <p:spPr>
          <a:xfrm>
            <a:off x="8019288" y="2788920"/>
            <a:ext cx="3465576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solidFill>
                  <a:srgbClr val="070F26"/>
                </a:solidFill>
                <a:latin typeface="+mn-lt"/>
                <a:cs typeface="+mn-lt"/>
              </a:rPr>
              <a:t>AGENTS.md y la constitución</a:t>
            </a:r>
            <a:r>
              <a:rPr lang="es-ES" sz="1500" dirty="0">
                <a:solidFill>
                  <a:srgbClr val="2E404D"/>
                </a:solidFill>
                <a:latin typeface="+mn-lt"/>
                <a:cs typeface="+mn-lt"/>
              </a:rPr>
              <a:t> se escriben una vez por proyecto.</a:t>
            </a:r>
          </a:p>
        </p:txBody>
      </p:sp>
      <p:sp>
        <p:nvSpPr>
          <p:cNvPr id="25" name="Note folder"/>
          <p:cNvSpPr/>
          <p:nvPr/>
        </p:nvSpPr>
        <p:spPr>
          <a:xfrm>
            <a:off x="7699248" y="4023360"/>
            <a:ext cx="4105656" cy="1965960"/>
          </a:xfrm>
          <a:prstGeom prst="roundRect">
            <a:avLst>
              <a:gd name="adj" fmla="val 6511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folder circle"/>
          <p:cNvSpPr/>
          <p:nvPr/>
        </p:nvSpPr>
        <p:spPr>
          <a:xfrm>
            <a:off x="8019288" y="4343400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27" name="folder icon" descr="fol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895" y="4448007"/>
            <a:ext cx="266273" cy="266273"/>
          </a:xfrm>
          <a:prstGeom prst="rect">
            <a:avLst/>
          </a:prstGeom>
        </p:spPr>
      </p:pic>
      <p:sp>
        <p:nvSpPr>
          <p:cNvPr id="28" name="Note text folder"/>
          <p:cNvSpPr txBox="1"/>
          <p:nvPr/>
        </p:nvSpPr>
        <p:spPr>
          <a:xfrm>
            <a:off x="8019288" y="5029200"/>
            <a:ext cx="3465576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solidFill>
                  <a:srgbClr val="070F26"/>
                </a:solidFill>
                <a:latin typeface="+mn-lt"/>
                <a:cs typeface="+mn-lt"/>
              </a:rPr>
              <a:t>Una carpeta numerada</a:t>
            </a:r>
            <a:r>
              <a:rPr lang="es-ES" sz="1500" dirty="0">
                <a:solidFill>
                  <a:srgbClr val="2E404D"/>
                </a:solidFill>
                <a:latin typeface="+mn-lt"/>
                <a:cs typeface="+mn-lt"/>
              </a:rPr>
              <a:t> por funcionalidad: 001, 002…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384048" y="3840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0072BC"/>
                </a:solidFill>
                <a:latin typeface="+mn-lt"/>
                <a:cs typeface="+mn-lt"/>
              </a:rPr>
              <a:t>03 · EL FLUJO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384048" y="621792"/>
            <a:ext cx="11420856" cy="566928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3200" dirty="0"/>
              <a:t>Implementar, validar y cambiar</a:t>
            </a:r>
          </a:p>
        </p:txBody>
      </p:sp>
      <p:sp>
        <p:nvSpPr>
          <p:cNvPr id="4" name="Subtitle 4"/>
          <p:cNvSpPr>
            <a:spLocks noGrp="1"/>
          </p:cNvSpPr>
          <p:nvPr>
            <p:ph type="body" sz="quarter" idx="13"/>
          </p:nvPr>
        </p:nvSpPr>
        <p:spPr>
          <a:xfrm>
            <a:off x="384048" y="1225296"/>
            <a:ext cx="11420856" cy="365760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ES" sz="1600" dirty="0"/>
              <a:t>«Funciona» deja de ser una sensación: cada requisito tiene su test</a:t>
            </a:r>
          </a:p>
        </p:txBody>
      </p:sp>
      <p:sp>
        <p:nvSpPr>
          <p:cNvPr id="5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B1547D8-8993-4B46-BFB2-BE67C9CB0D1B}" type="slidenum">
              <a:rPr lang="es-ES" dirty="0"/>
              <a:pPr algn="ctr"/>
              <a:t>17</a:t>
            </a:fld>
            <a:endParaRPr lang="es-ES" dirty="0"/>
          </a:p>
        </p:txBody>
      </p:sp>
      <p:sp>
        <p:nvSpPr>
          <p:cNvPr id="6" name="Card Implementación"/>
          <p:cNvSpPr/>
          <p:nvPr/>
        </p:nvSpPr>
        <p:spPr>
          <a:xfrm>
            <a:off x="384048" y="1783080"/>
            <a:ext cx="3566160" cy="3657600"/>
          </a:xfrm>
          <a:prstGeom prst="roundRect">
            <a:avLst>
              <a:gd name="adj" fmla="val 3589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Numeral 05"/>
          <p:cNvSpPr txBox="1"/>
          <p:nvPr/>
        </p:nvSpPr>
        <p:spPr>
          <a:xfrm>
            <a:off x="704088" y="196596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>
                <a:solidFill>
                  <a:srgbClr val="0072BC"/>
                </a:solidFill>
                <a:latin typeface="+mj-lt"/>
                <a:cs typeface="+mj-lt"/>
              </a:rPr>
              <a:t>05</a:t>
            </a:r>
          </a:p>
        </p:txBody>
      </p:sp>
      <p:sp>
        <p:nvSpPr>
          <p:cNvPr id="8" name="terminal circle"/>
          <p:cNvSpPr/>
          <p:nvPr/>
        </p:nvSpPr>
        <p:spPr>
          <a:xfrm>
            <a:off x="3154680" y="2075688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9" name="terminal icon" descr="termi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287" y="2180295"/>
            <a:ext cx="266273" cy="266273"/>
          </a:xfrm>
          <a:prstGeom prst="rect">
            <a:avLst/>
          </a:prstGeom>
        </p:spPr>
      </p:pic>
      <p:sp>
        <p:nvSpPr>
          <p:cNvPr id="10" name="Title Implementación"/>
          <p:cNvSpPr txBox="1"/>
          <p:nvPr/>
        </p:nvSpPr>
        <p:spPr>
          <a:xfrm>
            <a:off x="704088" y="28346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070F26"/>
                </a:solidFill>
                <a:latin typeface="+mn-lt"/>
                <a:cs typeface="+mn-lt"/>
              </a:rPr>
              <a:t>Implementación</a:t>
            </a:r>
          </a:p>
        </p:txBody>
      </p:sp>
      <p:sp>
        <p:nvSpPr>
          <p:cNvPr id="11" name="Desc Implementación"/>
          <p:cNvSpPr txBox="1"/>
          <p:nvPr/>
        </p:nvSpPr>
        <p:spPr>
          <a:xfrm>
            <a:off x="704088" y="3291840"/>
            <a:ext cx="2926080" cy="1143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dirty="0">
                <a:solidFill>
                  <a:srgbClr val="2E404D"/>
                </a:solidFill>
                <a:latin typeface="+mn-lt"/>
                <a:cs typeface="+mn-lt"/>
              </a:rPr>
              <a:t>Una tarea cada vez. Primero los tests, después el código.</a:t>
            </a:r>
          </a:p>
        </p:txBody>
      </p:sp>
      <p:sp>
        <p:nvSpPr>
          <p:cNvPr id="12" name="Emphasis Implementación"/>
          <p:cNvSpPr txBox="1"/>
          <p:nvPr/>
        </p:nvSpPr>
        <p:spPr>
          <a:xfrm>
            <a:off x="704088" y="443484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50" b="1" dirty="0">
                <a:solidFill>
                  <a:srgbClr val="0072BC"/>
                </a:solidFill>
                <a:latin typeface="+mn-lt"/>
                <a:cs typeface="+mn-lt"/>
              </a:rPr>
              <a:t>El agente para para que revises.</a:t>
            </a:r>
          </a:p>
        </p:txBody>
      </p:sp>
      <p:sp>
        <p:nvSpPr>
          <p:cNvPr id="13" name="Card Validación"/>
          <p:cNvSpPr/>
          <p:nvPr/>
        </p:nvSpPr>
        <p:spPr>
          <a:xfrm>
            <a:off x="4311396" y="1783080"/>
            <a:ext cx="3566160" cy="3657600"/>
          </a:xfrm>
          <a:prstGeom prst="roundRect">
            <a:avLst>
              <a:gd name="adj" fmla="val 3589"/>
            </a:avLst>
          </a:prstGeom>
          <a:solidFill>
            <a:srgbClr val="F3F6FA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Numeral 06"/>
          <p:cNvSpPr txBox="1"/>
          <p:nvPr/>
        </p:nvSpPr>
        <p:spPr>
          <a:xfrm>
            <a:off x="4631436" y="196596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>
                <a:solidFill>
                  <a:srgbClr val="0072BC"/>
                </a:solidFill>
                <a:latin typeface="+mj-lt"/>
                <a:cs typeface="+mj-lt"/>
              </a:rPr>
              <a:t>06</a:t>
            </a:r>
          </a:p>
        </p:txBody>
      </p:sp>
      <p:sp>
        <p:nvSpPr>
          <p:cNvPr id="15" name="checkbig circle"/>
          <p:cNvSpPr/>
          <p:nvPr/>
        </p:nvSpPr>
        <p:spPr>
          <a:xfrm>
            <a:off x="7082028" y="2075688"/>
            <a:ext cx="475488" cy="475488"/>
          </a:xfrm>
          <a:prstGeom prst="ellipse">
            <a:avLst/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6" name="checkbig icon" descr="checkbi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635" y="2180295"/>
            <a:ext cx="266273" cy="266273"/>
          </a:xfrm>
          <a:prstGeom prst="rect">
            <a:avLst/>
          </a:prstGeom>
        </p:spPr>
      </p:pic>
      <p:sp>
        <p:nvSpPr>
          <p:cNvPr id="17" name="Title Validación"/>
          <p:cNvSpPr txBox="1"/>
          <p:nvPr/>
        </p:nvSpPr>
        <p:spPr>
          <a:xfrm>
            <a:off x="4631436" y="28346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070F26"/>
                </a:solidFill>
                <a:latin typeface="+mn-lt"/>
                <a:cs typeface="+mn-lt"/>
              </a:rPr>
              <a:t>Validación</a:t>
            </a:r>
          </a:p>
        </p:txBody>
      </p:sp>
      <p:sp>
        <p:nvSpPr>
          <p:cNvPr id="18" name="Desc Validación"/>
          <p:cNvSpPr txBox="1"/>
          <p:nvPr/>
        </p:nvSpPr>
        <p:spPr>
          <a:xfrm>
            <a:off x="4631436" y="3291840"/>
            <a:ext cx="2926080" cy="1143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dirty="0">
                <a:solidFill>
                  <a:srgbClr val="2E404D"/>
                </a:solidFill>
                <a:latin typeface="+mn-lt"/>
                <a:cs typeface="+mn-lt"/>
              </a:rPr>
              <a:t>El agente recorre la spec requisito a requisito: qué test lo cubre y si pasa.</a:t>
            </a:r>
          </a:p>
        </p:txBody>
      </p:sp>
      <p:sp>
        <p:nvSpPr>
          <p:cNvPr id="19" name="Emphasis Validación"/>
          <p:cNvSpPr txBox="1"/>
          <p:nvPr/>
        </p:nvSpPr>
        <p:spPr>
          <a:xfrm>
            <a:off x="4631436" y="443484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50" b="1" dirty="0">
                <a:solidFill>
                  <a:srgbClr val="0072BC"/>
                </a:solidFill>
                <a:latin typeface="+mn-lt"/>
                <a:cs typeface="+mn-lt"/>
              </a:rPr>
              <a:t>Veredicto final: ¿spec cumplida?</a:t>
            </a:r>
          </a:p>
        </p:txBody>
      </p:sp>
      <p:sp>
        <p:nvSpPr>
          <p:cNvPr id="20" name="Card Si algo cambia"/>
          <p:cNvSpPr/>
          <p:nvPr/>
        </p:nvSpPr>
        <p:spPr>
          <a:xfrm>
            <a:off x="8238744" y="1783080"/>
            <a:ext cx="3566160" cy="3657600"/>
          </a:xfrm>
          <a:prstGeom prst="roundRect">
            <a:avLst>
              <a:gd name="adj" fmla="val 3589"/>
            </a:avLst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refresh circle"/>
          <p:cNvSpPr/>
          <p:nvPr/>
        </p:nvSpPr>
        <p:spPr>
          <a:xfrm>
            <a:off x="8558784" y="207568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22" name="refresh icon" descr="refres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1438" y="2188342"/>
            <a:ext cx="286756" cy="286756"/>
          </a:xfrm>
          <a:prstGeom prst="rect">
            <a:avLst/>
          </a:prstGeom>
        </p:spPr>
      </p:pic>
      <p:sp>
        <p:nvSpPr>
          <p:cNvPr id="23" name="Title cambia"/>
          <p:cNvSpPr txBox="1"/>
          <p:nvPr/>
        </p:nvSpPr>
        <p:spPr>
          <a:xfrm>
            <a:off x="8558784" y="28346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FFFFFF"/>
                </a:solidFill>
                <a:latin typeface="+mn-lt"/>
                <a:cs typeface="+mn-lt"/>
              </a:rPr>
              <a:t>Si algo cambia</a:t>
            </a:r>
          </a:p>
        </p:txBody>
      </p:sp>
      <p:sp>
        <p:nvSpPr>
          <p:cNvPr id="24" name="Desc cambia"/>
          <p:cNvSpPr txBox="1"/>
          <p:nvPr/>
        </p:nvSpPr>
        <p:spPr>
          <a:xfrm>
            <a:off x="8558784" y="3291840"/>
            <a:ext cx="2926080" cy="1143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dirty="0">
                <a:solidFill>
                  <a:srgbClr val="FFFFFF"/>
                </a:solidFill>
                <a:latin typeface="+mn-lt"/>
                <a:cs typeface="+mn-lt"/>
              </a:rPr>
              <a:t>Llega un requisito nuevo o un cambio.</a:t>
            </a:r>
          </a:p>
        </p:txBody>
      </p:sp>
      <p:sp>
        <p:nvSpPr>
          <p:cNvPr id="25" name="Emphasis cambia"/>
          <p:cNvSpPr txBox="1"/>
          <p:nvPr/>
        </p:nvSpPr>
        <p:spPr>
          <a:xfrm>
            <a:off x="8558784" y="443484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50" b="1" dirty="0">
                <a:solidFill>
                  <a:srgbClr val="FFFFFF"/>
                </a:solidFill>
                <a:latin typeface="+mn-lt"/>
                <a:cs typeface="+mn-lt"/>
              </a:rPr>
              <a:t>Primero la spec. Después plan, tarea, implementación y validación.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384048" y="3840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19A3FC"/>
                </a:solidFill>
                <a:latin typeface="+mn-lt"/>
                <a:cs typeface="+mn-lt"/>
              </a:rPr>
              <a:t>DEMO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384048" y="621792"/>
            <a:ext cx="11420856" cy="566928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3200" dirty="0"/>
              <a:t>Ahora, en vivo</a:t>
            </a:r>
          </a:p>
        </p:txBody>
      </p:sp>
      <p:sp>
        <p:nvSpPr>
          <p:cNvPr id="4" name="Slide Numb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6F30F46-A9B8-4D47-ABAA-AC12E3568BFA}" type="slidenum">
              <a:rPr lang="es-ES" dirty="0"/>
              <a:pPr algn="ctr"/>
              <a:t>18</a:t>
            </a:fld>
            <a:endParaRPr lang="es-ES" dirty="0"/>
          </a:p>
        </p:txBody>
      </p:sp>
      <p:pic>
        <p:nvPicPr>
          <p:cNvPr id="5" name="Dot pattern" descr="Trama de pun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-182880"/>
            <a:ext cx="3566160" cy="3566160"/>
          </a:xfrm>
          <a:prstGeom prst="rect">
            <a:avLst/>
          </a:prstGeom>
        </p:spPr>
      </p:pic>
      <p:sp>
        <p:nvSpPr>
          <p:cNvPr id="6" name="play circle"/>
          <p:cNvSpPr/>
          <p:nvPr/>
        </p:nvSpPr>
        <p:spPr>
          <a:xfrm>
            <a:off x="384048" y="2103120"/>
            <a:ext cx="914400" cy="914400"/>
          </a:xfrm>
          <a:prstGeom prst="ellipse">
            <a:avLst/>
          </a:prstGeom>
          <a:solidFill>
            <a:srgbClr val="19A3F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7" name="play icon" descr="pla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2304288"/>
            <a:ext cx="512064" cy="512064"/>
          </a:xfrm>
          <a:prstGeom prst="rect">
            <a:avLst/>
          </a:prstGeom>
        </p:spPr>
      </p:pic>
      <p:sp>
        <p:nvSpPr>
          <p:cNvPr id="8" name="Statement"/>
          <p:cNvSpPr txBox="1"/>
          <p:nvPr/>
        </p:nvSpPr>
        <p:spPr>
          <a:xfrm>
            <a:off x="1618488" y="201168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000" dirty="0">
                <a:solidFill>
                  <a:srgbClr val="FFFFFF"/>
                </a:solidFill>
                <a:latin typeface="+mj-lt"/>
                <a:cs typeface="+mj-lt"/>
              </a:rPr>
              <a:t>Una funcionalidad pequeña,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000" dirty="0">
                <a:solidFill>
                  <a:srgbClr val="FFFFFF"/>
                </a:solidFill>
                <a:latin typeface="+mj-lt"/>
                <a:cs typeface="+mj-lt"/>
              </a:rPr>
              <a:t>de la idea a la validación.</a:t>
            </a:r>
          </a:p>
        </p:txBody>
      </p:sp>
      <p:sp>
        <p:nvSpPr>
          <p:cNvPr id="9" name="Chip Constitución"/>
          <p:cNvSpPr/>
          <p:nvPr/>
        </p:nvSpPr>
        <p:spPr>
          <a:xfrm>
            <a:off x="384048" y="3977640"/>
            <a:ext cx="1583436" cy="640080"/>
          </a:xfrm>
          <a:prstGeom prst="roundRect">
            <a:avLst>
              <a:gd name="adj" fmla="val 14285"/>
            </a:avLst>
          </a:prstGeom>
          <a:solidFill>
            <a:srgbClr val="111D45"/>
          </a:solidFill>
          <a:ln w="12700" cap="rnd">
            <a:solidFill>
              <a:srgbClr val="243270"/>
            </a:solidFill>
            <a:round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FFFFFF"/>
                </a:solidFill>
                <a:latin typeface="+mn-lt"/>
                <a:cs typeface="+mn-lt"/>
              </a:rPr>
              <a:t>Constitución</a:t>
            </a:r>
          </a:p>
        </p:txBody>
      </p:sp>
      <p:cxnSp>
        <p:nvCxnSpPr>
          <p:cNvPr id="10" name="Arrow"/>
          <p:cNvCxnSpPr/>
          <p:nvPr/>
        </p:nvCxnSpPr>
        <p:spPr>
          <a:xfrm>
            <a:off x="2022348" y="4297680"/>
            <a:ext cx="274320" cy="0"/>
          </a:xfrm>
          <a:prstGeom prst="line">
            <a:avLst/>
          </a:prstGeom>
          <a:ln w="22225" cap="rnd">
            <a:solidFill>
              <a:srgbClr val="19A3FC"/>
            </a:solidFill>
            <a:tailEnd type="triangle" w="med" len="med"/>
          </a:ln>
        </p:spPr>
      </p:cxnSp>
      <p:sp>
        <p:nvSpPr>
          <p:cNvPr id="11" name="Chip Spec"/>
          <p:cNvSpPr/>
          <p:nvPr/>
        </p:nvSpPr>
        <p:spPr>
          <a:xfrm>
            <a:off x="2351532" y="3977640"/>
            <a:ext cx="1583436" cy="640080"/>
          </a:xfrm>
          <a:prstGeom prst="roundRect">
            <a:avLst>
              <a:gd name="adj" fmla="val 14285"/>
            </a:avLst>
          </a:prstGeom>
          <a:solidFill>
            <a:srgbClr val="111D45"/>
          </a:solidFill>
          <a:ln w="12700" cap="rnd">
            <a:solidFill>
              <a:srgbClr val="243270"/>
            </a:solidFill>
            <a:round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FFFFFF"/>
                </a:solidFill>
                <a:latin typeface="+mn-lt"/>
                <a:cs typeface="+mn-lt"/>
              </a:rPr>
              <a:t>Spec</a:t>
            </a:r>
          </a:p>
        </p:txBody>
      </p:sp>
      <p:cxnSp>
        <p:nvCxnSpPr>
          <p:cNvPr id="12" name="Arrow"/>
          <p:cNvCxnSpPr/>
          <p:nvPr/>
        </p:nvCxnSpPr>
        <p:spPr>
          <a:xfrm>
            <a:off x="3989832" y="4297680"/>
            <a:ext cx="274320" cy="0"/>
          </a:xfrm>
          <a:prstGeom prst="line">
            <a:avLst/>
          </a:prstGeom>
          <a:ln w="22225" cap="rnd">
            <a:solidFill>
              <a:srgbClr val="19A3FC"/>
            </a:solidFill>
            <a:tailEnd type="triangle" w="med" len="med"/>
          </a:ln>
        </p:spPr>
      </p:cxnSp>
      <p:sp>
        <p:nvSpPr>
          <p:cNvPr id="13" name="Chip Plan"/>
          <p:cNvSpPr/>
          <p:nvPr/>
        </p:nvSpPr>
        <p:spPr>
          <a:xfrm>
            <a:off x="4319016" y="3977640"/>
            <a:ext cx="1583436" cy="640080"/>
          </a:xfrm>
          <a:prstGeom prst="roundRect">
            <a:avLst>
              <a:gd name="adj" fmla="val 14285"/>
            </a:avLst>
          </a:prstGeom>
          <a:solidFill>
            <a:srgbClr val="111D45"/>
          </a:solidFill>
          <a:ln w="12700" cap="rnd">
            <a:solidFill>
              <a:srgbClr val="243270"/>
            </a:solidFill>
            <a:round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FFFFFF"/>
                </a:solidFill>
                <a:latin typeface="+mn-lt"/>
                <a:cs typeface="+mn-lt"/>
              </a:rPr>
              <a:t>Plan</a:t>
            </a:r>
          </a:p>
        </p:txBody>
      </p:sp>
      <p:cxnSp>
        <p:nvCxnSpPr>
          <p:cNvPr id="14" name="Arrow"/>
          <p:cNvCxnSpPr/>
          <p:nvPr/>
        </p:nvCxnSpPr>
        <p:spPr>
          <a:xfrm>
            <a:off x="5957316" y="4297680"/>
            <a:ext cx="274320" cy="0"/>
          </a:xfrm>
          <a:prstGeom prst="line">
            <a:avLst/>
          </a:prstGeom>
          <a:ln w="22225" cap="rnd">
            <a:solidFill>
              <a:srgbClr val="19A3FC"/>
            </a:solidFill>
            <a:tailEnd type="triangle" w="med" len="med"/>
          </a:ln>
        </p:spPr>
      </p:cxnSp>
      <p:sp>
        <p:nvSpPr>
          <p:cNvPr id="15" name="Chip Tareas"/>
          <p:cNvSpPr/>
          <p:nvPr/>
        </p:nvSpPr>
        <p:spPr>
          <a:xfrm>
            <a:off x="6286500" y="3977640"/>
            <a:ext cx="1583436" cy="640080"/>
          </a:xfrm>
          <a:prstGeom prst="roundRect">
            <a:avLst>
              <a:gd name="adj" fmla="val 14285"/>
            </a:avLst>
          </a:prstGeom>
          <a:solidFill>
            <a:srgbClr val="111D45"/>
          </a:solidFill>
          <a:ln w="12700" cap="rnd">
            <a:solidFill>
              <a:srgbClr val="243270"/>
            </a:solidFill>
            <a:round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FFFFFF"/>
                </a:solidFill>
                <a:latin typeface="+mn-lt"/>
                <a:cs typeface="+mn-lt"/>
              </a:rPr>
              <a:t>Tareas</a:t>
            </a:r>
          </a:p>
        </p:txBody>
      </p:sp>
      <p:cxnSp>
        <p:nvCxnSpPr>
          <p:cNvPr id="16" name="Arrow"/>
          <p:cNvCxnSpPr/>
          <p:nvPr/>
        </p:nvCxnSpPr>
        <p:spPr>
          <a:xfrm>
            <a:off x="7924800" y="4297680"/>
            <a:ext cx="274320" cy="0"/>
          </a:xfrm>
          <a:prstGeom prst="line">
            <a:avLst/>
          </a:prstGeom>
          <a:ln w="22225" cap="rnd">
            <a:solidFill>
              <a:srgbClr val="19A3FC"/>
            </a:solidFill>
            <a:tailEnd type="triangle" w="med" len="med"/>
          </a:ln>
        </p:spPr>
      </p:cxnSp>
      <p:sp>
        <p:nvSpPr>
          <p:cNvPr id="17" name="Chip Implementación"/>
          <p:cNvSpPr/>
          <p:nvPr/>
        </p:nvSpPr>
        <p:spPr>
          <a:xfrm>
            <a:off x="8253984" y="3977640"/>
            <a:ext cx="1583436" cy="640080"/>
          </a:xfrm>
          <a:prstGeom prst="roundRect">
            <a:avLst>
              <a:gd name="adj" fmla="val 14285"/>
            </a:avLst>
          </a:prstGeom>
          <a:solidFill>
            <a:srgbClr val="111D45"/>
          </a:solidFill>
          <a:ln w="12700" cap="rnd">
            <a:solidFill>
              <a:srgbClr val="243270"/>
            </a:solidFill>
            <a:round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FFFFFF"/>
                </a:solidFill>
                <a:latin typeface="+mn-lt"/>
                <a:cs typeface="+mn-lt"/>
              </a:rPr>
              <a:t>Implementación</a:t>
            </a:r>
          </a:p>
        </p:txBody>
      </p:sp>
      <p:cxnSp>
        <p:nvCxnSpPr>
          <p:cNvPr id="18" name="Arrow"/>
          <p:cNvCxnSpPr/>
          <p:nvPr/>
        </p:nvCxnSpPr>
        <p:spPr>
          <a:xfrm>
            <a:off x="9892284" y="4297680"/>
            <a:ext cx="274320" cy="0"/>
          </a:xfrm>
          <a:prstGeom prst="line">
            <a:avLst/>
          </a:prstGeom>
          <a:ln w="22225" cap="rnd">
            <a:solidFill>
              <a:srgbClr val="19A3FC"/>
            </a:solidFill>
            <a:tailEnd type="triangle" w="med" len="med"/>
          </a:ln>
        </p:spPr>
      </p:cxnSp>
      <p:sp>
        <p:nvSpPr>
          <p:cNvPr id="19" name="Chip Validación"/>
          <p:cNvSpPr/>
          <p:nvPr/>
        </p:nvSpPr>
        <p:spPr>
          <a:xfrm>
            <a:off x="10221468" y="3977640"/>
            <a:ext cx="1583436" cy="640080"/>
          </a:xfrm>
          <a:prstGeom prst="roundRect">
            <a:avLst>
              <a:gd name="adj" fmla="val 14285"/>
            </a:avLst>
          </a:prstGeom>
          <a:solidFill>
            <a:srgbClr val="111D45"/>
          </a:solidFill>
          <a:ln w="12700" cap="rnd">
            <a:solidFill>
              <a:srgbClr val="243270"/>
            </a:solidFill>
            <a:round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rgbClr val="FFFFFF"/>
                </a:solidFill>
                <a:latin typeface="+mn-lt"/>
                <a:cs typeface="+mn-lt"/>
              </a:rPr>
              <a:t>Validación</a:t>
            </a:r>
          </a:p>
        </p:txBody>
      </p:sp>
      <p:sp>
        <p:nvSpPr>
          <p:cNvPr id="20" name="Footnote"/>
          <p:cNvSpPr txBox="1"/>
          <p:nvPr/>
        </p:nvSpPr>
        <p:spPr>
          <a:xfrm>
            <a:off x="384048" y="4983480"/>
            <a:ext cx="1142085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i="1" dirty="0">
                <a:solidFill>
                  <a:srgbClr val="B7C3D6"/>
                </a:solidFill>
                <a:latin typeface="+mn-lt"/>
                <a:cs typeface="+mn-lt"/>
              </a:rPr>
              <a:t>Lo que acabamos de ver, aplicado paso a paso.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384048" y="3840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spc="200" dirty="0">
                <a:solidFill>
                  <a:srgbClr val="19A3FC"/>
                </a:solidFill>
                <a:latin typeface="+mn-lt"/>
                <a:cs typeface="+mn-lt"/>
              </a:rPr>
              <a:t>05 · PARA EMPEZAR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384048" y="621792"/>
            <a:ext cx="11420856" cy="566928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3200" dirty="0"/>
              <a:t>Tres ideas para llevarse</a:t>
            </a:r>
          </a:p>
        </p:txBody>
      </p:sp>
      <p:sp>
        <p:nvSpPr>
          <p:cNvPr id="4" name="Subtitle 4"/>
          <p:cNvSpPr>
            <a:spLocks noGrp="1"/>
          </p:cNvSpPr>
          <p:nvPr>
            <p:ph type="body" sz="quarter" idx="13"/>
          </p:nvPr>
        </p:nvSpPr>
        <p:spPr>
          <a:xfrm>
            <a:off x="384048" y="1225296"/>
            <a:ext cx="11420856" cy="365760"/>
          </a:xfrm>
        </p:spPr>
        <p:txBody>
          <a:bodyPr lIns="0" tIns="0" rIns="0" bIns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ES" sz="1600" dirty="0"/>
              <a:t>Y el responsable sigue siendo cada uno de nosotros: si algo falla, no despiden a la IA</a:t>
            </a:r>
          </a:p>
        </p:txBody>
      </p:sp>
      <p:sp>
        <p:nvSpPr>
          <p:cNvPr id="5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6CEE28D-C8EB-4055-81E5-32C9524DF8E4}" type="slidenum">
              <a:rPr lang="es-ES" dirty="0"/>
              <a:pPr algn="ctr"/>
              <a:t>19</a:t>
            </a:fld>
            <a:endParaRPr lang="es-ES" dirty="0"/>
          </a:p>
        </p:txBody>
      </p:sp>
      <p:sp>
        <p:nvSpPr>
          <p:cNvPr id="6" name="Card 01"/>
          <p:cNvSpPr/>
          <p:nvPr/>
        </p:nvSpPr>
        <p:spPr>
          <a:xfrm>
            <a:off x="384048" y="1783080"/>
            <a:ext cx="3566160" cy="3566160"/>
          </a:xfrm>
          <a:prstGeom prst="roundRect">
            <a:avLst>
              <a:gd name="adj" fmla="val 3589"/>
            </a:avLst>
          </a:prstGeom>
          <a:solidFill>
            <a:srgbClr val="111D45"/>
          </a:solidFill>
          <a:ln w="12700" cap="rnd">
            <a:solidFill>
              <a:srgbClr val="243270"/>
            </a:solidFill>
            <a:round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Numeral 01"/>
          <p:cNvSpPr txBox="1"/>
          <p:nvPr/>
        </p:nvSpPr>
        <p:spPr>
          <a:xfrm>
            <a:off x="704088" y="2011680"/>
            <a:ext cx="1463040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 dirty="0">
                <a:solidFill>
                  <a:srgbClr val="19A3FC"/>
                </a:solidFill>
                <a:latin typeface="+mj-lt"/>
                <a:cs typeface="+mj-lt"/>
              </a:rPr>
              <a:t>01</a:t>
            </a:r>
          </a:p>
        </p:txBody>
      </p:sp>
      <p:sp>
        <p:nvSpPr>
          <p:cNvPr id="8" name="handshake circle"/>
          <p:cNvSpPr/>
          <p:nvPr/>
        </p:nvSpPr>
        <p:spPr>
          <a:xfrm>
            <a:off x="3118104" y="2103120"/>
            <a:ext cx="512064" cy="512064"/>
          </a:xfrm>
          <a:prstGeom prst="ellipse">
            <a:avLst/>
          </a:prstGeom>
          <a:solidFill>
            <a:srgbClr val="19A3F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9" name="handshake icon" descr="handshak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758" y="2215774"/>
            <a:ext cx="286756" cy="286756"/>
          </a:xfrm>
          <a:prstGeom prst="rect">
            <a:avLst/>
          </a:prstGeom>
        </p:spPr>
      </p:pic>
      <p:sp>
        <p:nvSpPr>
          <p:cNvPr id="10" name="Statement 01"/>
          <p:cNvSpPr txBox="1"/>
          <p:nvPr/>
        </p:nvSpPr>
        <p:spPr>
          <a:xfrm>
            <a:off x="704088" y="3246120"/>
            <a:ext cx="2926080" cy="1920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rgbClr val="FFFFFF"/>
                </a:solidFill>
                <a:latin typeface="+mj-lt"/>
                <a:cs typeface="+mj-lt"/>
              </a:rPr>
              <a:t>La spec es el contrato con la IA</a:t>
            </a:r>
          </a:p>
        </p:txBody>
      </p:sp>
      <p:sp>
        <p:nvSpPr>
          <p:cNvPr id="11" name="Card 02"/>
          <p:cNvSpPr/>
          <p:nvPr/>
        </p:nvSpPr>
        <p:spPr>
          <a:xfrm>
            <a:off x="4311396" y="1783080"/>
            <a:ext cx="3566160" cy="3566160"/>
          </a:xfrm>
          <a:prstGeom prst="roundRect">
            <a:avLst>
              <a:gd name="adj" fmla="val 3589"/>
            </a:avLst>
          </a:prstGeom>
          <a:solidFill>
            <a:srgbClr val="111D45"/>
          </a:solidFill>
          <a:ln w="12700" cap="rnd">
            <a:solidFill>
              <a:srgbClr val="243270"/>
            </a:solidFill>
            <a:round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Numeral 02"/>
          <p:cNvSpPr txBox="1"/>
          <p:nvPr/>
        </p:nvSpPr>
        <p:spPr>
          <a:xfrm>
            <a:off x="4631436" y="2011680"/>
            <a:ext cx="1463040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 dirty="0">
                <a:solidFill>
                  <a:srgbClr val="19A3FC"/>
                </a:solidFill>
                <a:latin typeface="+mj-lt"/>
                <a:cs typeface="+mj-lt"/>
              </a:rPr>
              <a:t>02</a:t>
            </a:r>
          </a:p>
        </p:txBody>
      </p:sp>
      <p:sp>
        <p:nvSpPr>
          <p:cNvPr id="13" name="bubbleq circle"/>
          <p:cNvSpPr/>
          <p:nvPr/>
        </p:nvSpPr>
        <p:spPr>
          <a:xfrm>
            <a:off x="7045452" y="2103120"/>
            <a:ext cx="512064" cy="512064"/>
          </a:xfrm>
          <a:prstGeom prst="ellipse">
            <a:avLst/>
          </a:prstGeom>
          <a:solidFill>
            <a:srgbClr val="19A3F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4" name="bubbleq icon" descr="bubbleq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106" y="2215774"/>
            <a:ext cx="286756" cy="286756"/>
          </a:xfrm>
          <a:prstGeom prst="rect">
            <a:avLst/>
          </a:prstGeom>
        </p:spPr>
      </p:pic>
      <p:sp>
        <p:nvSpPr>
          <p:cNvPr id="15" name="Statement 02"/>
          <p:cNvSpPr txBox="1"/>
          <p:nvPr/>
        </p:nvSpPr>
        <p:spPr>
          <a:xfrm>
            <a:off x="4631436" y="3246120"/>
            <a:ext cx="2926080" cy="1920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rgbClr val="FFFFFF"/>
                </a:solidFill>
                <a:latin typeface="+mj-lt"/>
                <a:cs typeface="+mj-lt"/>
              </a:rPr>
              <a:t>Modo plan y preguntas antes que código</a:t>
            </a:r>
          </a:p>
        </p:txBody>
      </p:sp>
      <p:sp>
        <p:nvSpPr>
          <p:cNvPr id="16" name="Card 03"/>
          <p:cNvSpPr/>
          <p:nvPr/>
        </p:nvSpPr>
        <p:spPr>
          <a:xfrm>
            <a:off x="8238744" y="1783080"/>
            <a:ext cx="3566160" cy="3566160"/>
          </a:xfrm>
          <a:prstGeom prst="roundRect">
            <a:avLst>
              <a:gd name="adj" fmla="val 3589"/>
            </a:avLst>
          </a:prstGeom>
          <a:solidFill>
            <a:srgbClr val="111D45"/>
          </a:solidFill>
          <a:ln w="12700" cap="rnd">
            <a:solidFill>
              <a:srgbClr val="243270"/>
            </a:solidFill>
            <a:round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Numeral 03"/>
          <p:cNvSpPr txBox="1"/>
          <p:nvPr/>
        </p:nvSpPr>
        <p:spPr>
          <a:xfrm>
            <a:off x="8558784" y="2011680"/>
            <a:ext cx="1463040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 dirty="0">
                <a:solidFill>
                  <a:srgbClr val="19A3FC"/>
                </a:solidFill>
                <a:latin typeface="+mj-lt"/>
                <a:cs typeface="+mj-lt"/>
              </a:rPr>
              <a:t>03</a:t>
            </a:r>
          </a:p>
        </p:txBody>
      </p:sp>
      <p:sp>
        <p:nvSpPr>
          <p:cNvPr id="18" name="listchecks circle"/>
          <p:cNvSpPr/>
          <p:nvPr/>
        </p:nvSpPr>
        <p:spPr>
          <a:xfrm>
            <a:off x="10972800" y="2103120"/>
            <a:ext cx="512064" cy="512064"/>
          </a:xfrm>
          <a:prstGeom prst="ellipse">
            <a:avLst/>
          </a:prstGeom>
          <a:solidFill>
            <a:srgbClr val="19A3F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9" name="listchecks icon" descr="listcheck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5454" y="2215774"/>
            <a:ext cx="286756" cy="286756"/>
          </a:xfrm>
          <a:prstGeom prst="rect">
            <a:avLst/>
          </a:prstGeom>
        </p:spPr>
      </p:pic>
      <p:sp>
        <p:nvSpPr>
          <p:cNvPr id="20" name="Statement 03"/>
          <p:cNvSpPr txBox="1"/>
          <p:nvPr/>
        </p:nvSpPr>
        <p:spPr>
          <a:xfrm>
            <a:off x="8558784" y="3246120"/>
            <a:ext cx="2926080" cy="1920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rgbClr val="FFFFFF"/>
                </a:solidFill>
                <a:latin typeface="+mj-lt"/>
                <a:cs typeface="+mj-lt"/>
              </a:rPr>
              <a:t>Tareas pequeñas, tests primero y validar contra la spec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2303F068-2487-48F3-82C1-306FC2D176BF}" type="slidenum">
              <a:rPr lang="es-ES" dirty="0"/>
              <a:pPr algn="ctr"/>
              <a:t>20</a:t>
            </a:fld>
            <a:endParaRPr lang="es-ES" dirty="0"/>
          </a:p>
        </p:txBody>
      </p:sp>
      <p:pic>
        <p:nvPicPr>
          <p:cNvPr id="3" name="Dot pattern" descr="Trama de pun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74320"/>
            <a:ext cx="4480560" cy="4480560"/>
          </a:xfrm>
          <a:prstGeom prst="rect">
            <a:avLst/>
          </a:prstGeom>
        </p:spPr>
      </p:pic>
      <p:sp>
        <p:nvSpPr>
          <p:cNvPr id="4" name="Preguntas"/>
          <p:cNvSpPr txBox="1"/>
          <p:nvPr/>
        </p:nvSpPr>
        <p:spPr>
          <a:xfrm>
            <a:off x="384048" y="1874520"/>
            <a:ext cx="7772400" cy="1371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 b="1" dirty="0">
                <a:solidFill>
                  <a:srgbClr val="FFFFFF"/>
                </a:solidFill>
                <a:latin typeface="+mj-lt"/>
                <a:cs typeface="+mj-lt"/>
              </a:rPr>
              <a:t>¿Preguntas?</a:t>
            </a:r>
          </a:p>
        </p:txBody>
      </p:sp>
      <p:sp>
        <p:nvSpPr>
          <p:cNvPr id="5" name="messages circle"/>
          <p:cNvSpPr/>
          <p:nvPr/>
        </p:nvSpPr>
        <p:spPr>
          <a:xfrm>
            <a:off x="9326880" y="1783080"/>
            <a:ext cx="1554480" cy="1554480"/>
          </a:xfrm>
          <a:prstGeom prst="ellipse">
            <a:avLst/>
          </a:prstGeom>
          <a:solidFill>
            <a:srgbClr val="19A3FC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6" name="messages icon" descr="messag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8866" y="2125066"/>
            <a:ext cx="870509" cy="870509"/>
          </a:xfrm>
          <a:prstGeom prst="rect">
            <a:avLst/>
          </a:prstGeom>
        </p:spPr>
      </p:pic>
      <p:sp>
        <p:nvSpPr>
          <p:cNvPr id="7" name="Link pill"/>
          <p:cNvSpPr/>
          <p:nvPr/>
        </p:nvSpPr>
        <p:spPr>
          <a:xfrm>
            <a:off x="384048" y="3794760"/>
            <a:ext cx="57607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8" name="GitHub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22776"/>
            <a:ext cx="274320" cy="274320"/>
          </a:xfrm>
          <a:prstGeom prst="rect">
            <a:avLst/>
          </a:prstGeom>
        </p:spPr>
      </p:pic>
      <p:sp>
        <p:nvSpPr>
          <p:cNvPr id="9" name="Link text"/>
          <p:cNvSpPr txBox="1"/>
          <p:nvPr/>
        </p:nvSpPr>
        <p:spPr>
          <a:xfrm>
            <a:off x="990600" y="3794760"/>
            <a:ext cx="49377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s-ES" sz="1400" dirty="0">
                <a:solidFill>
                  <a:srgbClr val="070F26"/>
                </a:solidFill>
                <a:latin typeface="+mn-lt"/>
                <a:cs typeface="+mn-lt"/>
              </a:rPr>
              <a:t>Para practicar: </a:t>
            </a:r>
            <a:r>
              <a:rPr lang="es-ES" sz="1400" b="1" dirty="0">
                <a:solidFill>
                  <a:srgbClr val="0072BC"/>
                </a:solidFill>
                <a:cs typeface="+mn-lt"/>
              </a:rPr>
              <a:t>https://</a:t>
            </a:r>
            <a:r>
              <a:rPr lang="es-ES" sz="1400" b="1" dirty="0" err="1">
                <a:solidFill>
                  <a:srgbClr val="0072BC"/>
                </a:solidFill>
                <a:cs typeface="+mn-lt"/>
              </a:rPr>
              <a:t>github.com</a:t>
            </a:r>
            <a:r>
              <a:rPr lang="es-ES" sz="1400" b="1" dirty="0">
                <a:solidFill>
                  <a:srgbClr val="0072BC"/>
                </a:solidFill>
                <a:cs typeface="+mn-lt"/>
              </a:rPr>
              <a:t>/</a:t>
            </a:r>
            <a:r>
              <a:rPr lang="es-ES" sz="1400" b="1" dirty="0" err="1">
                <a:solidFill>
                  <a:srgbClr val="0072BC"/>
                </a:solidFill>
                <a:cs typeface="+mn-lt"/>
              </a:rPr>
              <a:t>antroc</a:t>
            </a:r>
            <a:r>
              <a:rPr lang="es-ES" sz="1400" b="1" dirty="0">
                <a:solidFill>
                  <a:srgbClr val="0072BC"/>
                </a:solidFill>
                <a:cs typeface="+mn-lt"/>
              </a:rPr>
              <a:t>/charla-</a:t>
            </a:r>
            <a:r>
              <a:rPr lang="es-ES" sz="1400" b="1" dirty="0" err="1">
                <a:solidFill>
                  <a:srgbClr val="0072BC"/>
                </a:solidFill>
                <a:cs typeface="+mn-lt"/>
              </a:rPr>
              <a:t>sdd</a:t>
            </a:r>
            <a:r>
              <a:rPr lang="es-ES" sz="1400" b="1" dirty="0">
                <a:solidFill>
                  <a:srgbClr val="0072BC"/>
                </a:solidFill>
                <a:cs typeface="+mn-lt"/>
              </a:rPr>
              <a:t>/</a:t>
            </a:r>
            <a:endParaRPr lang="es-ES" sz="1400" b="1" dirty="0">
              <a:solidFill>
                <a:srgbClr val="0072BC"/>
              </a:solidFill>
              <a:latin typeface="+mn-lt"/>
              <a:cs typeface="+mn-lt"/>
              <a:hlinkClick r:id="rId6"/>
            </a:endParaRPr>
          </a:p>
        </p:txBody>
      </p:sp>
      <p:sp>
        <p:nvSpPr>
          <p:cNvPr id="10" name="Credit"/>
          <p:cNvSpPr txBox="1"/>
          <p:nvPr/>
        </p:nvSpPr>
        <p:spPr>
          <a:xfrm>
            <a:off x="384048" y="470916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1250" dirty="0">
              <a:solidFill>
                <a:srgbClr val="B7C3D6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B8958BD-7991-838C-4CD5-A64430EF0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21</a:t>
            </a:fld>
            <a:endParaRPr lang="en-US"/>
          </a:p>
        </p:txBody>
      </p:sp>
      <p:sp>
        <p:nvSpPr>
          <p:cNvPr id="7" name="Link pill">
            <a:extLst>
              <a:ext uri="{FF2B5EF4-FFF2-40B4-BE49-F238E27FC236}">
                <a16:creationId xmlns:a16="http://schemas.microsoft.com/office/drawing/2014/main" id="{8B9DD1E8-B6CD-09B6-1E66-3835256ECAB2}"/>
              </a:ext>
            </a:extLst>
          </p:cNvPr>
          <p:cNvSpPr/>
          <p:nvPr/>
        </p:nvSpPr>
        <p:spPr>
          <a:xfrm>
            <a:off x="335280" y="4270248"/>
            <a:ext cx="57607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8" name="GitHub icon">
            <a:extLst>
              <a:ext uri="{FF2B5EF4-FFF2-40B4-BE49-F238E27FC236}">
                <a16:creationId xmlns:a16="http://schemas.microsoft.com/office/drawing/2014/main" id="{15A7FFD9-2FC4-5527-937D-7993E0F86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283" y="4420837"/>
            <a:ext cx="274320" cy="274320"/>
          </a:xfrm>
          <a:prstGeom prst="rect">
            <a:avLst/>
          </a:prstGeom>
        </p:spPr>
      </p:pic>
      <p:sp>
        <p:nvSpPr>
          <p:cNvPr id="9" name="Link text">
            <a:extLst>
              <a:ext uri="{FF2B5EF4-FFF2-40B4-BE49-F238E27FC236}">
                <a16:creationId xmlns:a16="http://schemas.microsoft.com/office/drawing/2014/main" id="{4E35B5BA-0C1F-352D-625A-C1782671F2FA}"/>
              </a:ext>
            </a:extLst>
          </p:cNvPr>
          <p:cNvSpPr txBox="1"/>
          <p:nvPr/>
        </p:nvSpPr>
        <p:spPr>
          <a:xfrm>
            <a:off x="1551432" y="4262818"/>
            <a:ext cx="3698748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s-ES" sz="1600" b="1" dirty="0">
                <a:solidFill>
                  <a:srgbClr val="0072BC"/>
                </a:solidFill>
                <a:cs typeface="+mn-lt"/>
              </a:rPr>
              <a:t>https://</a:t>
            </a:r>
            <a:r>
              <a:rPr lang="es-ES" sz="1600" b="1" dirty="0" err="1">
                <a:solidFill>
                  <a:srgbClr val="0072BC"/>
                </a:solidFill>
                <a:cs typeface="+mn-lt"/>
              </a:rPr>
              <a:t>github.com</a:t>
            </a:r>
            <a:r>
              <a:rPr lang="es-ES" sz="1600" b="1" dirty="0">
                <a:solidFill>
                  <a:srgbClr val="0072BC"/>
                </a:solidFill>
                <a:cs typeface="+mn-lt"/>
              </a:rPr>
              <a:t>/</a:t>
            </a:r>
            <a:r>
              <a:rPr lang="es-ES" sz="1600" b="1" dirty="0" err="1">
                <a:solidFill>
                  <a:srgbClr val="0072BC"/>
                </a:solidFill>
                <a:cs typeface="+mn-lt"/>
              </a:rPr>
              <a:t>antroc</a:t>
            </a:r>
            <a:r>
              <a:rPr lang="es-ES" sz="1600" b="1" dirty="0">
                <a:solidFill>
                  <a:srgbClr val="0072BC"/>
                </a:solidFill>
                <a:cs typeface="+mn-lt"/>
              </a:rPr>
              <a:t>/charla-</a:t>
            </a:r>
            <a:r>
              <a:rPr lang="es-ES" sz="1600" b="1" dirty="0" err="1">
                <a:solidFill>
                  <a:srgbClr val="0072BC"/>
                </a:solidFill>
                <a:cs typeface="+mn-lt"/>
              </a:rPr>
              <a:t>sdd</a:t>
            </a:r>
            <a:r>
              <a:rPr lang="es-ES" sz="1600" b="1" dirty="0">
                <a:solidFill>
                  <a:srgbClr val="0072BC"/>
                </a:solidFill>
                <a:cs typeface="+mn-lt"/>
              </a:rPr>
              <a:t>/</a:t>
            </a:r>
            <a:endParaRPr lang="es-ES" sz="1600" b="1" dirty="0">
              <a:solidFill>
                <a:srgbClr val="0072BC"/>
              </a:solidFill>
              <a:latin typeface="+mn-lt"/>
              <a:cs typeface="+mn-lt"/>
              <a:hlinkClick r:id="rId3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C8E5AC0C-319B-E41F-F45D-164C4C328ABC}"/>
              </a:ext>
            </a:extLst>
          </p:cNvPr>
          <p:cNvGrpSpPr/>
          <p:nvPr/>
        </p:nvGrpSpPr>
        <p:grpSpPr>
          <a:xfrm>
            <a:off x="7391400" y="981520"/>
            <a:ext cx="3566160" cy="3566160"/>
            <a:chOff x="4312920" y="1655889"/>
            <a:chExt cx="3566160" cy="3566160"/>
          </a:xfrm>
        </p:grpSpPr>
        <p:sp>
          <p:nvSpPr>
            <p:cNvPr id="16" name="Card 01">
              <a:extLst>
                <a:ext uri="{FF2B5EF4-FFF2-40B4-BE49-F238E27FC236}">
                  <a16:creationId xmlns:a16="http://schemas.microsoft.com/office/drawing/2014/main" id="{A093CFC3-E565-9376-6B45-D04DC8635EE8}"/>
                </a:ext>
              </a:extLst>
            </p:cNvPr>
            <p:cNvSpPr/>
            <p:nvPr/>
          </p:nvSpPr>
          <p:spPr>
            <a:xfrm>
              <a:off x="4312920" y="1655889"/>
              <a:ext cx="3566160" cy="3566160"/>
            </a:xfrm>
            <a:prstGeom prst="roundRect">
              <a:avLst>
                <a:gd name="adj" fmla="val 3589"/>
              </a:avLst>
            </a:prstGeom>
            <a:solidFill>
              <a:srgbClr val="111D45"/>
            </a:solidFill>
            <a:ln w="12700" cap="rnd">
              <a:solidFill>
                <a:srgbClr val="243270"/>
              </a:solidFill>
              <a:round/>
            </a:ln>
          </p:spPr>
          <p:txBody>
            <a:bodyPr rtlCol="0" anchor="ctr"/>
            <a:lstStyle/>
            <a:p>
              <a:pPr algn="ctr"/>
              <a:endParaRPr lang="es-ES" dirty="0"/>
            </a:p>
          </p:txBody>
        </p:sp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DEC82358-4686-6E65-A258-324A4C772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13478" y="2045144"/>
              <a:ext cx="2787650" cy="2787650"/>
            </a:xfrm>
            <a:prstGeom prst="rect">
              <a:avLst/>
            </a:prstGeom>
          </p:spPr>
        </p:pic>
      </p:grpSp>
      <p:sp>
        <p:nvSpPr>
          <p:cNvPr id="17" name="Preguntas">
            <a:extLst>
              <a:ext uri="{FF2B5EF4-FFF2-40B4-BE49-F238E27FC236}">
                <a16:creationId xmlns:a16="http://schemas.microsoft.com/office/drawing/2014/main" id="{85DBB3F0-0833-2636-0520-056DF2159D83}"/>
              </a:ext>
            </a:extLst>
          </p:cNvPr>
          <p:cNvSpPr txBox="1"/>
          <p:nvPr/>
        </p:nvSpPr>
        <p:spPr>
          <a:xfrm>
            <a:off x="516763" y="1860868"/>
            <a:ext cx="5426837" cy="1371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 b="1" dirty="0">
                <a:solidFill>
                  <a:srgbClr val="FFFFFF"/>
                </a:solidFill>
                <a:latin typeface="+mj-lt"/>
                <a:cs typeface="+mj-lt"/>
              </a:rPr>
              <a:t>Para seguir practicando</a:t>
            </a:r>
          </a:p>
        </p:txBody>
      </p:sp>
      <p:sp>
        <p:nvSpPr>
          <p:cNvPr id="21" name="Preguntas">
            <a:extLst>
              <a:ext uri="{FF2B5EF4-FFF2-40B4-BE49-F238E27FC236}">
                <a16:creationId xmlns:a16="http://schemas.microsoft.com/office/drawing/2014/main" id="{08A06DCB-C714-2394-2127-03B2D7AE2B54}"/>
              </a:ext>
            </a:extLst>
          </p:cNvPr>
          <p:cNvSpPr txBox="1"/>
          <p:nvPr/>
        </p:nvSpPr>
        <p:spPr>
          <a:xfrm>
            <a:off x="7791958" y="4547680"/>
            <a:ext cx="3135440" cy="1371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 b="1" dirty="0">
                <a:solidFill>
                  <a:srgbClr val="FFFFFF"/>
                </a:solidFill>
                <a:latin typeface="+mj-lt"/>
                <a:cs typeface="+mj-lt"/>
              </a:rPr>
              <a:t>¡</a:t>
            </a:r>
            <a:r>
              <a:rPr lang="es-ES" sz="4400" b="1" dirty="0">
                <a:solidFill>
                  <a:srgbClr val="FFFFFF"/>
                </a:solidFill>
                <a:latin typeface="+mj-lt"/>
                <a:cs typeface="+mj-lt"/>
              </a:rPr>
              <a:t>Gracias</a:t>
            </a:r>
            <a:r>
              <a:rPr lang="es-ES" sz="6600" b="1" dirty="0">
                <a:solidFill>
                  <a:srgbClr val="FFFFFF"/>
                </a:solidFill>
                <a:latin typeface="+mj-lt"/>
                <a:cs typeface="+mj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606431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841733"/>
      </p:ext>
    </p:extLst>
  </p:cSld>
  <p:clrMapOvr>
    <a:masterClrMapping/>
  </p:clrMapOvr>
</p:sld>
</file>

<file path=ppt/theme/theme1.xml><?xml version="1.0" encoding="utf-8"?>
<a:theme xmlns:a="http://schemas.openxmlformats.org/drawingml/2006/main" name="Cover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err="1" smtClean="0">
            <a:solidFill>
              <a:srgbClr val="2E404D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D6A2AFE2-784D-419B-8E96-461F7D08B8CE}" vid="{9A8BA59A-D85D-4EA8-98E5-DB1692F06D86}"/>
    </a:ext>
  </a:extLst>
</a:theme>
</file>

<file path=ppt/theme/theme2.xml><?xml version="1.0" encoding="utf-8"?>
<a:theme xmlns:a="http://schemas.openxmlformats.org/drawingml/2006/main" name="Light Body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D6A2AFE2-784D-419B-8E96-461F7D08B8CE}" vid="{DF9121F7-FBA7-4AEC-AEEA-C8B718D827E9}"/>
    </a:ext>
  </a:extLst>
</a:theme>
</file>

<file path=ppt/theme/theme3.xml><?xml version="1.0" encoding="utf-8"?>
<a:theme xmlns:a="http://schemas.openxmlformats.org/drawingml/2006/main" name="Light Divider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tIns="45720" bIns="45720" rtlCol="0">
        <a:no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D6A2AFE2-784D-419B-8E96-461F7D08B8CE}" vid="{5860E806-E153-455A-8ACB-082EFBA0BCFD}"/>
    </a:ext>
  </a:extLst>
</a:theme>
</file>

<file path=ppt/theme/theme4.xml><?xml version="1.0" encoding="utf-8"?>
<a:theme xmlns:a="http://schemas.openxmlformats.org/drawingml/2006/main" name="Dark Divider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tIns="45720" bIns="45720" rtlCol="0">
        <a:no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D6A2AFE2-784D-419B-8E96-461F7D08B8CE}" vid="{6997BAFC-366C-4D6D-B171-4A96D8D14001}"/>
    </a:ext>
  </a:extLst>
</a:theme>
</file>

<file path=ppt/theme/theme5.xml><?xml version="1.0" encoding="utf-8"?>
<a:theme xmlns:a="http://schemas.openxmlformats.org/drawingml/2006/main" name="Light Blank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D6A2AFE2-784D-419B-8E96-461F7D08B8CE}" vid="{E7B994AE-7509-4A87-8F0E-BCD0258D2600}"/>
    </a:ext>
  </a:extLst>
</a:theme>
</file>

<file path=ppt/theme/theme6.xml><?xml version="1.0" encoding="utf-8"?>
<a:theme xmlns:a="http://schemas.openxmlformats.org/drawingml/2006/main" name="Dark Blank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D6A2AFE2-784D-419B-8E96-461F7D08B8CE}" vid="{2F73E57A-0023-4EF5-B6E9-D3F563EFEE84}"/>
    </a:ext>
  </a:extLst>
</a:theme>
</file>

<file path=ppt/theme/theme7.xml><?xml version="1.0" encoding="utf-8"?>
<a:theme xmlns:a="http://schemas.openxmlformats.org/drawingml/2006/main" name="Dark Body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D6A2AFE2-784D-419B-8E96-461F7D08B8CE}" vid="{5805AA86-A382-4EFE-A8E9-89A168F10C28}"/>
    </a:ext>
  </a:extLst>
</a:theme>
</file>

<file path=ppt/theme/theme8.xml><?xml version="1.0" encoding="utf-8"?>
<a:theme xmlns:a="http://schemas.openxmlformats.org/drawingml/2006/main" name="Back Covers">
  <a:themeElements>
    <a:clrScheme name="NTT DATA Colors 1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0072B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00FF"/>
      </a:hlink>
      <a:folHlink>
        <a:srgbClr val="0000FF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 cap="rnd">
          <a:solidFill>
            <a:schemeClr val="tx1">
              <a:lumMod val="50000"/>
            </a:schemeClr>
          </a:solidFill>
          <a:round/>
        </a:ln>
      </a:spPr>
      <a:bodyPr rtlCol="0" anchor="ctr"/>
      <a:lstStyle>
        <a:defPPr algn="ctr">
          <a:defRPr sz="1800"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rgbClr val="2E404D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D6A2AFE2-784D-419B-8E96-461F7D08B8CE}" vid="{0C3A8482-B7C6-4E75-9E6D-46402391ED65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505</TotalTime>
  <Words>3033</Words>
  <Application>Microsoft Macintosh PowerPoint</Application>
  <PresentationFormat>Panorámica</PresentationFormat>
  <Paragraphs>333</Paragraphs>
  <Slides>22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8</vt:i4>
      </vt:variant>
      <vt:variant>
        <vt:lpstr>Títulos de diapositiva</vt:lpstr>
      </vt:variant>
      <vt:variant>
        <vt:i4>22</vt:i4>
      </vt:variant>
    </vt:vector>
  </HeadingPairs>
  <TitlesOfParts>
    <vt:vector size="33" baseType="lpstr">
      <vt:lpstr>Arial</vt:lpstr>
      <vt:lpstr>Courier New</vt:lpstr>
      <vt:lpstr>Georgia</vt:lpstr>
      <vt:lpstr>Cover</vt:lpstr>
      <vt:lpstr>Light Body Slides</vt:lpstr>
      <vt:lpstr>Light Dividers</vt:lpstr>
      <vt:lpstr>Dark Dividers</vt:lpstr>
      <vt:lpstr>Light Blank Slides</vt:lpstr>
      <vt:lpstr>Dark Blank Slides</vt:lpstr>
      <vt:lpstr>Dark Body Slides</vt:lpstr>
      <vt:lpstr>Back Covers</vt:lpstr>
      <vt:lpstr>Spec-Driven Development</vt:lpstr>
      <vt:lpstr>Para empezar, una pregunta</vt:lpstr>
      <vt:lpstr>Vibe coding: rápido, pero sin control</vt:lpstr>
      <vt:lpstr>La misma petición, dos respuestas</vt:lpstr>
      <vt:lpstr>Spec-Driven Development</vt:lpstr>
      <vt:lpstr>No es nuevo: es el ciclo de siempre</vt:lpstr>
      <vt:lpstr>La idea en una frase</vt:lpstr>
      <vt:lpstr>Tres tipos de SDD</vt:lpstr>
      <vt:lpstr>El flujo: siete pasos y un bucle</vt:lpstr>
      <vt:lpstr>Pasos 0 y 1: constitución y spec</vt:lpstr>
      <vt:lpstr>Qué lleva una spec</vt:lpstr>
      <vt:lpstr>Requisitos que se pueden comprobar: EARS</vt:lpstr>
      <vt:lpstr>Probadlo: ¿qué le falla a este requisito?</vt:lpstr>
      <vt:lpstr>Probadlo: ¿qué le falla a este requisito?</vt:lpstr>
      <vt:lpstr>Pasos 2 a 4: clarificar, planificar, dividir</vt:lpstr>
      <vt:lpstr>Dónde vive todo</vt:lpstr>
      <vt:lpstr>Implementar, validar y cambiar</vt:lpstr>
      <vt:lpstr>Ahora, en vivo</vt:lpstr>
      <vt:lpstr>Tres ideas para llevarse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NTT DATA, Inc. Marketing</dc:creator>
  <cp:keywords>NTT DATA, Inc.;PowerPoint Template</cp:keywords>
  <cp:lastModifiedBy>Antonio Rocamora Manteca</cp:lastModifiedBy>
  <cp:revision>5</cp:revision>
  <dcterms:created xsi:type="dcterms:W3CDTF">2026-10-07T11:57:37Z</dcterms:created>
  <dcterms:modified xsi:type="dcterms:W3CDTF">2026-10-21T23:06:10Z</dcterms:modified>
</cp:coreProperties>
</file>